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8991295" y="-914400"/>
            <a:ext cx="3200401" cy="3200400"/>
          </a:xfrm>
          <a:prstGeom prst="ellipse">
            <a:avLst/>
          </a:prstGeom>
          <a:solidFill>
            <a:srgbClr val="5B4FE0">
              <a:alpha val="4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8534095" y="3200400"/>
            <a:ext cx="3657601" cy="3657600"/>
          </a:xfrm>
          <a:prstGeom prst="ellipse">
            <a:avLst/>
          </a:prstGeom>
          <a:solidFill>
            <a:srgbClr val="5B4FE0">
              <a:alpha val="2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11002974" y="4754879"/>
            <a:ext cx="1371601" cy="1371601"/>
          </a:xfrm>
          <a:prstGeom prst="ellipse">
            <a:avLst/>
          </a:prstGeom>
          <a:solidFill>
            <a:srgbClr val="84CC16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731519" y="1005839"/>
            <a:ext cx="3200401" cy="41148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731519" y="1116329"/>
            <a:ext cx="32004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전공 기반 대학생 협업 플랫폼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731519" y="1981601"/>
            <a:ext cx="7315201" cy="1157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0">
                <a:solidFill>
                  <a:srgbClr val="FFFFFF"/>
                </a:solidFill>
              </a:defRPr>
            </a:lvl1pPr>
          </a:lstStyle>
          <a:p>
            <a:pPr/>
            <a:r>
              <a:t>MajorLink</a:t>
            </a:r>
          </a:p>
        </p:txBody>
      </p:sp>
      <p:sp>
        <p:nvSpPr>
          <p:cNvPr id="26" name="Shape 6"/>
          <p:cNvSpPr/>
          <p:nvPr/>
        </p:nvSpPr>
        <p:spPr>
          <a:xfrm>
            <a:off x="6035040" y="2926079"/>
            <a:ext cx="320041" cy="320041"/>
          </a:xfrm>
          <a:prstGeom prst="ellipse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731519" y="3759547"/>
            <a:ext cx="7315201" cy="1167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>
                <a:solidFill>
                  <a:srgbClr val="FFFFFF">
                    <a:alpha val="90000"/>
                  </a:srgbClr>
                </a:solidFill>
              </a:defRPr>
            </a:pPr>
            <a:r>
              <a:t>전공이 다른 대학생들이 팀을 구성하고</a:t>
            </a:r>
          </a:p>
          <a:p>
            <a:pPr>
              <a:lnSpc>
                <a:spcPct val="150000"/>
              </a:lnSpc>
              <a:defRPr>
                <a:solidFill>
                  <a:srgbClr val="FFFFFF">
                    <a:alpha val="90000"/>
                  </a:srgbClr>
                </a:solidFill>
              </a:defRPr>
            </a:pPr>
            <a:r>
              <a:t>프로젝트를 진행하며 포트폴리오를 완성하는</a:t>
            </a:r>
          </a:p>
          <a:p>
            <a:pPr>
              <a:lnSpc>
                <a:spcPct val="150000"/>
              </a:lnSpc>
              <a:defRPr>
                <a:solidFill>
                  <a:srgbClr val="FFFFFF">
                    <a:alpha val="90000"/>
                  </a:srgbClr>
                </a:solidFill>
              </a:defRPr>
            </a:pPr>
            <a:r>
              <a:t>웹 기반 프로젝트 운영 플랫폼</a:t>
            </a:r>
          </a:p>
        </p:txBody>
      </p:sp>
      <p:sp>
        <p:nvSpPr>
          <p:cNvPr id="28" name="Shape 8"/>
          <p:cNvSpPr/>
          <p:nvPr/>
        </p:nvSpPr>
        <p:spPr>
          <a:xfrm>
            <a:off x="731519" y="5486400"/>
            <a:ext cx="10728657" cy="0"/>
          </a:xfrm>
          <a:prstGeom prst="line">
            <a:avLst/>
          </a:prstGeom>
          <a:ln>
            <a:solidFill>
              <a:srgbClr val="FFFFFF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777239" y="5681980"/>
            <a:ext cx="63093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100" sz="1300"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pPr/>
            <a:r>
              <a:t>디자인  ·  개발  ·  기획  ·  마케팅  ·  데이터</a:t>
            </a:r>
          </a:p>
        </p:txBody>
      </p:sp>
      <p:sp>
        <p:nvSpPr>
          <p:cNvPr id="30" name="Text 10"/>
          <p:cNvSpPr txBox="1"/>
          <p:nvPr/>
        </p:nvSpPr>
        <p:spPr>
          <a:xfrm>
            <a:off x="6933894" y="5701029"/>
            <a:ext cx="44805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84CC16"/>
                </a:solidFill>
              </a:defRPr>
            </a:lvl1pPr>
          </a:lstStyle>
          <a:p>
            <a:pPr/>
            <a:r>
              <a:t>발표  2026.05.19  |  MajorLink 팀  (6명)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4" name="Text 2"/>
          <p:cNvSpPr txBox="1"/>
          <p:nvPr/>
        </p:nvSpPr>
        <p:spPr>
          <a:xfrm>
            <a:off x="1188719" y="47236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CONTENTS</a:t>
            </a:r>
          </a:p>
        </p:txBody>
      </p:sp>
      <p:sp>
        <p:nvSpPr>
          <p:cNvPr id="35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1 / 21</a:t>
            </a:r>
          </a:p>
        </p:txBody>
      </p:sp>
      <p:sp>
        <p:nvSpPr>
          <p:cNvPr id="36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목차</a:t>
            </a:r>
          </a:p>
        </p:txBody>
      </p:sp>
      <p:sp>
        <p:nvSpPr>
          <p:cNvPr id="37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38" name="Shape 6"/>
          <p:cNvSpPr/>
          <p:nvPr/>
        </p:nvSpPr>
        <p:spPr>
          <a:xfrm>
            <a:off x="1097280" y="1828800"/>
            <a:ext cx="9966960" cy="73152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7"/>
          <p:cNvSpPr/>
          <p:nvPr/>
        </p:nvSpPr>
        <p:spPr>
          <a:xfrm>
            <a:off x="1097280" y="1828800"/>
            <a:ext cx="914401" cy="73152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8"/>
          <p:cNvSpPr txBox="1"/>
          <p:nvPr/>
        </p:nvSpPr>
        <p:spPr>
          <a:xfrm>
            <a:off x="1097280" y="2044045"/>
            <a:ext cx="914401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1" name="Text 9"/>
          <p:cNvSpPr txBox="1"/>
          <p:nvPr/>
        </p:nvSpPr>
        <p:spPr>
          <a:xfrm>
            <a:off x="2286000" y="1959610"/>
            <a:ext cx="54864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F172A"/>
                </a:solidFill>
              </a:defRPr>
            </a:lvl1pPr>
          </a:lstStyle>
          <a:p>
            <a:pPr/>
            <a:r>
              <a:t>기획 배경 &amp; 문제 정의</a:t>
            </a:r>
          </a:p>
        </p:txBody>
      </p:sp>
      <p:sp>
        <p:nvSpPr>
          <p:cNvPr id="42" name="Text 10"/>
          <p:cNvSpPr txBox="1"/>
          <p:nvPr/>
        </p:nvSpPr>
        <p:spPr>
          <a:xfrm>
            <a:off x="2286000" y="2294889"/>
            <a:ext cx="8229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설문조사 52명 결과 기반 문제 진단</a:t>
            </a:r>
          </a:p>
        </p:txBody>
      </p:sp>
      <p:sp>
        <p:nvSpPr>
          <p:cNvPr id="43" name="Shape 11"/>
          <p:cNvSpPr/>
          <p:nvPr/>
        </p:nvSpPr>
        <p:spPr>
          <a:xfrm>
            <a:off x="1097280" y="2697479"/>
            <a:ext cx="9966960" cy="73152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12"/>
          <p:cNvSpPr/>
          <p:nvPr/>
        </p:nvSpPr>
        <p:spPr>
          <a:xfrm>
            <a:off x="1097280" y="2697479"/>
            <a:ext cx="914401" cy="73152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3"/>
          <p:cNvSpPr txBox="1"/>
          <p:nvPr/>
        </p:nvSpPr>
        <p:spPr>
          <a:xfrm>
            <a:off x="1097280" y="2912725"/>
            <a:ext cx="914401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6" name="Text 14"/>
          <p:cNvSpPr txBox="1"/>
          <p:nvPr/>
        </p:nvSpPr>
        <p:spPr>
          <a:xfrm>
            <a:off x="2286000" y="2828290"/>
            <a:ext cx="54864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F172A"/>
                </a:solidFill>
              </a:defRPr>
            </a:lvl1pPr>
          </a:lstStyle>
          <a:p>
            <a:pPr/>
            <a:r>
              <a:t>서비스 소개</a:t>
            </a:r>
          </a:p>
        </p:txBody>
      </p:sp>
      <p:sp>
        <p:nvSpPr>
          <p:cNvPr id="47" name="Text 15"/>
          <p:cNvSpPr txBox="1"/>
          <p:nvPr/>
        </p:nvSpPr>
        <p:spPr>
          <a:xfrm>
            <a:off x="2286000" y="3163570"/>
            <a:ext cx="8229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한 줄 정의, 사용자 흐름, 화면 미리보기</a:t>
            </a:r>
          </a:p>
        </p:txBody>
      </p:sp>
      <p:sp>
        <p:nvSpPr>
          <p:cNvPr id="48" name="Shape 16"/>
          <p:cNvSpPr/>
          <p:nvPr/>
        </p:nvSpPr>
        <p:spPr>
          <a:xfrm>
            <a:off x="1097280" y="3566159"/>
            <a:ext cx="9966960" cy="73152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17"/>
          <p:cNvSpPr/>
          <p:nvPr/>
        </p:nvSpPr>
        <p:spPr>
          <a:xfrm>
            <a:off x="1097280" y="3566159"/>
            <a:ext cx="914401" cy="73152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18"/>
          <p:cNvSpPr txBox="1"/>
          <p:nvPr/>
        </p:nvSpPr>
        <p:spPr>
          <a:xfrm>
            <a:off x="1097280" y="3781404"/>
            <a:ext cx="914401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1" name="Text 19"/>
          <p:cNvSpPr txBox="1"/>
          <p:nvPr/>
        </p:nvSpPr>
        <p:spPr>
          <a:xfrm>
            <a:off x="2286000" y="3696970"/>
            <a:ext cx="54864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F172A"/>
                </a:solidFill>
              </a:defRPr>
            </a:lvl1pPr>
          </a:lstStyle>
          <a:p>
            <a:pPr/>
            <a:r>
              <a:t>핵심 기능 (MVP 6가지)</a:t>
            </a:r>
          </a:p>
        </p:txBody>
      </p:sp>
      <p:sp>
        <p:nvSpPr>
          <p:cNvPr id="52" name="Text 20"/>
          <p:cNvSpPr txBox="1"/>
          <p:nvPr/>
        </p:nvSpPr>
        <p:spPr>
          <a:xfrm>
            <a:off x="2286000" y="4032250"/>
            <a:ext cx="8229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프로필 / 모집 / 지원·승인 / 매칭 / 진행 / 포트폴리오</a:t>
            </a:r>
          </a:p>
        </p:txBody>
      </p:sp>
      <p:sp>
        <p:nvSpPr>
          <p:cNvPr id="53" name="Shape 21"/>
          <p:cNvSpPr/>
          <p:nvPr/>
        </p:nvSpPr>
        <p:spPr>
          <a:xfrm>
            <a:off x="1097280" y="4434840"/>
            <a:ext cx="9966960" cy="73152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Shape 22"/>
          <p:cNvSpPr/>
          <p:nvPr/>
        </p:nvSpPr>
        <p:spPr>
          <a:xfrm>
            <a:off x="1097280" y="4434840"/>
            <a:ext cx="914401" cy="73152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23"/>
          <p:cNvSpPr txBox="1"/>
          <p:nvPr/>
        </p:nvSpPr>
        <p:spPr>
          <a:xfrm>
            <a:off x="1097280" y="4650085"/>
            <a:ext cx="914401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6" name="Text 24"/>
          <p:cNvSpPr txBox="1"/>
          <p:nvPr/>
        </p:nvSpPr>
        <p:spPr>
          <a:xfrm>
            <a:off x="2286000" y="4565649"/>
            <a:ext cx="54864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F172A"/>
                </a:solidFill>
              </a:defRPr>
            </a:lvl1pPr>
          </a:lstStyle>
          <a:p>
            <a:pPr/>
            <a:r>
              <a:t>팀 구성 &amp; 개발 일정</a:t>
            </a:r>
          </a:p>
        </p:txBody>
      </p:sp>
      <p:sp>
        <p:nvSpPr>
          <p:cNvPr id="57" name="Text 25"/>
          <p:cNvSpPr txBox="1"/>
          <p:nvPr/>
        </p:nvSpPr>
        <p:spPr>
          <a:xfrm>
            <a:off x="2286000" y="4900929"/>
            <a:ext cx="8229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총 6명 · 10주 (2026.05.19 ~ 07.25)</a:t>
            </a:r>
          </a:p>
        </p:txBody>
      </p:sp>
      <p:sp>
        <p:nvSpPr>
          <p:cNvPr id="58" name="Shape 26"/>
          <p:cNvSpPr/>
          <p:nvPr/>
        </p:nvSpPr>
        <p:spPr>
          <a:xfrm>
            <a:off x="1097280" y="5303520"/>
            <a:ext cx="9966960" cy="73152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hape 27"/>
          <p:cNvSpPr/>
          <p:nvPr/>
        </p:nvSpPr>
        <p:spPr>
          <a:xfrm>
            <a:off x="1097280" y="5303520"/>
            <a:ext cx="914401" cy="73152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28"/>
          <p:cNvSpPr txBox="1"/>
          <p:nvPr/>
        </p:nvSpPr>
        <p:spPr>
          <a:xfrm>
            <a:off x="1097280" y="5518765"/>
            <a:ext cx="914401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1" name="Text 29"/>
          <p:cNvSpPr txBox="1"/>
          <p:nvPr/>
        </p:nvSpPr>
        <p:spPr>
          <a:xfrm>
            <a:off x="2286000" y="5434329"/>
            <a:ext cx="54864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F172A"/>
                </a:solidFill>
              </a:defRPr>
            </a:lvl1pPr>
          </a:lstStyle>
          <a:p>
            <a:pPr/>
            <a:r>
              <a:t>수익 모델 &amp; 기대 효과</a:t>
            </a:r>
          </a:p>
        </p:txBody>
      </p:sp>
      <p:sp>
        <p:nvSpPr>
          <p:cNvPr id="62" name="Text 30"/>
          <p:cNvSpPr txBox="1"/>
          <p:nvPr/>
        </p:nvSpPr>
        <p:spPr>
          <a:xfrm>
            <a:off x="2286000" y="5769609"/>
            <a:ext cx="8229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단계적 수익화 · 설문 기반 지불 의향</a:t>
            </a:r>
          </a:p>
        </p:txBody>
      </p:sp>
      <p:sp>
        <p:nvSpPr>
          <p:cNvPr id="63" name="Shape 31"/>
          <p:cNvSpPr/>
          <p:nvPr/>
        </p:nvSpPr>
        <p:spPr>
          <a:xfrm>
            <a:off x="548639" y="6400800"/>
            <a:ext cx="11064242" cy="45721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7" name="Text 2"/>
          <p:cNvSpPr txBox="1"/>
          <p:nvPr/>
        </p:nvSpPr>
        <p:spPr>
          <a:xfrm>
            <a:off x="1188719" y="47236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01.  BACKGROUND</a:t>
            </a:r>
          </a:p>
        </p:txBody>
      </p:sp>
      <p:sp>
        <p:nvSpPr>
          <p:cNvPr id="68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2 / 21</a:t>
            </a:r>
          </a:p>
        </p:txBody>
      </p:sp>
      <p:sp>
        <p:nvSpPr>
          <p:cNvPr id="69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설문조사 — 누가, 어떤 문제를 겪고 있는가</a:t>
            </a:r>
          </a:p>
        </p:txBody>
      </p:sp>
      <p:sp>
        <p:nvSpPr>
          <p:cNvPr id="70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71" name="Shape 6"/>
          <p:cNvSpPr/>
          <p:nvPr/>
        </p:nvSpPr>
        <p:spPr>
          <a:xfrm>
            <a:off x="548639" y="1691639"/>
            <a:ext cx="11064242" cy="502920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7"/>
          <p:cNvSpPr txBox="1"/>
          <p:nvPr/>
        </p:nvSpPr>
        <p:spPr>
          <a:xfrm>
            <a:off x="777240" y="1841499"/>
            <a:ext cx="10972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5B4FE0"/>
                </a:solidFill>
              </a:defRPr>
            </a:pPr>
            <a:r>
              <a:t>직접 설문 </a:t>
            </a:r>
            <a:r>
              <a:rPr b="0">
                <a:solidFill>
                  <a:srgbClr val="334155"/>
                </a:solidFill>
              </a:rPr>
              <a:t>「대학생 프로젝트 팀빌딩 플랫폼 수요조사」  </a:t>
            </a:r>
            <a:r>
              <a:rPr b="0">
                <a:solidFill>
                  <a:srgbClr val="64748B"/>
                </a:solidFill>
              </a:rPr>
              <a:t>응답 52명  ·  2026.05  ·  팀 자체 진행</a:t>
            </a:r>
          </a:p>
        </p:txBody>
      </p:sp>
      <p:sp>
        <p:nvSpPr>
          <p:cNvPr id="73" name="Text 8"/>
          <p:cNvSpPr txBox="1"/>
          <p:nvPr/>
        </p:nvSpPr>
        <p:spPr>
          <a:xfrm>
            <a:off x="594359" y="2442210"/>
            <a:ext cx="35661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5B4FE0"/>
                </a:solidFill>
              </a:defRPr>
            </a:lvl1pPr>
          </a:lstStyle>
          <a:p>
            <a:pPr/>
            <a:r>
              <a:t>응답자 학년 (52명)</a:t>
            </a:r>
          </a:p>
        </p:txBody>
      </p:sp>
      <p:sp>
        <p:nvSpPr>
          <p:cNvPr id="74" name="Text 9"/>
          <p:cNvSpPr txBox="1"/>
          <p:nvPr/>
        </p:nvSpPr>
        <p:spPr>
          <a:xfrm>
            <a:off x="4343400" y="2442210"/>
            <a:ext cx="356616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5B4FE0"/>
                </a:solidFill>
              </a:defRPr>
            </a:lvl1pPr>
          </a:lstStyle>
          <a:p>
            <a:pPr/>
            <a:r>
              <a:t>전공 계열 분포</a:t>
            </a:r>
          </a:p>
        </p:txBody>
      </p:sp>
      <p:sp>
        <p:nvSpPr>
          <p:cNvPr id="75" name="Text 10"/>
          <p:cNvSpPr txBox="1"/>
          <p:nvPr/>
        </p:nvSpPr>
        <p:spPr>
          <a:xfrm>
            <a:off x="8275319" y="2442210"/>
            <a:ext cx="35661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5B4FE0"/>
                </a:solidFill>
              </a:defRPr>
            </a:lvl1pPr>
          </a:lstStyle>
          <a:p>
            <a:pPr/>
            <a:r>
              <a:t>팀 프로젝트 경험</a:t>
            </a:r>
          </a:p>
        </p:txBody>
      </p:sp>
      <p:sp>
        <p:nvSpPr>
          <p:cNvPr id="76" name="Shape 11"/>
          <p:cNvSpPr/>
          <p:nvPr/>
        </p:nvSpPr>
        <p:spPr>
          <a:xfrm>
            <a:off x="548639" y="6126479"/>
            <a:ext cx="11064242" cy="502920"/>
          </a:xfrm>
          <a:prstGeom prst="rect">
            <a:avLst/>
          </a:prstGeom>
          <a:solidFill>
            <a:srgbClr val="ECFCC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2"/>
          <p:cNvSpPr txBox="1"/>
          <p:nvPr/>
        </p:nvSpPr>
        <p:spPr>
          <a:xfrm>
            <a:off x="777240" y="6282689"/>
            <a:ext cx="109728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84CC16"/>
                </a:solidFill>
              </a:defRPr>
            </a:pPr>
            <a:r>
              <a:t>한눈에 </a:t>
            </a:r>
            <a:r>
              <a:rPr b="0">
                <a:solidFill>
                  <a:srgbClr val="334155"/>
                </a:solidFill>
              </a:rPr>
              <a:t>전 학년·전공 고르게 분포 · IT 절반(편향 가능성)  →  </a:t>
            </a:r>
            <a:r>
              <a:rPr>
                <a:solidFill>
                  <a:srgbClr val="0F172A"/>
                </a:solidFill>
              </a:rPr>
              <a:t>팀 경험이 없거나 처음인 학생이 59.7%로 핵심 타깃</a:t>
            </a:r>
          </a:p>
        </p:txBody>
      </p:sp>
      <p:sp>
        <p:nvSpPr>
          <p:cNvPr id="78" name="Rectangle 17"/>
          <p:cNvSpPr/>
          <p:nvPr/>
        </p:nvSpPr>
        <p:spPr>
          <a:xfrm>
            <a:off x="10099999" y="1679999"/>
            <a:ext cx="1700000" cy="43000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" name="TextBox 18"/>
          <p:cNvSpPr txBox="1"/>
          <p:nvPr/>
        </p:nvSpPr>
        <p:spPr>
          <a:xfrm>
            <a:off x="10145719" y="1720000"/>
            <a:ext cx="16085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N = 52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명</a:t>
            </a:r>
          </a:p>
        </p:txBody>
      </p:sp>
      <p:sp>
        <p:nvSpPr>
          <p:cNvPr id="80" name="TextBox 19"/>
          <p:cNvSpPr txBox="1"/>
          <p:nvPr/>
        </p:nvSpPr>
        <p:spPr>
          <a:xfrm>
            <a:off x="10145719" y="1910000"/>
            <a:ext cx="1608560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900">
                <a:solidFill>
                  <a:srgbClr val="C4B5FD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대학생 대상 </a:t>
            </a:r>
            <a:r>
              <a:t>· 2026.05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84" name="Text 2"/>
          <p:cNvSpPr txBox="1"/>
          <p:nvPr/>
        </p:nvSpPr>
        <p:spPr>
          <a:xfrm>
            <a:off x="1188719" y="47236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01.  PROBLEM</a:t>
            </a:r>
          </a:p>
        </p:txBody>
      </p:sp>
      <p:sp>
        <p:nvSpPr>
          <p:cNvPr id="85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3 / 21</a:t>
            </a:r>
          </a:p>
        </p:txBody>
      </p:sp>
      <p:sp>
        <p:nvSpPr>
          <p:cNvPr id="86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팀원을 구하기 어렵다 — 왜?</a:t>
            </a:r>
          </a:p>
        </p:txBody>
      </p:sp>
      <p:sp>
        <p:nvSpPr>
          <p:cNvPr id="87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88" name="Shape 6"/>
          <p:cNvSpPr/>
          <p:nvPr/>
        </p:nvSpPr>
        <p:spPr>
          <a:xfrm>
            <a:off x="548640" y="1691639"/>
            <a:ext cx="4114801" cy="4572001"/>
          </a:xfrm>
          <a:prstGeom prst="rect">
            <a:avLst/>
          </a:prstGeom>
          <a:solidFill>
            <a:srgbClr val="2D2B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7"/>
          <p:cNvSpPr txBox="1"/>
          <p:nvPr/>
        </p:nvSpPr>
        <p:spPr>
          <a:xfrm>
            <a:off x="777239" y="1906270"/>
            <a:ext cx="36576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1100">
                <a:solidFill>
                  <a:srgbClr val="84CC16"/>
                </a:solidFill>
              </a:defRPr>
            </a:lvl1pPr>
          </a:lstStyle>
          <a:p>
            <a:pPr/>
            <a:r>
              <a:t>Q4. 팀원 구하기 어려움 (5점 척도)</a:t>
            </a:r>
          </a:p>
        </p:txBody>
      </p:sp>
      <p:sp>
        <p:nvSpPr>
          <p:cNvPr id="90" name="Text 8"/>
          <p:cNvSpPr txBox="1"/>
          <p:nvPr/>
        </p:nvSpPr>
        <p:spPr>
          <a:xfrm>
            <a:off x="731519" y="2383789"/>
            <a:ext cx="1371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4점</a:t>
            </a:r>
          </a:p>
        </p:txBody>
      </p:sp>
      <p:sp>
        <p:nvSpPr>
          <p:cNvPr id="91" name="Text 9"/>
          <p:cNvSpPr txBox="1"/>
          <p:nvPr/>
        </p:nvSpPr>
        <p:spPr>
          <a:xfrm>
            <a:off x="731519" y="2703353"/>
            <a:ext cx="3657601" cy="811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6400">
                <a:solidFill>
                  <a:srgbClr val="FFFFFF"/>
                </a:solidFill>
              </a:defRPr>
            </a:lvl1pPr>
          </a:lstStyle>
          <a:p>
            <a:pPr/>
            <a:r>
              <a:t>44.2%</a:t>
            </a:r>
          </a:p>
        </p:txBody>
      </p:sp>
      <p:sp>
        <p:nvSpPr>
          <p:cNvPr id="92" name="Text 10"/>
          <p:cNvSpPr txBox="1"/>
          <p:nvPr/>
        </p:nvSpPr>
        <p:spPr>
          <a:xfrm>
            <a:off x="731519" y="3666489"/>
            <a:ext cx="3657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pPr/>
            <a:r>
              <a:t>응답자가 '어렵다(4점)'</a:t>
            </a:r>
          </a:p>
        </p:txBody>
      </p:sp>
      <p:sp>
        <p:nvSpPr>
          <p:cNvPr id="93" name="Shape 11"/>
          <p:cNvSpPr/>
          <p:nvPr/>
        </p:nvSpPr>
        <p:spPr>
          <a:xfrm>
            <a:off x="731519" y="4206240"/>
            <a:ext cx="3749042" cy="1"/>
          </a:xfrm>
          <a:prstGeom prst="line">
            <a:avLst/>
          </a:prstGeom>
          <a:ln w="6350">
            <a:solidFill>
              <a:srgbClr val="FFFFFF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2"/>
          <p:cNvSpPr txBox="1"/>
          <p:nvPr/>
        </p:nvSpPr>
        <p:spPr>
          <a:xfrm>
            <a:off x="777239" y="4352289"/>
            <a:ext cx="36576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/>
            <a:r>
              <a:t>4점 + 5점 합계</a:t>
            </a:r>
          </a:p>
        </p:txBody>
      </p:sp>
      <p:sp>
        <p:nvSpPr>
          <p:cNvPr id="95" name="Text 13"/>
          <p:cNvSpPr txBox="1"/>
          <p:nvPr/>
        </p:nvSpPr>
        <p:spPr>
          <a:xfrm>
            <a:off x="731519" y="4664710"/>
            <a:ext cx="374904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84CC16"/>
                </a:solidFill>
              </a:defRPr>
            </a:lvl1pPr>
          </a:lstStyle>
          <a:p>
            <a:pPr/>
            <a:r>
              <a:t>≈ 50% 이상</a:t>
            </a:r>
          </a:p>
        </p:txBody>
      </p:sp>
      <p:sp>
        <p:nvSpPr>
          <p:cNvPr id="96" name="Text 14"/>
          <p:cNvSpPr txBox="1"/>
          <p:nvPr/>
        </p:nvSpPr>
        <p:spPr>
          <a:xfrm>
            <a:off x="731519" y="5586730"/>
            <a:ext cx="37490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pPr/>
            <a:r>
              <a:t>절반 이상이 "팀원 구하기가 어렵다"고 응답</a:t>
            </a:r>
          </a:p>
        </p:txBody>
      </p:sp>
      <p:sp>
        <p:nvSpPr>
          <p:cNvPr id="97" name="Text 15"/>
          <p:cNvSpPr txBox="1"/>
          <p:nvPr/>
        </p:nvSpPr>
        <p:spPr>
          <a:xfrm>
            <a:off x="4983479" y="1802129"/>
            <a:ext cx="658368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5B4FE0"/>
                </a:solidFill>
              </a:defRPr>
            </a:lvl1pPr>
          </a:lstStyle>
          <a:p>
            <a:pPr/>
            <a:r>
              <a:t>Q5. 가장 어려웠던 점 (복수 응답)</a:t>
            </a:r>
          </a:p>
        </p:txBody>
      </p:sp>
      <p:sp>
        <p:nvSpPr>
          <p:cNvPr id="98" name="Text 16"/>
          <p:cNvSpPr txBox="1"/>
          <p:nvPr/>
        </p:nvSpPr>
        <p:spPr>
          <a:xfrm>
            <a:off x="4983479" y="4545329"/>
            <a:ext cx="658368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5B4FE0"/>
                </a:solidFill>
              </a:defRPr>
            </a:lvl1pPr>
          </a:lstStyle>
          <a:p>
            <a:pPr/>
            <a:r>
              <a:t>Q6. 팀원을 주로 어디서 구하나 (복수 응답)</a:t>
            </a:r>
          </a:p>
        </p:txBody>
      </p:sp>
      <p:sp>
        <p:nvSpPr>
          <p:cNvPr id="99" name="Shape 17"/>
          <p:cNvSpPr/>
          <p:nvPr/>
        </p:nvSpPr>
        <p:spPr>
          <a:xfrm>
            <a:off x="548639" y="6492240"/>
            <a:ext cx="11064242" cy="13716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457200" y="182879"/>
            <a:ext cx="685800" cy="381026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TextBox 2"/>
          <p:cNvSpPr txBox="1"/>
          <p:nvPr/>
        </p:nvSpPr>
        <p:spPr>
          <a:xfrm>
            <a:off x="677225" y="182879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03" name="TextBox 3"/>
          <p:cNvSpPr txBox="1"/>
          <p:nvPr/>
        </p:nvSpPr>
        <p:spPr>
          <a:xfrm>
            <a:off x="1264919" y="243840"/>
            <a:ext cx="29085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64748B"/>
                </a:solidFill>
              </a:defRPr>
            </a:lvl1pPr>
          </a:lstStyle>
          <a:p>
            <a:pPr/>
            <a:r>
              <a:t>01.  PROBLEM</a:t>
            </a:r>
          </a:p>
        </p:txBody>
      </p:sp>
      <p:sp>
        <p:nvSpPr>
          <p:cNvPr id="104" name="TextBox 4"/>
          <p:cNvSpPr txBox="1"/>
          <p:nvPr/>
        </p:nvSpPr>
        <p:spPr>
          <a:xfrm>
            <a:off x="10545719" y="243840"/>
            <a:ext cx="13085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4 / 21</a:t>
            </a:r>
          </a:p>
        </p:txBody>
      </p:sp>
      <p:sp>
        <p:nvSpPr>
          <p:cNvPr id="105" name="Rectangle 5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6"/>
          <p:cNvSpPr txBox="1"/>
          <p:nvPr/>
        </p:nvSpPr>
        <p:spPr>
          <a:xfrm>
            <a:off x="502919" y="6553200"/>
            <a:ext cx="590856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MajorLink  |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전공 기반 대학생 협업 플랫폼</a:t>
            </a:r>
          </a:p>
        </p:txBody>
      </p:sp>
      <p:sp>
        <p:nvSpPr>
          <p:cNvPr id="107" name="TextBox 7"/>
          <p:cNvSpPr txBox="1"/>
          <p:nvPr/>
        </p:nvSpPr>
        <p:spPr>
          <a:xfrm>
            <a:off x="502920" y="685800"/>
            <a:ext cx="10908560" cy="575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0F172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경쟁 서비스 분석</a:t>
            </a:r>
          </a:p>
        </p:txBody>
      </p:sp>
      <p:sp>
        <p:nvSpPr>
          <p:cNvPr id="108" name="TextBox 8"/>
          <p:cNvSpPr txBox="1"/>
          <p:nvPr/>
        </p:nvSpPr>
        <p:spPr>
          <a:xfrm>
            <a:off x="502920" y="1295400"/>
            <a:ext cx="10908560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기존 서비스들과 </a:t>
            </a:r>
            <a:r>
              <a:t>MajorLink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의 포지셔닝 비교</a:t>
            </a:r>
          </a:p>
        </p:txBody>
      </p:sp>
      <p:graphicFrame>
        <p:nvGraphicFramePr>
          <p:cNvPr id="109" name="Table 9"/>
          <p:cNvGraphicFramePr/>
          <p:nvPr/>
        </p:nvGraphicFramePr>
        <p:xfrm>
          <a:off x="457200" y="1600000"/>
          <a:ext cx="10300000" cy="4280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500000"/>
                <a:gridCol w="2200000"/>
                <a:gridCol w="2200000"/>
                <a:gridCol w="2200000"/>
                <a:gridCol w="2200000"/>
              </a:tblGrid>
              <a:tr h="535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구분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5B4F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에브리타임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5B4F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링크드인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5B4F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크몽 </a:t>
                      </a:r>
                      <a:r>
                        <a:t>/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사람인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5B4F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MajorLink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✓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84CC16"/>
                    </a:solidFill>
                  </a:tcPr>
                </a:tc>
              </a:tr>
              <a:tr h="535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주요 대상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대학생 커뮤니티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직장인 </a:t>
                      </a:r>
                      <a:r>
                        <a:t>/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구직자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프리랜서 전문가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대학생 팀 프로젝트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EF0FF"/>
                    </a:solidFill>
                  </a:tcPr>
                </a:tc>
              </a:tr>
              <a:tr h="535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핵심 기능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게시판 </a:t>
                      </a:r>
                      <a:r>
                        <a:t>/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쪽지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프로필 </a:t>
                      </a:r>
                      <a:r>
                        <a:t>/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채용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의뢰 </a:t>
                      </a:r>
                      <a:r>
                        <a:t>/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판매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팀빌딩 </a:t>
                      </a:r>
                      <a:r>
                        <a:t>+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매칭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EF0FF"/>
                    </a:solidFill>
                  </a:tcPr>
                </a:tc>
              </a:tr>
              <a:tr h="535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팀원 모집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△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게시글 방식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△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채용 위주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✗ 의뢰 중심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5B4FE0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✓ 역할 기반 모집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EF0FF"/>
                    </a:solidFill>
                  </a:tcPr>
                </a:tc>
              </a:tr>
              <a:tr h="535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전공 매칭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✗ 없음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△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직군 위주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✗ 없음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5B4FE0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✓ 전공별 매칭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EF0FF"/>
                    </a:solidFill>
                  </a:tcPr>
                </a:tc>
              </a:tr>
              <a:tr h="535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진행 관리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✗ 없음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✗ 없음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✗ 없음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5B4FE0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✓ 할 일 관리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EF0FF"/>
                    </a:solidFill>
                  </a:tcPr>
                </a:tc>
              </a:tr>
              <a:tr h="535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포트폴리오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✗ 없음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9E0B"/>
                          </a:solidFill>
                        </a:defRPr>
                      </a:pPr>
                      <a:r>
                        <a:t>△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자기소개 위주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✗ 없음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5B4FE0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✓ 자동 생성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EF0FF"/>
                    </a:solidFill>
                  </a:tcPr>
                </a:tc>
              </a:tr>
              <a:tr h="535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대학생 특화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✓ 학교 커뮤니티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✗ 없음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✗ 없음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5B4FE0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✓ 전공 기반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110" name="TextBox 10"/>
          <p:cNvSpPr txBox="1"/>
          <p:nvPr/>
        </p:nvSpPr>
        <p:spPr>
          <a:xfrm>
            <a:off x="502919" y="5980000"/>
            <a:ext cx="11108561" cy="295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200">
                <a:solidFill>
                  <a:srgbClr val="5B4FE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t>MajorLink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는 대학생 팀빌딩에 특화된 유일한 전공 기반 협업 플랫폼입니다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B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1"/>
          <p:cNvSpPr txBox="1"/>
          <p:nvPr/>
        </p:nvSpPr>
        <p:spPr>
          <a:xfrm>
            <a:off x="463295" y="206117"/>
            <a:ext cx="8778242" cy="41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경쟁 서비스 비교</a:t>
            </a:r>
          </a:p>
        </p:txBody>
      </p:sp>
      <p:sp>
        <p:nvSpPr>
          <p:cNvPr id="114" name="Text 2"/>
          <p:cNvSpPr txBox="1"/>
          <p:nvPr/>
        </p:nvSpPr>
        <p:spPr>
          <a:xfrm>
            <a:off x="8778240" y="319277"/>
            <a:ext cx="31699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200">
                <a:solidFill>
                  <a:srgbClr val="AACC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보완 슬라이드 </a:t>
            </a:r>
            <a:r>
              <a:t>01 / 06  |  MajorLink</a:t>
            </a:r>
          </a:p>
        </p:txBody>
      </p:sp>
      <p:sp>
        <p:nvSpPr>
          <p:cNvPr id="115" name="Text 3"/>
          <p:cNvSpPr txBox="1"/>
          <p:nvPr/>
        </p:nvSpPr>
        <p:spPr>
          <a:xfrm>
            <a:off x="463295" y="1007489"/>
            <a:ext cx="11265410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400">
                <a:solidFill>
                  <a:srgbClr val="2563E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에브리타임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링커리어와 다른 점이 무엇인가</a:t>
            </a:r>
            <a:r>
              <a:t>?</a:t>
            </a:r>
          </a:p>
        </p:txBody>
      </p:sp>
      <p:sp>
        <p:nvSpPr>
          <p:cNvPr id="116" name="Text 4"/>
          <p:cNvSpPr txBox="1"/>
          <p:nvPr/>
        </p:nvSpPr>
        <p:spPr>
          <a:xfrm>
            <a:off x="463295" y="6600569"/>
            <a:ext cx="11265410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MajorLink  |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전공 기반 대학생 협업 플랫폼</a:t>
            </a:r>
          </a:p>
        </p:txBody>
      </p:sp>
      <p:sp>
        <p:nvSpPr>
          <p:cNvPr id="117" name="Shape 5"/>
          <p:cNvSpPr/>
          <p:nvPr/>
        </p:nvSpPr>
        <p:spPr>
          <a:xfrm>
            <a:off x="426719" y="1438655"/>
            <a:ext cx="3657601" cy="4876801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" name="Text 6"/>
          <p:cNvSpPr txBox="1"/>
          <p:nvPr/>
        </p:nvSpPr>
        <p:spPr>
          <a:xfrm>
            <a:off x="426719" y="1672335"/>
            <a:ext cx="36576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700">
                <a:solidFill>
                  <a:srgbClr val="1E293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에브리타임</a:t>
            </a:r>
            <a:endParaRPr sz="1300"/>
          </a:p>
          <a:p>
            <a:pPr algn="ctr">
              <a:defRPr b="1" sz="1700">
                <a:solidFill>
                  <a:srgbClr val="1E293B"/>
                </a:solidFill>
              </a:defRPr>
            </a:pPr>
            <a:r>
              <a:t>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오픈채팅</a:t>
            </a:r>
          </a:p>
        </p:txBody>
      </p:sp>
      <p:sp>
        <p:nvSpPr>
          <p:cNvPr id="119" name="Text 7"/>
          <p:cNvSpPr txBox="1"/>
          <p:nvPr/>
        </p:nvSpPr>
        <p:spPr>
          <a:xfrm>
            <a:off x="426719" y="2294382"/>
            <a:ext cx="3657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대학생 커뮤니티</a:t>
            </a:r>
          </a:p>
        </p:txBody>
      </p:sp>
      <p:sp>
        <p:nvSpPr>
          <p:cNvPr id="120" name="Shape 8"/>
          <p:cNvSpPr/>
          <p:nvPr/>
        </p:nvSpPr>
        <p:spPr>
          <a:xfrm>
            <a:off x="670559" y="2657855"/>
            <a:ext cx="3169922" cy="1"/>
          </a:xfrm>
          <a:prstGeom prst="line">
            <a:avLst/>
          </a:prstGeom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Shape 9"/>
          <p:cNvSpPr/>
          <p:nvPr/>
        </p:nvSpPr>
        <p:spPr>
          <a:xfrm>
            <a:off x="4328159" y="1438655"/>
            <a:ext cx="3657601" cy="4876801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" name="Text 10"/>
          <p:cNvSpPr txBox="1"/>
          <p:nvPr/>
        </p:nvSpPr>
        <p:spPr>
          <a:xfrm>
            <a:off x="4328159" y="1799335"/>
            <a:ext cx="36576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링커리어</a:t>
            </a:r>
          </a:p>
        </p:txBody>
      </p:sp>
      <p:sp>
        <p:nvSpPr>
          <p:cNvPr id="123" name="Text 11"/>
          <p:cNvSpPr txBox="1"/>
          <p:nvPr/>
        </p:nvSpPr>
        <p:spPr>
          <a:xfrm>
            <a:off x="4328159" y="2294382"/>
            <a:ext cx="3657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취업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인턴십 플랫폼</a:t>
            </a:r>
          </a:p>
        </p:txBody>
      </p:sp>
      <p:sp>
        <p:nvSpPr>
          <p:cNvPr id="124" name="Shape 12"/>
          <p:cNvSpPr/>
          <p:nvPr/>
        </p:nvSpPr>
        <p:spPr>
          <a:xfrm>
            <a:off x="4572000" y="2657855"/>
            <a:ext cx="3169921" cy="1"/>
          </a:xfrm>
          <a:prstGeom prst="line">
            <a:avLst/>
          </a:prstGeom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Shape 13"/>
          <p:cNvSpPr/>
          <p:nvPr/>
        </p:nvSpPr>
        <p:spPr>
          <a:xfrm>
            <a:off x="8229600" y="1438655"/>
            <a:ext cx="3657600" cy="4876801"/>
          </a:xfrm>
          <a:prstGeom prst="rect">
            <a:avLst/>
          </a:prstGeom>
          <a:solidFill>
            <a:srgbClr val="DBEAFE"/>
          </a:solidFill>
          <a:ln w="16933">
            <a:solidFill>
              <a:srgbClr val="2563EB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" name="Text 14"/>
          <p:cNvSpPr txBox="1"/>
          <p:nvPr/>
        </p:nvSpPr>
        <p:spPr>
          <a:xfrm>
            <a:off x="8229600" y="1790034"/>
            <a:ext cx="3657600" cy="272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2000">
                <a:solidFill>
                  <a:srgbClr val="1B3A6B"/>
                </a:solidFill>
              </a:defRPr>
            </a:pPr>
            <a:r>
              <a:t>MajorLink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✦</a:t>
            </a:r>
          </a:p>
        </p:txBody>
      </p:sp>
      <p:sp>
        <p:nvSpPr>
          <p:cNvPr id="127" name="Text 15"/>
          <p:cNvSpPr txBox="1"/>
          <p:nvPr/>
        </p:nvSpPr>
        <p:spPr>
          <a:xfrm>
            <a:off x="8229600" y="2294382"/>
            <a:ext cx="36576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팀빌딩 </a:t>
            </a:r>
            <a:r>
              <a:t>+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진행 </a:t>
            </a:r>
            <a:r>
              <a:t>+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포트폴리오</a:t>
            </a:r>
          </a:p>
        </p:txBody>
      </p:sp>
      <p:sp>
        <p:nvSpPr>
          <p:cNvPr id="128" name="Shape 16"/>
          <p:cNvSpPr/>
          <p:nvPr/>
        </p:nvSpPr>
        <p:spPr>
          <a:xfrm>
            <a:off x="8473440" y="2657855"/>
            <a:ext cx="3169921" cy="1"/>
          </a:xfrm>
          <a:prstGeom prst="line">
            <a:avLst/>
          </a:prstGeom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17"/>
          <p:cNvSpPr txBox="1"/>
          <p:nvPr/>
        </p:nvSpPr>
        <p:spPr>
          <a:xfrm>
            <a:off x="426719" y="2977133"/>
            <a:ext cx="3657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전공 융합 매칭</a:t>
            </a:r>
          </a:p>
        </p:txBody>
      </p:sp>
      <p:sp>
        <p:nvSpPr>
          <p:cNvPr id="130" name="Text 18"/>
          <p:cNvSpPr txBox="1"/>
          <p:nvPr/>
        </p:nvSpPr>
        <p:spPr>
          <a:xfrm>
            <a:off x="4328159" y="2996183"/>
            <a:ext cx="3657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DC262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✕</a:t>
            </a:r>
          </a:p>
        </p:txBody>
      </p:sp>
      <p:sp>
        <p:nvSpPr>
          <p:cNvPr id="131" name="Text 19"/>
          <p:cNvSpPr txBox="1"/>
          <p:nvPr/>
        </p:nvSpPr>
        <p:spPr>
          <a:xfrm>
            <a:off x="8229600" y="2964433"/>
            <a:ext cx="36576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5966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132" name="Text 20"/>
          <p:cNvSpPr txBox="1"/>
          <p:nvPr/>
        </p:nvSpPr>
        <p:spPr>
          <a:xfrm>
            <a:off x="426719" y="3659886"/>
            <a:ext cx="3657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역할 기반 점수</a:t>
            </a:r>
          </a:p>
        </p:txBody>
      </p:sp>
      <p:sp>
        <p:nvSpPr>
          <p:cNvPr id="133" name="Text 21"/>
          <p:cNvSpPr txBox="1"/>
          <p:nvPr/>
        </p:nvSpPr>
        <p:spPr>
          <a:xfrm>
            <a:off x="4328159" y="3678936"/>
            <a:ext cx="3657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DC2626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✕</a:t>
            </a:r>
          </a:p>
        </p:txBody>
      </p:sp>
      <p:sp>
        <p:nvSpPr>
          <p:cNvPr id="134" name="Text 22"/>
          <p:cNvSpPr txBox="1"/>
          <p:nvPr/>
        </p:nvSpPr>
        <p:spPr>
          <a:xfrm>
            <a:off x="8229600" y="3647186"/>
            <a:ext cx="36576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5966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135" name="Text 23"/>
          <p:cNvSpPr txBox="1"/>
          <p:nvPr/>
        </p:nvSpPr>
        <p:spPr>
          <a:xfrm>
            <a:off x="426719" y="4342638"/>
            <a:ext cx="3657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프로젝트 진행 관리</a:t>
            </a:r>
          </a:p>
        </p:txBody>
      </p:sp>
      <p:sp>
        <p:nvSpPr>
          <p:cNvPr id="136" name="Text 24"/>
          <p:cNvSpPr txBox="1"/>
          <p:nvPr/>
        </p:nvSpPr>
        <p:spPr>
          <a:xfrm>
            <a:off x="4328159" y="4342638"/>
            <a:ext cx="3657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△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채용 포트폴리오</a:t>
            </a:r>
          </a:p>
        </p:txBody>
      </p:sp>
      <p:sp>
        <p:nvSpPr>
          <p:cNvPr id="137" name="Text 25"/>
          <p:cNvSpPr txBox="1"/>
          <p:nvPr/>
        </p:nvSpPr>
        <p:spPr>
          <a:xfrm>
            <a:off x="8229600" y="4329938"/>
            <a:ext cx="36576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5966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138" name="Text 26"/>
          <p:cNvSpPr txBox="1"/>
          <p:nvPr/>
        </p:nvSpPr>
        <p:spPr>
          <a:xfrm>
            <a:off x="426719" y="5025390"/>
            <a:ext cx="3657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포트폴리오 자동 집계</a:t>
            </a:r>
          </a:p>
        </p:txBody>
      </p:sp>
      <p:sp>
        <p:nvSpPr>
          <p:cNvPr id="139" name="Text 27"/>
          <p:cNvSpPr txBox="1"/>
          <p:nvPr/>
        </p:nvSpPr>
        <p:spPr>
          <a:xfrm>
            <a:off x="4328159" y="5025390"/>
            <a:ext cx="3657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△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일부</a:t>
            </a:r>
          </a:p>
        </p:txBody>
      </p:sp>
      <p:sp>
        <p:nvSpPr>
          <p:cNvPr id="140" name="Text 28"/>
          <p:cNvSpPr txBox="1"/>
          <p:nvPr/>
        </p:nvSpPr>
        <p:spPr>
          <a:xfrm>
            <a:off x="8229600" y="5004772"/>
            <a:ext cx="3657600" cy="231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59669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활동 기반</a:t>
            </a:r>
          </a:p>
        </p:txBody>
      </p:sp>
      <p:sp>
        <p:nvSpPr>
          <p:cNvPr id="141" name="Text 29"/>
          <p:cNvSpPr txBox="1"/>
          <p:nvPr/>
        </p:nvSpPr>
        <p:spPr>
          <a:xfrm>
            <a:off x="426719" y="5708142"/>
            <a:ext cx="3657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서비스 핵심 가치</a:t>
            </a:r>
          </a:p>
        </p:txBody>
      </p:sp>
      <p:sp>
        <p:nvSpPr>
          <p:cNvPr id="142" name="Text 30"/>
          <p:cNvSpPr txBox="1"/>
          <p:nvPr/>
        </p:nvSpPr>
        <p:spPr>
          <a:xfrm>
            <a:off x="4328159" y="5708142"/>
            <a:ext cx="3657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취업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인턴십</a:t>
            </a:r>
          </a:p>
        </p:txBody>
      </p:sp>
      <p:sp>
        <p:nvSpPr>
          <p:cNvPr id="143" name="Text 31"/>
          <p:cNvSpPr txBox="1"/>
          <p:nvPr/>
        </p:nvSpPr>
        <p:spPr>
          <a:xfrm>
            <a:off x="8229600" y="5708142"/>
            <a:ext cx="36576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2563E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팀빌딩</a:t>
            </a:r>
            <a:r>
              <a:t>→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기록</a:t>
            </a:r>
            <a:r>
              <a:t>→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포폴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B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1"/>
          <p:cNvSpPr txBox="1"/>
          <p:nvPr/>
        </p:nvSpPr>
        <p:spPr>
          <a:xfrm>
            <a:off x="463295" y="206117"/>
            <a:ext cx="8778242" cy="41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초기 타깃 사용자 재정의</a:t>
            </a:r>
          </a:p>
        </p:txBody>
      </p:sp>
      <p:sp>
        <p:nvSpPr>
          <p:cNvPr id="147" name="Text 2"/>
          <p:cNvSpPr txBox="1"/>
          <p:nvPr/>
        </p:nvSpPr>
        <p:spPr>
          <a:xfrm>
            <a:off x="8778240" y="319277"/>
            <a:ext cx="31699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200">
                <a:solidFill>
                  <a:srgbClr val="AACC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보완 슬라이드 </a:t>
            </a:r>
            <a:r>
              <a:t>02 / 06  |  MajorLink</a:t>
            </a:r>
          </a:p>
        </p:txBody>
      </p:sp>
      <p:sp>
        <p:nvSpPr>
          <p:cNvPr id="148" name="Text 3"/>
          <p:cNvSpPr txBox="1"/>
          <p:nvPr/>
        </p:nvSpPr>
        <p:spPr>
          <a:xfrm>
            <a:off x="463295" y="1007489"/>
            <a:ext cx="11265410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400">
                <a:solidFill>
                  <a:srgbClr val="2563E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전체 대학생 </a:t>
            </a: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팀이 절실히 필요한 시점의 학생으로 좁히기</a:t>
            </a:r>
          </a:p>
        </p:txBody>
      </p:sp>
      <p:sp>
        <p:nvSpPr>
          <p:cNvPr id="149" name="Text 4"/>
          <p:cNvSpPr txBox="1"/>
          <p:nvPr/>
        </p:nvSpPr>
        <p:spPr>
          <a:xfrm>
            <a:off x="463295" y="6600569"/>
            <a:ext cx="11265410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MajorLink  |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전공 기반 대학생 협업 플랫폼</a:t>
            </a:r>
          </a:p>
        </p:txBody>
      </p:sp>
      <p:sp>
        <p:nvSpPr>
          <p:cNvPr id="150" name="Shape 5"/>
          <p:cNvSpPr/>
          <p:nvPr/>
        </p:nvSpPr>
        <p:spPr>
          <a:xfrm>
            <a:off x="426720" y="1316736"/>
            <a:ext cx="11338560" cy="560833"/>
          </a:xfrm>
          <a:prstGeom prst="rect">
            <a:avLst/>
          </a:prstGeom>
          <a:solidFill>
            <a:srgbClr val="DBEAF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6"/>
          <p:cNvSpPr txBox="1"/>
          <p:nvPr/>
        </p:nvSpPr>
        <p:spPr>
          <a:xfrm>
            <a:off x="426720" y="1469387"/>
            <a:ext cx="11338560" cy="255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6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초기 집중 타깃  </a:t>
            </a:r>
            <a:r>
              <a:t>─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캡스톤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졸업작품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사이드프로젝트를 앞둔 </a:t>
            </a:r>
            <a:r>
              <a:t>3~4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학년 대학생</a:t>
            </a:r>
          </a:p>
        </p:txBody>
      </p:sp>
      <p:sp>
        <p:nvSpPr>
          <p:cNvPr id="152" name="Shape 7"/>
          <p:cNvSpPr/>
          <p:nvPr/>
        </p:nvSpPr>
        <p:spPr>
          <a:xfrm>
            <a:off x="426719" y="2023872"/>
            <a:ext cx="5486401" cy="4267201"/>
          </a:xfrm>
          <a:prstGeom prst="rect">
            <a:avLst/>
          </a:prstGeom>
          <a:solidFill>
            <a:srgbClr val="FFFFFF"/>
          </a:solidFill>
          <a:ln w="16933">
            <a:solidFill>
              <a:srgbClr val="2563EB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" name="Text 8"/>
          <p:cNvSpPr txBox="1"/>
          <p:nvPr/>
        </p:nvSpPr>
        <p:spPr>
          <a:xfrm>
            <a:off x="609599" y="2230374"/>
            <a:ext cx="512064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7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💻  </a:t>
            </a:r>
            <a:r>
              <a:t>IT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계열 </a:t>
            </a:r>
            <a:r>
              <a:t>— 4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학년 김도현</a:t>
            </a:r>
          </a:p>
        </p:txBody>
      </p:sp>
      <p:sp>
        <p:nvSpPr>
          <p:cNvPr id="154" name="Shape 9"/>
          <p:cNvSpPr/>
          <p:nvPr/>
        </p:nvSpPr>
        <p:spPr>
          <a:xfrm>
            <a:off x="609600" y="2731007"/>
            <a:ext cx="4632960" cy="316993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10"/>
          <p:cNvSpPr txBox="1"/>
          <p:nvPr/>
        </p:nvSpPr>
        <p:spPr>
          <a:xfrm>
            <a:off x="609600" y="2802062"/>
            <a:ext cx="463296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컴퓨터공학 </a:t>
            </a:r>
            <a:r>
              <a:t>4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학년 </a:t>
            </a:r>
            <a:r>
              <a:t>|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졸업작품 준비 중</a:t>
            </a:r>
          </a:p>
        </p:txBody>
      </p:sp>
      <p:sp>
        <p:nvSpPr>
          <p:cNvPr id="156" name="Text 11"/>
          <p:cNvSpPr txBox="1"/>
          <p:nvPr/>
        </p:nvSpPr>
        <p:spPr>
          <a:xfrm>
            <a:off x="609599" y="3268271"/>
            <a:ext cx="51206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4748B"/>
                </a:solidFill>
              </a:defRPr>
            </a:lvl1pPr>
          </a:lstStyle>
          <a:p>
            <a:pPr/>
            <a:r>
              <a:t>Pain Points</a:t>
            </a:r>
          </a:p>
        </p:txBody>
      </p:sp>
      <p:sp>
        <p:nvSpPr>
          <p:cNvPr id="157" name="Text 12"/>
          <p:cNvSpPr txBox="1"/>
          <p:nvPr/>
        </p:nvSpPr>
        <p:spPr>
          <a:xfrm>
            <a:off x="646175" y="3629405"/>
            <a:ext cx="49987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t>•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디자이너</a:t>
            </a:r>
            <a:r>
              <a:rPr b="0">
                <a:solidFill>
                  <a:srgbClr val="1E293B"/>
                </a:solidFill>
              </a:rPr>
              <a:t>·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기획자 없이 개발만 남은 팀</a:t>
            </a:r>
          </a:p>
        </p:txBody>
      </p:sp>
      <p:sp>
        <p:nvSpPr>
          <p:cNvPr id="158" name="Text 13"/>
          <p:cNvSpPr txBox="1"/>
          <p:nvPr/>
        </p:nvSpPr>
        <p:spPr>
          <a:xfrm>
            <a:off x="646175" y="4092701"/>
            <a:ext cx="49987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t>•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팀원 실력을 인터뷰 없이 검증하기 어려움</a:t>
            </a:r>
          </a:p>
        </p:txBody>
      </p:sp>
      <p:sp>
        <p:nvSpPr>
          <p:cNvPr id="159" name="Text 14"/>
          <p:cNvSpPr txBox="1"/>
          <p:nvPr/>
        </p:nvSpPr>
        <p:spPr>
          <a:xfrm>
            <a:off x="646175" y="4555997"/>
            <a:ext cx="49987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t>•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포트폴리오를 프로젝트 끝나고 따로 정리해야 함</a:t>
            </a:r>
          </a:p>
        </p:txBody>
      </p:sp>
      <p:sp>
        <p:nvSpPr>
          <p:cNvPr id="160" name="Shape 15"/>
          <p:cNvSpPr/>
          <p:nvPr/>
        </p:nvSpPr>
        <p:spPr>
          <a:xfrm>
            <a:off x="609599" y="5803391"/>
            <a:ext cx="5120642" cy="341377"/>
          </a:xfrm>
          <a:prstGeom prst="rect">
            <a:avLst/>
          </a:prstGeom>
          <a:solidFill>
            <a:srgbClr val="D1FAE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16"/>
          <p:cNvSpPr txBox="1"/>
          <p:nvPr/>
        </p:nvSpPr>
        <p:spPr>
          <a:xfrm>
            <a:off x="609599" y="5835839"/>
            <a:ext cx="5120642" cy="276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1100">
                <a:solidFill>
                  <a:srgbClr val="05966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필요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다른 전공</a:t>
            </a:r>
            <a:r>
              <a:t>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디자인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경영</a:t>
            </a:r>
            <a:r>
              <a:t>)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팀원 </a:t>
            </a:r>
            <a:r>
              <a:t>+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포트폴리오 자동화</a:t>
            </a:r>
          </a:p>
        </p:txBody>
      </p:sp>
      <p:sp>
        <p:nvSpPr>
          <p:cNvPr id="162" name="Shape 17"/>
          <p:cNvSpPr/>
          <p:nvPr/>
        </p:nvSpPr>
        <p:spPr>
          <a:xfrm>
            <a:off x="6217920" y="2023872"/>
            <a:ext cx="5486401" cy="4267201"/>
          </a:xfrm>
          <a:prstGeom prst="rect">
            <a:avLst/>
          </a:prstGeom>
          <a:solidFill>
            <a:srgbClr val="FFFFFF"/>
          </a:solidFill>
          <a:ln w="16933">
            <a:solidFill>
              <a:srgbClr val="0D9488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" name="Text 18"/>
          <p:cNvSpPr txBox="1"/>
          <p:nvPr/>
        </p:nvSpPr>
        <p:spPr>
          <a:xfrm>
            <a:off x="6400800" y="2230374"/>
            <a:ext cx="512064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7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🎨  비</a:t>
            </a:r>
            <a:r>
              <a:t>IT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계열 </a:t>
            </a:r>
            <a:r>
              <a:t>— 3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학년 박서연</a:t>
            </a:r>
          </a:p>
        </p:txBody>
      </p:sp>
      <p:sp>
        <p:nvSpPr>
          <p:cNvPr id="164" name="Shape 19"/>
          <p:cNvSpPr/>
          <p:nvPr/>
        </p:nvSpPr>
        <p:spPr>
          <a:xfrm>
            <a:off x="6400800" y="2731007"/>
            <a:ext cx="4632960" cy="316993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20"/>
          <p:cNvSpPr txBox="1"/>
          <p:nvPr/>
        </p:nvSpPr>
        <p:spPr>
          <a:xfrm>
            <a:off x="6400800" y="2802062"/>
            <a:ext cx="463296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시각디자인 </a:t>
            </a:r>
            <a:r>
              <a:t>3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학년 </a:t>
            </a:r>
            <a:r>
              <a:t>|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공모전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사이드프로젝트 도전</a:t>
            </a:r>
          </a:p>
        </p:txBody>
      </p:sp>
      <p:sp>
        <p:nvSpPr>
          <p:cNvPr id="166" name="Text 21"/>
          <p:cNvSpPr txBox="1"/>
          <p:nvPr/>
        </p:nvSpPr>
        <p:spPr>
          <a:xfrm>
            <a:off x="6400800" y="3268271"/>
            <a:ext cx="51206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4748B"/>
                </a:solidFill>
              </a:defRPr>
            </a:lvl1pPr>
          </a:lstStyle>
          <a:p>
            <a:pPr/>
            <a:r>
              <a:t>Pain Points</a:t>
            </a:r>
          </a:p>
        </p:txBody>
      </p:sp>
      <p:sp>
        <p:nvSpPr>
          <p:cNvPr id="167" name="Text 22"/>
          <p:cNvSpPr txBox="1"/>
          <p:nvPr/>
        </p:nvSpPr>
        <p:spPr>
          <a:xfrm>
            <a:off x="6437376" y="3629405"/>
            <a:ext cx="49987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t>•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개발자 없어서 아이디어가 구현 단계에서 막힘</a:t>
            </a:r>
          </a:p>
        </p:txBody>
      </p:sp>
      <p:sp>
        <p:nvSpPr>
          <p:cNvPr id="168" name="Text 23"/>
          <p:cNvSpPr txBox="1"/>
          <p:nvPr/>
        </p:nvSpPr>
        <p:spPr>
          <a:xfrm>
            <a:off x="6437376" y="4092701"/>
            <a:ext cx="49987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t>•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개발자와 협업 경험을 어디서 쌓아야 할지 모름</a:t>
            </a:r>
          </a:p>
        </p:txBody>
      </p:sp>
      <p:sp>
        <p:nvSpPr>
          <p:cNvPr id="169" name="Text 24"/>
          <p:cNvSpPr txBox="1"/>
          <p:nvPr/>
        </p:nvSpPr>
        <p:spPr>
          <a:xfrm>
            <a:off x="6437376" y="4555997"/>
            <a:ext cx="49987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t>•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공모전 팀 구성을 학과 내 인맥에만 의존</a:t>
            </a:r>
          </a:p>
        </p:txBody>
      </p:sp>
      <p:sp>
        <p:nvSpPr>
          <p:cNvPr id="170" name="Shape 25"/>
          <p:cNvSpPr/>
          <p:nvPr/>
        </p:nvSpPr>
        <p:spPr>
          <a:xfrm>
            <a:off x="6400800" y="5803391"/>
            <a:ext cx="5120641" cy="341377"/>
          </a:xfrm>
          <a:prstGeom prst="rect">
            <a:avLst/>
          </a:prstGeom>
          <a:solidFill>
            <a:srgbClr val="D1FAE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26"/>
          <p:cNvSpPr txBox="1"/>
          <p:nvPr/>
        </p:nvSpPr>
        <p:spPr>
          <a:xfrm>
            <a:off x="6400800" y="5835839"/>
            <a:ext cx="5120641" cy="276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1100">
                <a:solidFill>
                  <a:srgbClr val="05966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필요</a:t>
            </a:r>
            <a:r>
              <a:t>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개발자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기획자 연결 </a:t>
            </a:r>
            <a:r>
              <a:t>+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협업 경험 포트폴리오화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75" name="Text 2"/>
          <p:cNvSpPr txBox="1"/>
          <p:nvPr/>
        </p:nvSpPr>
        <p:spPr>
          <a:xfrm>
            <a:off x="1188719" y="47236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02.  SERVICE</a:t>
            </a:r>
          </a:p>
        </p:txBody>
      </p:sp>
      <p:sp>
        <p:nvSpPr>
          <p:cNvPr id="176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5 / 21</a:t>
            </a:r>
          </a:p>
        </p:txBody>
      </p:sp>
      <p:sp>
        <p:nvSpPr>
          <p:cNvPr id="177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MajorLink — 한 줄 정의 &amp; 사용자 흐름</a:t>
            </a:r>
          </a:p>
        </p:txBody>
      </p:sp>
      <p:sp>
        <p:nvSpPr>
          <p:cNvPr id="178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179" name="Shape 6"/>
          <p:cNvSpPr/>
          <p:nvPr/>
        </p:nvSpPr>
        <p:spPr>
          <a:xfrm>
            <a:off x="548639" y="1691639"/>
            <a:ext cx="11064242" cy="1463042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Shape 7"/>
          <p:cNvSpPr/>
          <p:nvPr/>
        </p:nvSpPr>
        <p:spPr>
          <a:xfrm>
            <a:off x="548640" y="1691639"/>
            <a:ext cx="109729" cy="1463042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8"/>
          <p:cNvSpPr txBox="1"/>
          <p:nvPr/>
        </p:nvSpPr>
        <p:spPr>
          <a:xfrm>
            <a:off x="822960" y="1851704"/>
            <a:ext cx="2651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300" sz="1000">
                <a:solidFill>
                  <a:srgbClr val="5B4FE0"/>
                </a:solidFill>
              </a:defRPr>
            </a:lvl1pPr>
          </a:lstStyle>
          <a:p>
            <a:pPr/>
            <a:r>
              <a:t>ONE-LINE</a:t>
            </a:r>
          </a:p>
        </p:txBody>
      </p:sp>
      <p:sp>
        <p:nvSpPr>
          <p:cNvPr id="182" name="Text 9"/>
          <p:cNvSpPr txBox="1"/>
          <p:nvPr/>
        </p:nvSpPr>
        <p:spPr>
          <a:xfrm>
            <a:off x="777239" y="1959803"/>
            <a:ext cx="10789922" cy="1292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5000"/>
              </a:lnSpc>
              <a:defRPr sz="2100">
                <a:solidFill>
                  <a:srgbClr val="0F172A"/>
                </a:solidFill>
              </a:defRPr>
            </a:pPr>
            <a:r>
              <a:t>전공이 다른 대학생들이 </a:t>
            </a:r>
            <a:r>
              <a:rPr b="1">
                <a:solidFill>
                  <a:srgbClr val="5B4FE0"/>
                </a:solidFill>
              </a:rPr>
              <a:t>역할 기반 매칭 점수</a:t>
            </a:r>
            <a:r>
              <a:t>로 팀을 꾸리고,</a:t>
            </a:r>
          </a:p>
          <a:p>
            <a:pPr>
              <a:lnSpc>
                <a:spcPct val="135000"/>
              </a:lnSpc>
              <a:defRPr sz="2100">
                <a:solidFill>
                  <a:srgbClr val="0F172A"/>
                </a:solidFill>
              </a:defRPr>
            </a:pPr>
            <a:r>
              <a:t>프로젝트를 진행하며 </a:t>
            </a:r>
          </a:p>
          <a:p>
            <a:pPr>
              <a:lnSpc>
                <a:spcPct val="135000"/>
              </a:lnSpc>
              <a:defRPr b="1" sz="2100">
                <a:solidFill>
                  <a:srgbClr val="5B4FE0"/>
                </a:solidFill>
              </a:defRPr>
            </a:pPr>
            <a:r>
              <a:t>포트폴리오를 자동 완성</a:t>
            </a:r>
            <a:r>
              <a:rPr b="0">
                <a:solidFill>
                  <a:srgbClr val="0F172A"/>
                </a:solidFill>
              </a:rPr>
              <a:t>하는 웹 플랫폼</a:t>
            </a:r>
          </a:p>
        </p:txBody>
      </p:sp>
      <p:sp>
        <p:nvSpPr>
          <p:cNvPr id="183" name="Text 10"/>
          <p:cNvSpPr txBox="1"/>
          <p:nvPr/>
        </p:nvSpPr>
        <p:spPr>
          <a:xfrm>
            <a:off x="594359" y="3458209"/>
            <a:ext cx="72237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1400">
                <a:solidFill>
                  <a:srgbClr val="5B4FE0"/>
                </a:solidFill>
              </a:defRPr>
            </a:lvl1pPr>
          </a:lstStyle>
          <a:p>
            <a:pPr/>
            <a:r>
              <a:t>핵심 사용자 흐름</a:t>
            </a:r>
          </a:p>
        </p:txBody>
      </p:sp>
      <p:sp>
        <p:nvSpPr>
          <p:cNvPr id="184" name="Shape 11"/>
          <p:cNvSpPr/>
          <p:nvPr/>
        </p:nvSpPr>
        <p:spPr>
          <a:xfrm>
            <a:off x="548640" y="3931920"/>
            <a:ext cx="2194561" cy="219456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12"/>
          <p:cNvSpPr/>
          <p:nvPr/>
        </p:nvSpPr>
        <p:spPr>
          <a:xfrm>
            <a:off x="548640" y="3931920"/>
            <a:ext cx="2194561" cy="7315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Shape 13"/>
          <p:cNvSpPr/>
          <p:nvPr/>
        </p:nvSpPr>
        <p:spPr>
          <a:xfrm>
            <a:off x="822960" y="4206240"/>
            <a:ext cx="502921" cy="502921"/>
          </a:xfrm>
          <a:prstGeom prst="ellipse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14"/>
          <p:cNvSpPr txBox="1"/>
          <p:nvPr/>
        </p:nvSpPr>
        <p:spPr>
          <a:xfrm>
            <a:off x="822960" y="4336875"/>
            <a:ext cx="50292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8" name="Text 15"/>
          <p:cNvSpPr txBox="1"/>
          <p:nvPr/>
        </p:nvSpPr>
        <p:spPr>
          <a:xfrm>
            <a:off x="731519" y="4966970"/>
            <a:ext cx="18288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프로필 등록</a:t>
            </a:r>
          </a:p>
        </p:txBody>
      </p:sp>
      <p:sp>
        <p:nvSpPr>
          <p:cNvPr id="189" name="Text 16"/>
          <p:cNvSpPr txBox="1"/>
          <p:nvPr/>
        </p:nvSpPr>
        <p:spPr>
          <a:xfrm>
            <a:off x="731519" y="5586729"/>
            <a:ext cx="18288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전공·역할·기술·관심</a:t>
            </a:r>
          </a:p>
        </p:txBody>
      </p:sp>
      <p:sp>
        <p:nvSpPr>
          <p:cNvPr id="190" name="Text 17"/>
          <p:cNvSpPr txBox="1"/>
          <p:nvPr/>
        </p:nvSpPr>
        <p:spPr>
          <a:xfrm>
            <a:off x="2606039" y="4908376"/>
            <a:ext cx="36576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5B4FE0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1" name="Shape 18"/>
          <p:cNvSpPr/>
          <p:nvPr/>
        </p:nvSpPr>
        <p:spPr>
          <a:xfrm>
            <a:off x="2788920" y="3931920"/>
            <a:ext cx="2194561" cy="219456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Shape 19"/>
          <p:cNvSpPr/>
          <p:nvPr/>
        </p:nvSpPr>
        <p:spPr>
          <a:xfrm>
            <a:off x="2788920" y="3931920"/>
            <a:ext cx="2194561" cy="7315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Shape 20"/>
          <p:cNvSpPr/>
          <p:nvPr/>
        </p:nvSpPr>
        <p:spPr>
          <a:xfrm>
            <a:off x="3063239" y="4206240"/>
            <a:ext cx="502921" cy="502921"/>
          </a:xfrm>
          <a:prstGeom prst="ellipse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21"/>
          <p:cNvSpPr txBox="1"/>
          <p:nvPr/>
        </p:nvSpPr>
        <p:spPr>
          <a:xfrm>
            <a:off x="3063239" y="4336875"/>
            <a:ext cx="50292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95" name="Text 22"/>
          <p:cNvSpPr txBox="1"/>
          <p:nvPr/>
        </p:nvSpPr>
        <p:spPr>
          <a:xfrm>
            <a:off x="2971800" y="4966970"/>
            <a:ext cx="18288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프로젝트 모집</a:t>
            </a:r>
          </a:p>
        </p:txBody>
      </p:sp>
      <p:sp>
        <p:nvSpPr>
          <p:cNvPr id="196" name="Text 23"/>
          <p:cNvSpPr txBox="1"/>
          <p:nvPr/>
        </p:nvSpPr>
        <p:spPr>
          <a:xfrm>
            <a:off x="2971800" y="5586729"/>
            <a:ext cx="18288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모집글 작성/탐색</a:t>
            </a:r>
          </a:p>
        </p:txBody>
      </p:sp>
      <p:sp>
        <p:nvSpPr>
          <p:cNvPr id="197" name="Text 24"/>
          <p:cNvSpPr txBox="1"/>
          <p:nvPr/>
        </p:nvSpPr>
        <p:spPr>
          <a:xfrm>
            <a:off x="4846320" y="4908376"/>
            <a:ext cx="36576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5B4FE0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" name="Shape 25"/>
          <p:cNvSpPr/>
          <p:nvPr/>
        </p:nvSpPr>
        <p:spPr>
          <a:xfrm>
            <a:off x="5029200" y="3931920"/>
            <a:ext cx="2194561" cy="2194561"/>
          </a:xfrm>
          <a:prstGeom prst="rect">
            <a:avLst/>
          </a:prstGeom>
          <a:solidFill>
            <a:srgbClr val="ECFCC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Shape 26"/>
          <p:cNvSpPr/>
          <p:nvPr/>
        </p:nvSpPr>
        <p:spPr>
          <a:xfrm>
            <a:off x="5029200" y="3931920"/>
            <a:ext cx="2194561" cy="73153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Shape 27"/>
          <p:cNvSpPr/>
          <p:nvPr/>
        </p:nvSpPr>
        <p:spPr>
          <a:xfrm>
            <a:off x="5303520" y="4206240"/>
            <a:ext cx="502921" cy="502921"/>
          </a:xfrm>
          <a:prstGeom prst="ellipse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28"/>
          <p:cNvSpPr txBox="1"/>
          <p:nvPr/>
        </p:nvSpPr>
        <p:spPr>
          <a:xfrm>
            <a:off x="5303520" y="4336875"/>
            <a:ext cx="50292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02" name="Text 29"/>
          <p:cNvSpPr txBox="1"/>
          <p:nvPr/>
        </p:nvSpPr>
        <p:spPr>
          <a:xfrm>
            <a:off x="5212079" y="4966970"/>
            <a:ext cx="18288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지원 + 매칭 점수</a:t>
            </a:r>
          </a:p>
        </p:txBody>
      </p:sp>
      <p:sp>
        <p:nvSpPr>
          <p:cNvPr id="203" name="Text 30"/>
          <p:cNvSpPr txBox="1"/>
          <p:nvPr/>
        </p:nvSpPr>
        <p:spPr>
          <a:xfrm>
            <a:off x="5212079" y="5586729"/>
            <a:ext cx="18288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5개 항목 자동 계산</a:t>
            </a:r>
          </a:p>
        </p:txBody>
      </p:sp>
      <p:sp>
        <p:nvSpPr>
          <p:cNvPr id="204" name="Text 31"/>
          <p:cNvSpPr txBox="1"/>
          <p:nvPr/>
        </p:nvSpPr>
        <p:spPr>
          <a:xfrm>
            <a:off x="7086600" y="4908376"/>
            <a:ext cx="36576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5B4FE0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5" name="Shape 32"/>
          <p:cNvSpPr/>
          <p:nvPr/>
        </p:nvSpPr>
        <p:spPr>
          <a:xfrm>
            <a:off x="7269480" y="3931920"/>
            <a:ext cx="2194561" cy="219456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Shape 33"/>
          <p:cNvSpPr/>
          <p:nvPr/>
        </p:nvSpPr>
        <p:spPr>
          <a:xfrm>
            <a:off x="7269480" y="3931920"/>
            <a:ext cx="2194561" cy="7315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Shape 34"/>
          <p:cNvSpPr/>
          <p:nvPr/>
        </p:nvSpPr>
        <p:spPr>
          <a:xfrm>
            <a:off x="7543800" y="4206240"/>
            <a:ext cx="502921" cy="502921"/>
          </a:xfrm>
          <a:prstGeom prst="ellipse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35"/>
          <p:cNvSpPr txBox="1"/>
          <p:nvPr/>
        </p:nvSpPr>
        <p:spPr>
          <a:xfrm>
            <a:off x="7543800" y="4336875"/>
            <a:ext cx="50292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09" name="Text 36"/>
          <p:cNvSpPr txBox="1"/>
          <p:nvPr/>
        </p:nvSpPr>
        <p:spPr>
          <a:xfrm>
            <a:off x="7452359" y="4966970"/>
            <a:ext cx="18288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팀 진행 관리</a:t>
            </a:r>
          </a:p>
        </p:txBody>
      </p:sp>
      <p:sp>
        <p:nvSpPr>
          <p:cNvPr id="210" name="Text 37"/>
          <p:cNvSpPr txBox="1"/>
          <p:nvPr/>
        </p:nvSpPr>
        <p:spPr>
          <a:xfrm>
            <a:off x="7452359" y="5586729"/>
            <a:ext cx="18288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할 일 / 칸반 보드</a:t>
            </a:r>
          </a:p>
        </p:txBody>
      </p:sp>
      <p:sp>
        <p:nvSpPr>
          <p:cNvPr id="211" name="Text 38"/>
          <p:cNvSpPr txBox="1"/>
          <p:nvPr/>
        </p:nvSpPr>
        <p:spPr>
          <a:xfrm>
            <a:off x="9326880" y="4908376"/>
            <a:ext cx="36576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5B4FE0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2" name="Shape 39"/>
          <p:cNvSpPr/>
          <p:nvPr/>
        </p:nvSpPr>
        <p:spPr>
          <a:xfrm>
            <a:off x="9509759" y="3931920"/>
            <a:ext cx="2194561" cy="219456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Shape 40"/>
          <p:cNvSpPr/>
          <p:nvPr/>
        </p:nvSpPr>
        <p:spPr>
          <a:xfrm>
            <a:off x="9509759" y="3931920"/>
            <a:ext cx="2194561" cy="7315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Shape 41"/>
          <p:cNvSpPr/>
          <p:nvPr/>
        </p:nvSpPr>
        <p:spPr>
          <a:xfrm>
            <a:off x="9784080" y="4206240"/>
            <a:ext cx="502921" cy="502921"/>
          </a:xfrm>
          <a:prstGeom prst="ellipse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 42"/>
          <p:cNvSpPr txBox="1"/>
          <p:nvPr/>
        </p:nvSpPr>
        <p:spPr>
          <a:xfrm>
            <a:off x="9784080" y="4336875"/>
            <a:ext cx="50292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16" name="Text 43"/>
          <p:cNvSpPr txBox="1"/>
          <p:nvPr/>
        </p:nvSpPr>
        <p:spPr>
          <a:xfrm>
            <a:off x="9692640" y="4966970"/>
            <a:ext cx="18288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포트폴리오 자동 생성</a:t>
            </a:r>
          </a:p>
        </p:txBody>
      </p:sp>
      <p:sp>
        <p:nvSpPr>
          <p:cNvPr id="217" name="Text 44"/>
          <p:cNvSpPr txBox="1"/>
          <p:nvPr/>
        </p:nvSpPr>
        <p:spPr>
          <a:xfrm>
            <a:off x="9692640" y="5586729"/>
            <a:ext cx="18288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334155"/>
                </a:solidFill>
              </a:defRPr>
            </a:lvl1pPr>
          </a:lstStyle>
          <a:p>
            <a:pPr/>
            <a:r>
              <a:t>역할·기여·기술·링크</a:t>
            </a:r>
          </a:p>
        </p:txBody>
      </p:sp>
      <p:sp>
        <p:nvSpPr>
          <p:cNvPr id="218" name="Shape 45"/>
          <p:cNvSpPr/>
          <p:nvPr/>
        </p:nvSpPr>
        <p:spPr>
          <a:xfrm>
            <a:off x="548639" y="6446520"/>
            <a:ext cx="11064242" cy="137161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222" name="Text 2"/>
          <p:cNvSpPr txBox="1"/>
          <p:nvPr/>
        </p:nvSpPr>
        <p:spPr>
          <a:xfrm>
            <a:off x="1188719" y="47236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02.  SERVICE  ·  UI</a:t>
            </a:r>
          </a:p>
        </p:txBody>
      </p:sp>
      <p:sp>
        <p:nvSpPr>
          <p:cNvPr id="223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6 / 21</a:t>
            </a:r>
          </a:p>
        </p:txBody>
      </p:sp>
      <p:sp>
        <p:nvSpPr>
          <p:cNvPr id="224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화면 미리보기 ① 랜딩 · 탐색</a:t>
            </a:r>
          </a:p>
        </p:txBody>
      </p:sp>
      <p:sp>
        <p:nvSpPr>
          <p:cNvPr id="225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226" name="Shape 6"/>
          <p:cNvSpPr/>
          <p:nvPr/>
        </p:nvSpPr>
        <p:spPr>
          <a:xfrm>
            <a:off x="548640" y="1691639"/>
            <a:ext cx="5440680" cy="45720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101600" dist="38100" dir="54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" name="Shape 7"/>
          <p:cNvSpPr/>
          <p:nvPr/>
        </p:nvSpPr>
        <p:spPr>
          <a:xfrm>
            <a:off x="548640" y="1691639"/>
            <a:ext cx="5440680" cy="365761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Shape 8"/>
          <p:cNvSpPr/>
          <p:nvPr/>
        </p:nvSpPr>
        <p:spPr>
          <a:xfrm>
            <a:off x="640080" y="1810511"/>
            <a:ext cx="118873" cy="118873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Shape 9"/>
          <p:cNvSpPr/>
          <p:nvPr/>
        </p:nvSpPr>
        <p:spPr>
          <a:xfrm>
            <a:off x="822960" y="1810511"/>
            <a:ext cx="118873" cy="118873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Shape 10"/>
          <p:cNvSpPr/>
          <p:nvPr/>
        </p:nvSpPr>
        <p:spPr>
          <a:xfrm>
            <a:off x="1005839" y="1810511"/>
            <a:ext cx="118873" cy="118873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Shape 11"/>
          <p:cNvSpPr/>
          <p:nvPr/>
        </p:nvSpPr>
        <p:spPr>
          <a:xfrm>
            <a:off x="1280160" y="1764792"/>
            <a:ext cx="4343401" cy="21945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12"/>
          <p:cNvSpPr txBox="1"/>
          <p:nvPr/>
        </p:nvSpPr>
        <p:spPr>
          <a:xfrm>
            <a:off x="1371600" y="1811020"/>
            <a:ext cx="4160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majorlink.kr</a:t>
            </a:r>
          </a:p>
        </p:txBody>
      </p:sp>
      <p:sp>
        <p:nvSpPr>
          <p:cNvPr id="233" name="Text 13"/>
          <p:cNvSpPr txBox="1"/>
          <p:nvPr/>
        </p:nvSpPr>
        <p:spPr>
          <a:xfrm>
            <a:off x="731519" y="2259900"/>
            <a:ext cx="1371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5B4FE0"/>
                </a:solidFill>
              </a:defRPr>
            </a:lvl1pPr>
          </a:lstStyle>
          <a:p>
            <a:pPr/>
            <a:r>
              <a:t>MajorLink</a:t>
            </a:r>
          </a:p>
        </p:txBody>
      </p:sp>
      <p:sp>
        <p:nvSpPr>
          <p:cNvPr id="234" name="Shape 14"/>
          <p:cNvSpPr/>
          <p:nvPr/>
        </p:nvSpPr>
        <p:spPr>
          <a:xfrm>
            <a:off x="1847088" y="2404872"/>
            <a:ext cx="91441" cy="91441"/>
          </a:xfrm>
          <a:prstGeom prst="ellipse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Shape 15"/>
          <p:cNvSpPr/>
          <p:nvPr/>
        </p:nvSpPr>
        <p:spPr>
          <a:xfrm>
            <a:off x="4709159" y="2194560"/>
            <a:ext cx="1051561" cy="292609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16"/>
          <p:cNvSpPr txBox="1"/>
          <p:nvPr/>
        </p:nvSpPr>
        <p:spPr>
          <a:xfrm>
            <a:off x="4709159" y="2271014"/>
            <a:ext cx="10515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시작하기</a:t>
            </a:r>
          </a:p>
        </p:txBody>
      </p:sp>
      <p:sp>
        <p:nvSpPr>
          <p:cNvPr id="237" name="Shape 17"/>
          <p:cNvSpPr/>
          <p:nvPr/>
        </p:nvSpPr>
        <p:spPr>
          <a:xfrm>
            <a:off x="731519" y="2697479"/>
            <a:ext cx="1920241" cy="246889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18"/>
          <p:cNvSpPr txBox="1"/>
          <p:nvPr/>
        </p:nvSpPr>
        <p:spPr>
          <a:xfrm>
            <a:off x="777240" y="2757423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5B4FE0"/>
                </a:solidFill>
              </a:defRPr>
            </a:lvl1pPr>
          </a:lstStyle>
          <a:p>
            <a:pPr/>
            <a:r>
              <a:t>● 2026년 7월 정식 출시</a:t>
            </a:r>
          </a:p>
        </p:txBody>
      </p:sp>
      <p:sp>
        <p:nvSpPr>
          <p:cNvPr id="239" name="Text 19"/>
          <p:cNvSpPr txBox="1"/>
          <p:nvPr/>
        </p:nvSpPr>
        <p:spPr>
          <a:xfrm>
            <a:off x="731519" y="3120390"/>
            <a:ext cx="36576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F172A"/>
                </a:solidFill>
              </a:defRPr>
            </a:lvl1pPr>
          </a:lstStyle>
          <a:p>
            <a:pPr/>
            <a:r>
              <a:t>전공이 다르면,</a:t>
            </a:r>
          </a:p>
        </p:txBody>
      </p:sp>
      <p:sp>
        <p:nvSpPr>
          <p:cNvPr id="240" name="Text 20"/>
          <p:cNvSpPr txBox="1"/>
          <p:nvPr/>
        </p:nvSpPr>
        <p:spPr>
          <a:xfrm>
            <a:off x="731519" y="3577590"/>
            <a:ext cx="36576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0F172A"/>
                </a:solidFill>
              </a:defRPr>
            </a:lvl1pPr>
          </a:lstStyle>
          <a:p>
            <a:pPr/>
            <a:r>
              <a:t>팀이 강해집니다.</a:t>
            </a:r>
          </a:p>
        </p:txBody>
      </p:sp>
      <p:sp>
        <p:nvSpPr>
          <p:cNvPr id="241" name="Text 21"/>
          <p:cNvSpPr txBox="1"/>
          <p:nvPr/>
        </p:nvSpPr>
        <p:spPr>
          <a:xfrm>
            <a:off x="731519" y="4208866"/>
            <a:ext cx="3657601" cy="360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64748B"/>
                </a:solidFill>
              </a:defRPr>
            </a:pPr>
            <a:r>
              <a:t>역할 기반 매칭 점수로</a:t>
            </a:r>
          </a:p>
          <a:p>
            <a:pPr>
              <a:lnSpc>
                <a:spcPct val="140000"/>
              </a:lnSpc>
              <a:defRPr sz="900">
                <a:solidFill>
                  <a:srgbClr val="64748B"/>
                </a:solidFill>
              </a:defRPr>
            </a:pPr>
            <a:r>
              <a:t>흩어진 전공을 하나의 프로젝트로 잇다.</a:t>
            </a:r>
          </a:p>
        </p:txBody>
      </p:sp>
      <p:sp>
        <p:nvSpPr>
          <p:cNvPr id="242" name="Shape 22"/>
          <p:cNvSpPr/>
          <p:nvPr/>
        </p:nvSpPr>
        <p:spPr>
          <a:xfrm>
            <a:off x="4480559" y="3063239"/>
            <a:ext cx="1371601" cy="237744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23"/>
          <p:cNvSpPr txBox="1"/>
          <p:nvPr/>
        </p:nvSpPr>
        <p:spPr>
          <a:xfrm>
            <a:off x="4526279" y="3136899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600">
                <a:solidFill>
                  <a:srgbClr val="10B981"/>
                </a:solidFill>
              </a:defRPr>
            </a:lvl1pPr>
          </a:lstStyle>
          <a:p>
            <a:pPr/>
            <a:r>
              <a:t>● LIVE MATCH</a:t>
            </a:r>
          </a:p>
        </p:txBody>
      </p:sp>
      <p:sp>
        <p:nvSpPr>
          <p:cNvPr id="244" name="Shape 24"/>
          <p:cNvSpPr/>
          <p:nvPr/>
        </p:nvSpPr>
        <p:spPr>
          <a:xfrm>
            <a:off x="4846320" y="3383279"/>
            <a:ext cx="640081" cy="640081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Text 25"/>
          <p:cNvSpPr txBox="1"/>
          <p:nvPr/>
        </p:nvSpPr>
        <p:spPr>
          <a:xfrm>
            <a:off x="4846320" y="3595370"/>
            <a:ext cx="6400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5B4FE0"/>
                </a:solidFill>
              </a:defRPr>
            </a:lvl1pPr>
          </a:lstStyle>
          <a:p>
            <a:pPr/>
            <a:r>
              <a:t>이</a:t>
            </a:r>
          </a:p>
        </p:txBody>
      </p:sp>
      <p:sp>
        <p:nvSpPr>
          <p:cNvPr id="246" name="Text 26"/>
          <p:cNvSpPr txBox="1"/>
          <p:nvPr/>
        </p:nvSpPr>
        <p:spPr>
          <a:xfrm>
            <a:off x="4526279" y="4097020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F172A"/>
                </a:solidFill>
              </a:defRPr>
            </a:lvl1pPr>
          </a:lstStyle>
          <a:p>
            <a:pPr/>
            <a:r>
              <a:t>이수민  시각디자인 2</a:t>
            </a:r>
          </a:p>
        </p:txBody>
      </p:sp>
      <p:sp>
        <p:nvSpPr>
          <p:cNvPr id="247" name="Shape 27"/>
          <p:cNvSpPr/>
          <p:nvPr/>
        </p:nvSpPr>
        <p:spPr>
          <a:xfrm>
            <a:off x="4937759" y="4297679"/>
            <a:ext cx="457201" cy="457201"/>
          </a:xfrm>
          <a:prstGeom prst="ellipse">
            <a:avLst/>
          </a:prstGeom>
          <a:solidFill>
            <a:srgbClr val="EEF0FF"/>
          </a:solidFill>
          <a:ln w="38100">
            <a:solidFill>
              <a:srgbClr val="5B4F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28"/>
          <p:cNvSpPr txBox="1"/>
          <p:nvPr/>
        </p:nvSpPr>
        <p:spPr>
          <a:xfrm>
            <a:off x="4937759" y="4459146"/>
            <a:ext cx="457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5B4FE0"/>
                </a:solidFill>
              </a:defRPr>
            </a:lvl1pPr>
          </a:lstStyle>
          <a:p>
            <a:pPr/>
            <a:r>
              <a:t>87</a:t>
            </a:r>
          </a:p>
        </p:txBody>
      </p:sp>
      <p:sp>
        <p:nvSpPr>
          <p:cNvPr id="249" name="Shape 29"/>
          <p:cNvSpPr/>
          <p:nvPr/>
        </p:nvSpPr>
        <p:spPr>
          <a:xfrm>
            <a:off x="4526279" y="4800600"/>
            <a:ext cx="1280161" cy="201169"/>
          </a:xfrm>
          <a:prstGeom prst="rect">
            <a:avLst/>
          </a:prstGeom>
          <a:solidFill>
            <a:srgbClr val="ECFCC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 30"/>
          <p:cNvSpPr txBox="1"/>
          <p:nvPr/>
        </p:nvSpPr>
        <p:spPr>
          <a:xfrm>
            <a:off x="4526279" y="4837684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84CC16"/>
                </a:solidFill>
              </a:defRPr>
            </a:lvl1pPr>
          </a:lstStyle>
          <a:p>
            <a:pPr/>
            <a:r>
              <a:t>✦  EXCELLENT</a:t>
            </a:r>
          </a:p>
        </p:txBody>
      </p:sp>
      <p:sp>
        <p:nvSpPr>
          <p:cNvPr id="251" name="Text 31"/>
          <p:cNvSpPr txBox="1"/>
          <p:nvPr/>
        </p:nvSpPr>
        <p:spPr>
          <a:xfrm>
            <a:off x="731519" y="5523484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334155"/>
                </a:solidFill>
              </a:defRPr>
            </a:lvl1pPr>
          </a:lstStyle>
          <a:p>
            <a:pPr/>
            <a:r>
              <a:t>역할</a:t>
            </a:r>
          </a:p>
        </p:txBody>
      </p:sp>
      <p:sp>
        <p:nvSpPr>
          <p:cNvPr id="252" name="Shape 32"/>
          <p:cNvSpPr/>
          <p:nvPr/>
        </p:nvSpPr>
        <p:spPr>
          <a:xfrm>
            <a:off x="1188719" y="5559552"/>
            <a:ext cx="3200401" cy="64009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Shape 33"/>
          <p:cNvSpPr/>
          <p:nvPr/>
        </p:nvSpPr>
        <p:spPr>
          <a:xfrm>
            <a:off x="1188719" y="5559552"/>
            <a:ext cx="3200401" cy="64009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Text 34"/>
          <p:cNvSpPr txBox="1"/>
          <p:nvPr/>
        </p:nvSpPr>
        <p:spPr>
          <a:xfrm>
            <a:off x="4480559" y="5523484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334155"/>
                </a:solidFill>
              </a:defRPr>
            </a:lvl1pPr>
          </a:lstStyle>
          <a:p>
            <a:pPr/>
            <a:r>
              <a:t>30/30</a:t>
            </a:r>
          </a:p>
        </p:txBody>
      </p:sp>
      <p:sp>
        <p:nvSpPr>
          <p:cNvPr id="255" name="Text 35"/>
          <p:cNvSpPr txBox="1"/>
          <p:nvPr/>
        </p:nvSpPr>
        <p:spPr>
          <a:xfrm>
            <a:off x="731519" y="5642355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334155"/>
                </a:solidFill>
              </a:defRPr>
            </a:lvl1pPr>
          </a:lstStyle>
          <a:p>
            <a:pPr/>
            <a:r>
              <a:t>기술</a:t>
            </a:r>
          </a:p>
        </p:txBody>
      </p:sp>
      <p:sp>
        <p:nvSpPr>
          <p:cNvPr id="256" name="Shape 36"/>
          <p:cNvSpPr/>
          <p:nvPr/>
        </p:nvSpPr>
        <p:spPr>
          <a:xfrm>
            <a:off x="1188719" y="5678423"/>
            <a:ext cx="3200401" cy="64009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Shape 37"/>
          <p:cNvSpPr/>
          <p:nvPr/>
        </p:nvSpPr>
        <p:spPr>
          <a:xfrm>
            <a:off x="1188719" y="5678423"/>
            <a:ext cx="2346962" cy="64009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38"/>
          <p:cNvSpPr txBox="1"/>
          <p:nvPr/>
        </p:nvSpPr>
        <p:spPr>
          <a:xfrm>
            <a:off x="4480559" y="5642355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334155"/>
                </a:solidFill>
              </a:defRPr>
            </a:lvl1pPr>
          </a:lstStyle>
          <a:p>
            <a:pPr/>
            <a:r>
              <a:t>22/25</a:t>
            </a:r>
          </a:p>
        </p:txBody>
      </p:sp>
      <p:sp>
        <p:nvSpPr>
          <p:cNvPr id="259" name="Text 39"/>
          <p:cNvSpPr txBox="1"/>
          <p:nvPr/>
        </p:nvSpPr>
        <p:spPr>
          <a:xfrm>
            <a:off x="731519" y="5761228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334155"/>
                </a:solidFill>
              </a:defRPr>
            </a:lvl1pPr>
          </a:lstStyle>
          <a:p>
            <a:pPr/>
            <a:r>
              <a:t>기간</a:t>
            </a:r>
          </a:p>
        </p:txBody>
      </p:sp>
      <p:sp>
        <p:nvSpPr>
          <p:cNvPr id="260" name="Shape 40"/>
          <p:cNvSpPr/>
          <p:nvPr/>
        </p:nvSpPr>
        <p:spPr>
          <a:xfrm>
            <a:off x="1188719" y="5797296"/>
            <a:ext cx="3200401" cy="64009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Shape 41"/>
          <p:cNvSpPr/>
          <p:nvPr/>
        </p:nvSpPr>
        <p:spPr>
          <a:xfrm>
            <a:off x="1188719" y="5797296"/>
            <a:ext cx="1920241" cy="64009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42"/>
          <p:cNvSpPr txBox="1"/>
          <p:nvPr/>
        </p:nvSpPr>
        <p:spPr>
          <a:xfrm>
            <a:off x="4480559" y="5761228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334155"/>
                </a:solidFill>
              </a:defRPr>
            </a:lvl1pPr>
          </a:lstStyle>
          <a:p>
            <a:pPr/>
            <a:r>
              <a:t>18/20</a:t>
            </a:r>
          </a:p>
        </p:txBody>
      </p:sp>
      <p:sp>
        <p:nvSpPr>
          <p:cNvPr id="263" name="Text 43"/>
          <p:cNvSpPr txBox="1"/>
          <p:nvPr/>
        </p:nvSpPr>
        <p:spPr>
          <a:xfrm>
            <a:off x="731519" y="5880099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334155"/>
                </a:solidFill>
              </a:defRPr>
            </a:lvl1pPr>
          </a:lstStyle>
          <a:p>
            <a:pPr/>
            <a:r>
              <a:t>관심</a:t>
            </a:r>
          </a:p>
        </p:txBody>
      </p:sp>
      <p:sp>
        <p:nvSpPr>
          <p:cNvPr id="264" name="Shape 44"/>
          <p:cNvSpPr/>
          <p:nvPr/>
        </p:nvSpPr>
        <p:spPr>
          <a:xfrm>
            <a:off x="1188719" y="5916167"/>
            <a:ext cx="3200401" cy="64009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Shape 45"/>
          <p:cNvSpPr/>
          <p:nvPr/>
        </p:nvSpPr>
        <p:spPr>
          <a:xfrm>
            <a:off x="1188719" y="5916167"/>
            <a:ext cx="1280162" cy="64009"/>
          </a:xfrm>
          <a:prstGeom prst="rect">
            <a:avLst/>
          </a:prstGeom>
          <a:solidFill>
            <a:srgbClr val="EC48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Text 46"/>
          <p:cNvSpPr txBox="1"/>
          <p:nvPr/>
        </p:nvSpPr>
        <p:spPr>
          <a:xfrm>
            <a:off x="4480559" y="5880099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334155"/>
                </a:solidFill>
              </a:defRPr>
            </a:lvl1pPr>
          </a:lstStyle>
          <a:p>
            <a:pPr/>
            <a:r>
              <a:t>12/15</a:t>
            </a:r>
          </a:p>
        </p:txBody>
      </p:sp>
      <p:sp>
        <p:nvSpPr>
          <p:cNvPr id="267" name="Text 47"/>
          <p:cNvSpPr txBox="1"/>
          <p:nvPr/>
        </p:nvSpPr>
        <p:spPr>
          <a:xfrm>
            <a:off x="731519" y="599897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334155"/>
                </a:solidFill>
              </a:defRPr>
            </a:lvl1pPr>
          </a:lstStyle>
          <a:p>
            <a:pPr/>
            <a:r>
              <a:t>포폴</a:t>
            </a:r>
          </a:p>
        </p:txBody>
      </p:sp>
      <p:sp>
        <p:nvSpPr>
          <p:cNvPr id="268" name="Shape 48"/>
          <p:cNvSpPr/>
          <p:nvPr/>
        </p:nvSpPr>
        <p:spPr>
          <a:xfrm>
            <a:off x="1188719" y="6035040"/>
            <a:ext cx="3200401" cy="64009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Shape 49"/>
          <p:cNvSpPr/>
          <p:nvPr/>
        </p:nvSpPr>
        <p:spPr>
          <a:xfrm>
            <a:off x="1188719" y="6035040"/>
            <a:ext cx="533401" cy="64009"/>
          </a:xfrm>
          <a:prstGeom prst="rect">
            <a:avLst/>
          </a:prstGeom>
          <a:solidFill>
            <a:srgbClr val="14B8A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50"/>
          <p:cNvSpPr txBox="1"/>
          <p:nvPr/>
        </p:nvSpPr>
        <p:spPr>
          <a:xfrm>
            <a:off x="4480559" y="5998972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334155"/>
                </a:solidFill>
              </a:defRPr>
            </a:lvl1pPr>
          </a:lstStyle>
          <a:p>
            <a:pPr/>
            <a:r>
              <a:t>5/10</a:t>
            </a:r>
          </a:p>
        </p:txBody>
      </p:sp>
      <p:sp>
        <p:nvSpPr>
          <p:cNvPr id="271" name="Shape 51"/>
          <p:cNvSpPr/>
          <p:nvPr/>
        </p:nvSpPr>
        <p:spPr>
          <a:xfrm>
            <a:off x="6172200" y="1691639"/>
            <a:ext cx="5440680" cy="45720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101600" dist="38100" dir="54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" name="Shape 52"/>
          <p:cNvSpPr/>
          <p:nvPr/>
        </p:nvSpPr>
        <p:spPr>
          <a:xfrm>
            <a:off x="6172200" y="1691639"/>
            <a:ext cx="5440680" cy="365761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Shape 53"/>
          <p:cNvSpPr/>
          <p:nvPr/>
        </p:nvSpPr>
        <p:spPr>
          <a:xfrm>
            <a:off x="6263640" y="1810511"/>
            <a:ext cx="118873" cy="118873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Shape 54"/>
          <p:cNvSpPr/>
          <p:nvPr/>
        </p:nvSpPr>
        <p:spPr>
          <a:xfrm>
            <a:off x="6446520" y="1810511"/>
            <a:ext cx="118873" cy="118873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Shape 55"/>
          <p:cNvSpPr/>
          <p:nvPr/>
        </p:nvSpPr>
        <p:spPr>
          <a:xfrm>
            <a:off x="6629400" y="1810511"/>
            <a:ext cx="118873" cy="118873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Shape 56"/>
          <p:cNvSpPr/>
          <p:nvPr/>
        </p:nvSpPr>
        <p:spPr>
          <a:xfrm>
            <a:off x="6903719" y="1764792"/>
            <a:ext cx="4343401" cy="21945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 57"/>
          <p:cNvSpPr txBox="1"/>
          <p:nvPr/>
        </p:nvSpPr>
        <p:spPr>
          <a:xfrm>
            <a:off x="6995159" y="1811020"/>
            <a:ext cx="4160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majorlink.kr/explore</a:t>
            </a:r>
          </a:p>
        </p:txBody>
      </p:sp>
      <p:sp>
        <p:nvSpPr>
          <p:cNvPr id="278" name="Shape 58"/>
          <p:cNvSpPr/>
          <p:nvPr/>
        </p:nvSpPr>
        <p:spPr>
          <a:xfrm>
            <a:off x="6355079" y="2194560"/>
            <a:ext cx="5074921" cy="32004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59"/>
          <p:cNvSpPr txBox="1"/>
          <p:nvPr/>
        </p:nvSpPr>
        <p:spPr>
          <a:xfrm>
            <a:off x="6446520" y="2284730"/>
            <a:ext cx="48920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프로젝트, 기술, 학교 검색</a:t>
            </a:r>
          </a:p>
        </p:txBody>
      </p:sp>
      <p:sp>
        <p:nvSpPr>
          <p:cNvPr id="280" name="Text 60"/>
          <p:cNvSpPr txBox="1"/>
          <p:nvPr/>
        </p:nvSpPr>
        <p:spPr>
          <a:xfrm>
            <a:off x="6355079" y="2703830"/>
            <a:ext cx="2743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프로젝트 탐색</a:t>
            </a:r>
          </a:p>
        </p:txBody>
      </p:sp>
      <p:sp>
        <p:nvSpPr>
          <p:cNvPr id="281" name="Text 61"/>
          <p:cNvSpPr txBox="1"/>
          <p:nvPr/>
        </p:nvSpPr>
        <p:spPr>
          <a:xfrm>
            <a:off x="6355079" y="3022599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총 34개  ·  매칭 추천 4개</a:t>
            </a:r>
          </a:p>
        </p:txBody>
      </p:sp>
      <p:sp>
        <p:nvSpPr>
          <p:cNvPr id="282" name="Shape 62"/>
          <p:cNvSpPr/>
          <p:nvPr/>
        </p:nvSpPr>
        <p:spPr>
          <a:xfrm>
            <a:off x="10241280" y="2697479"/>
            <a:ext cx="1188721" cy="27432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63"/>
          <p:cNvSpPr txBox="1"/>
          <p:nvPr/>
        </p:nvSpPr>
        <p:spPr>
          <a:xfrm>
            <a:off x="10241280" y="2771139"/>
            <a:ext cx="1188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매칭 추천순</a:t>
            </a:r>
          </a:p>
        </p:txBody>
      </p:sp>
      <p:sp>
        <p:nvSpPr>
          <p:cNvPr id="284" name="Shape 64"/>
          <p:cNvSpPr/>
          <p:nvPr/>
        </p:nvSpPr>
        <p:spPr>
          <a:xfrm>
            <a:off x="6355079" y="3337559"/>
            <a:ext cx="1645921" cy="22860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Shape 65"/>
          <p:cNvSpPr/>
          <p:nvPr/>
        </p:nvSpPr>
        <p:spPr>
          <a:xfrm>
            <a:off x="6400800" y="3227832"/>
            <a:ext cx="777241" cy="228601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66"/>
          <p:cNvSpPr txBox="1"/>
          <p:nvPr/>
        </p:nvSpPr>
        <p:spPr>
          <a:xfrm>
            <a:off x="6400800" y="3278632"/>
            <a:ext cx="777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● 87% 매칭</a:t>
            </a:r>
          </a:p>
        </p:txBody>
      </p:sp>
      <p:sp>
        <p:nvSpPr>
          <p:cNvPr id="287" name="Text 67"/>
          <p:cNvSpPr txBox="1"/>
          <p:nvPr/>
        </p:nvSpPr>
        <p:spPr>
          <a:xfrm>
            <a:off x="6446520" y="3557524"/>
            <a:ext cx="14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교내 서비스</a:t>
            </a:r>
          </a:p>
        </p:txBody>
      </p:sp>
      <p:sp>
        <p:nvSpPr>
          <p:cNvPr id="288" name="Text 68"/>
          <p:cNvSpPr txBox="1"/>
          <p:nvPr/>
        </p:nvSpPr>
        <p:spPr>
          <a:xfrm>
            <a:off x="6446520" y="3891235"/>
            <a:ext cx="1463041" cy="355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1000">
                <a:solidFill>
                  <a:srgbClr val="0F172A"/>
                </a:solidFill>
              </a:defRPr>
            </a:pPr>
            <a:r>
              <a:t>캠퍼스 분실물</a:t>
            </a:r>
          </a:p>
          <a:p>
            <a:pPr>
              <a:lnSpc>
                <a:spcPct val="115000"/>
              </a:lnSpc>
              <a:defRPr b="1" sz="1000">
                <a:solidFill>
                  <a:srgbClr val="0F172A"/>
                </a:solidFill>
              </a:defRPr>
            </a:pPr>
            <a:r>
              <a:t>찾아주는 앱</a:t>
            </a:r>
          </a:p>
        </p:txBody>
      </p:sp>
      <p:sp>
        <p:nvSpPr>
          <p:cNvPr id="289" name="Shape 69"/>
          <p:cNvSpPr/>
          <p:nvPr/>
        </p:nvSpPr>
        <p:spPr>
          <a:xfrm>
            <a:off x="6446520" y="4480559"/>
            <a:ext cx="457201" cy="18288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Text 70"/>
          <p:cNvSpPr txBox="1"/>
          <p:nvPr/>
        </p:nvSpPr>
        <p:spPr>
          <a:xfrm>
            <a:off x="6446520" y="4508499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5B4FE0"/>
                </a:solidFill>
              </a:defRPr>
            </a:lvl1pPr>
          </a:lstStyle>
          <a:p>
            <a:pPr/>
            <a:r>
              <a:t>프론트</a:t>
            </a:r>
          </a:p>
        </p:txBody>
      </p:sp>
      <p:sp>
        <p:nvSpPr>
          <p:cNvPr id="291" name="Shape 71"/>
          <p:cNvSpPr/>
          <p:nvPr/>
        </p:nvSpPr>
        <p:spPr>
          <a:xfrm>
            <a:off x="6949440" y="4480559"/>
            <a:ext cx="457201" cy="18288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Text 72"/>
          <p:cNvSpPr txBox="1"/>
          <p:nvPr/>
        </p:nvSpPr>
        <p:spPr>
          <a:xfrm>
            <a:off x="6949440" y="4508499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5B4FE0"/>
                </a:solidFill>
              </a:defRPr>
            </a:lvl1pPr>
          </a:lstStyle>
          <a:p>
            <a:pPr/>
            <a:r>
              <a:t>디자인</a:t>
            </a:r>
          </a:p>
        </p:txBody>
      </p:sp>
      <p:sp>
        <p:nvSpPr>
          <p:cNvPr id="293" name="Shape 73"/>
          <p:cNvSpPr/>
          <p:nvPr/>
        </p:nvSpPr>
        <p:spPr>
          <a:xfrm>
            <a:off x="7452359" y="4480559"/>
            <a:ext cx="457201" cy="18288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Text 74"/>
          <p:cNvSpPr txBox="1"/>
          <p:nvPr/>
        </p:nvSpPr>
        <p:spPr>
          <a:xfrm>
            <a:off x="7452359" y="4508499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5B4FE0"/>
                </a:solidFill>
              </a:defRPr>
            </a:lvl1pPr>
          </a:lstStyle>
          <a:p>
            <a:pPr/>
            <a:r>
              <a:t>PM</a:t>
            </a:r>
          </a:p>
        </p:txBody>
      </p:sp>
      <p:sp>
        <p:nvSpPr>
          <p:cNvPr id="295" name="Shape 75"/>
          <p:cNvSpPr/>
          <p:nvPr/>
        </p:nvSpPr>
        <p:spPr>
          <a:xfrm>
            <a:off x="6446520" y="5029200"/>
            <a:ext cx="228601" cy="228600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76"/>
          <p:cNvSpPr txBox="1"/>
          <p:nvPr/>
        </p:nvSpPr>
        <p:spPr>
          <a:xfrm>
            <a:off x="6766559" y="507999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155"/>
                </a:solidFill>
              </a:defRPr>
            </a:lvl1pPr>
          </a:lstStyle>
          <a:p>
            <a:pPr/>
            <a:r>
              <a:t>3/5명</a:t>
            </a:r>
          </a:p>
        </p:txBody>
      </p:sp>
      <p:sp>
        <p:nvSpPr>
          <p:cNvPr id="297" name="Shape 77"/>
          <p:cNvSpPr/>
          <p:nvPr/>
        </p:nvSpPr>
        <p:spPr>
          <a:xfrm>
            <a:off x="8092440" y="3337559"/>
            <a:ext cx="1645921" cy="22860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Shape 78"/>
          <p:cNvSpPr/>
          <p:nvPr/>
        </p:nvSpPr>
        <p:spPr>
          <a:xfrm>
            <a:off x="8138159" y="3227832"/>
            <a:ext cx="777241" cy="228601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Text 79"/>
          <p:cNvSpPr txBox="1"/>
          <p:nvPr/>
        </p:nvSpPr>
        <p:spPr>
          <a:xfrm>
            <a:off x="8138159" y="3278632"/>
            <a:ext cx="777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● 72% 매칭</a:t>
            </a:r>
          </a:p>
        </p:txBody>
      </p:sp>
      <p:sp>
        <p:nvSpPr>
          <p:cNvPr id="300" name="Text 80"/>
          <p:cNvSpPr txBox="1"/>
          <p:nvPr/>
        </p:nvSpPr>
        <p:spPr>
          <a:xfrm>
            <a:off x="8183880" y="3557524"/>
            <a:ext cx="14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IoT/하드웨어</a:t>
            </a:r>
          </a:p>
        </p:txBody>
      </p:sp>
      <p:sp>
        <p:nvSpPr>
          <p:cNvPr id="301" name="Text 81"/>
          <p:cNvSpPr txBox="1"/>
          <p:nvPr/>
        </p:nvSpPr>
        <p:spPr>
          <a:xfrm>
            <a:off x="8183880" y="3891235"/>
            <a:ext cx="1463041" cy="355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1000">
                <a:solidFill>
                  <a:srgbClr val="0F172A"/>
                </a:solidFill>
              </a:defRPr>
            </a:pPr>
            <a:r>
              <a:t>교내 카페 줄서기</a:t>
            </a:r>
          </a:p>
          <a:p>
            <a:pPr>
              <a:lnSpc>
                <a:spcPct val="115000"/>
              </a:lnSpc>
              <a:defRPr b="1" sz="1000">
                <a:solidFill>
                  <a:srgbClr val="0F172A"/>
                </a:solidFill>
              </a:defRPr>
            </a:pPr>
            <a:r>
              <a:t>IoT 솔루션</a:t>
            </a:r>
          </a:p>
        </p:txBody>
      </p:sp>
      <p:sp>
        <p:nvSpPr>
          <p:cNvPr id="302" name="Shape 82"/>
          <p:cNvSpPr/>
          <p:nvPr/>
        </p:nvSpPr>
        <p:spPr>
          <a:xfrm>
            <a:off x="8183880" y="4480559"/>
            <a:ext cx="457201" cy="18288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Text 83"/>
          <p:cNvSpPr txBox="1"/>
          <p:nvPr/>
        </p:nvSpPr>
        <p:spPr>
          <a:xfrm>
            <a:off x="8183880" y="4508499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5B4FE0"/>
                </a:solidFill>
              </a:defRPr>
            </a:lvl1pPr>
          </a:lstStyle>
          <a:p>
            <a:pPr/>
            <a:r>
              <a:t>프론트</a:t>
            </a:r>
          </a:p>
        </p:txBody>
      </p:sp>
      <p:sp>
        <p:nvSpPr>
          <p:cNvPr id="304" name="Shape 84"/>
          <p:cNvSpPr/>
          <p:nvPr/>
        </p:nvSpPr>
        <p:spPr>
          <a:xfrm>
            <a:off x="8686800" y="4480559"/>
            <a:ext cx="457200" cy="18288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Text 85"/>
          <p:cNvSpPr txBox="1"/>
          <p:nvPr/>
        </p:nvSpPr>
        <p:spPr>
          <a:xfrm>
            <a:off x="8686800" y="4508499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5B4FE0"/>
                </a:solidFill>
              </a:defRPr>
            </a:lvl1pPr>
          </a:lstStyle>
          <a:p>
            <a:pPr/>
            <a:r>
              <a:t>디자인</a:t>
            </a:r>
          </a:p>
        </p:txBody>
      </p:sp>
      <p:sp>
        <p:nvSpPr>
          <p:cNvPr id="306" name="Shape 86"/>
          <p:cNvSpPr/>
          <p:nvPr/>
        </p:nvSpPr>
        <p:spPr>
          <a:xfrm>
            <a:off x="9189719" y="4480559"/>
            <a:ext cx="457201" cy="18288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 87"/>
          <p:cNvSpPr txBox="1"/>
          <p:nvPr/>
        </p:nvSpPr>
        <p:spPr>
          <a:xfrm>
            <a:off x="9189719" y="4508499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5B4FE0"/>
                </a:solidFill>
              </a:defRPr>
            </a:lvl1pPr>
          </a:lstStyle>
          <a:p>
            <a:pPr/>
            <a:r>
              <a:t>PM</a:t>
            </a:r>
          </a:p>
        </p:txBody>
      </p:sp>
      <p:sp>
        <p:nvSpPr>
          <p:cNvPr id="308" name="Shape 88"/>
          <p:cNvSpPr/>
          <p:nvPr/>
        </p:nvSpPr>
        <p:spPr>
          <a:xfrm>
            <a:off x="8183880" y="5029200"/>
            <a:ext cx="228601" cy="228600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Text 89"/>
          <p:cNvSpPr txBox="1"/>
          <p:nvPr/>
        </p:nvSpPr>
        <p:spPr>
          <a:xfrm>
            <a:off x="8503919" y="507999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155"/>
                </a:solidFill>
              </a:defRPr>
            </a:lvl1pPr>
          </a:lstStyle>
          <a:p>
            <a:pPr/>
            <a:r>
              <a:t>3/5명</a:t>
            </a:r>
          </a:p>
        </p:txBody>
      </p:sp>
      <p:sp>
        <p:nvSpPr>
          <p:cNvPr id="310" name="Shape 90"/>
          <p:cNvSpPr/>
          <p:nvPr/>
        </p:nvSpPr>
        <p:spPr>
          <a:xfrm>
            <a:off x="9829800" y="3337559"/>
            <a:ext cx="1645921" cy="22860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Shape 91"/>
          <p:cNvSpPr/>
          <p:nvPr/>
        </p:nvSpPr>
        <p:spPr>
          <a:xfrm>
            <a:off x="9875519" y="3227832"/>
            <a:ext cx="777241" cy="22860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Text 92"/>
          <p:cNvSpPr txBox="1"/>
          <p:nvPr/>
        </p:nvSpPr>
        <p:spPr>
          <a:xfrm>
            <a:off x="9875519" y="3278632"/>
            <a:ext cx="777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● 65% 매칭</a:t>
            </a:r>
          </a:p>
        </p:txBody>
      </p:sp>
      <p:sp>
        <p:nvSpPr>
          <p:cNvPr id="313" name="Text 93"/>
          <p:cNvSpPr txBox="1"/>
          <p:nvPr/>
        </p:nvSpPr>
        <p:spPr>
          <a:xfrm>
            <a:off x="9921240" y="3557524"/>
            <a:ext cx="1463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AI/ML</a:t>
            </a:r>
          </a:p>
        </p:txBody>
      </p:sp>
      <p:sp>
        <p:nvSpPr>
          <p:cNvPr id="314" name="Text 94"/>
          <p:cNvSpPr txBox="1"/>
          <p:nvPr/>
        </p:nvSpPr>
        <p:spPr>
          <a:xfrm>
            <a:off x="9921240" y="3891235"/>
            <a:ext cx="1463041" cy="355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1000">
                <a:solidFill>
                  <a:srgbClr val="0F172A"/>
                </a:solidFill>
              </a:defRPr>
            </a:pPr>
            <a:r>
              <a:t>AI 학습 도우미</a:t>
            </a:r>
          </a:p>
          <a:p>
            <a:pPr>
              <a:lnSpc>
                <a:spcPct val="115000"/>
              </a:lnSpc>
              <a:defRPr b="1" sz="1000">
                <a:solidFill>
                  <a:srgbClr val="0F172A"/>
                </a:solidFill>
              </a:defRPr>
            </a:pPr>
            <a:r>
              <a:t>챗봇 (졸업작품)</a:t>
            </a:r>
          </a:p>
        </p:txBody>
      </p:sp>
      <p:sp>
        <p:nvSpPr>
          <p:cNvPr id="315" name="Shape 95"/>
          <p:cNvSpPr/>
          <p:nvPr/>
        </p:nvSpPr>
        <p:spPr>
          <a:xfrm>
            <a:off x="9921240" y="4480559"/>
            <a:ext cx="457201" cy="18288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Text 96"/>
          <p:cNvSpPr txBox="1"/>
          <p:nvPr/>
        </p:nvSpPr>
        <p:spPr>
          <a:xfrm>
            <a:off x="9921240" y="4508499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5B4FE0"/>
                </a:solidFill>
              </a:defRPr>
            </a:lvl1pPr>
          </a:lstStyle>
          <a:p>
            <a:pPr/>
            <a:r>
              <a:t>프론트</a:t>
            </a:r>
          </a:p>
        </p:txBody>
      </p:sp>
      <p:sp>
        <p:nvSpPr>
          <p:cNvPr id="317" name="Shape 97"/>
          <p:cNvSpPr/>
          <p:nvPr/>
        </p:nvSpPr>
        <p:spPr>
          <a:xfrm>
            <a:off x="10424159" y="4480559"/>
            <a:ext cx="457201" cy="18288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Text 98"/>
          <p:cNvSpPr txBox="1"/>
          <p:nvPr/>
        </p:nvSpPr>
        <p:spPr>
          <a:xfrm>
            <a:off x="10424159" y="4508499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5B4FE0"/>
                </a:solidFill>
              </a:defRPr>
            </a:lvl1pPr>
          </a:lstStyle>
          <a:p>
            <a:pPr/>
            <a:r>
              <a:t>디자인</a:t>
            </a:r>
          </a:p>
        </p:txBody>
      </p:sp>
      <p:sp>
        <p:nvSpPr>
          <p:cNvPr id="319" name="Shape 99"/>
          <p:cNvSpPr/>
          <p:nvPr/>
        </p:nvSpPr>
        <p:spPr>
          <a:xfrm>
            <a:off x="10927080" y="4480559"/>
            <a:ext cx="457201" cy="18288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100"/>
          <p:cNvSpPr txBox="1"/>
          <p:nvPr/>
        </p:nvSpPr>
        <p:spPr>
          <a:xfrm>
            <a:off x="10927080" y="4508499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5B4FE0"/>
                </a:solidFill>
              </a:defRPr>
            </a:lvl1pPr>
          </a:lstStyle>
          <a:p>
            <a:pPr/>
            <a:r>
              <a:t>PM</a:t>
            </a:r>
          </a:p>
        </p:txBody>
      </p:sp>
      <p:sp>
        <p:nvSpPr>
          <p:cNvPr id="321" name="Shape 101"/>
          <p:cNvSpPr/>
          <p:nvPr/>
        </p:nvSpPr>
        <p:spPr>
          <a:xfrm>
            <a:off x="9921240" y="5029200"/>
            <a:ext cx="228601" cy="228600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102"/>
          <p:cNvSpPr txBox="1"/>
          <p:nvPr/>
        </p:nvSpPr>
        <p:spPr>
          <a:xfrm>
            <a:off x="10241280" y="5079999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334155"/>
                </a:solidFill>
              </a:defRPr>
            </a:lvl1pPr>
          </a:lstStyle>
          <a:p>
            <a:pPr/>
            <a:r>
              <a:t>3/5명</a:t>
            </a:r>
          </a:p>
        </p:txBody>
      </p:sp>
      <p:sp>
        <p:nvSpPr>
          <p:cNvPr id="323" name="Text 103"/>
          <p:cNvSpPr txBox="1"/>
          <p:nvPr/>
        </p:nvSpPr>
        <p:spPr>
          <a:xfrm>
            <a:off x="594360" y="6370319"/>
            <a:ext cx="534924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000">
                <a:solidFill>
                  <a:srgbClr val="64748B"/>
                </a:solidFill>
              </a:defRPr>
            </a:lvl1pPr>
          </a:lstStyle>
          <a:p>
            <a:pPr/>
            <a:r>
              <a:t>랜딩 — 매칭 점수 미리보기 (5개 가중치)</a:t>
            </a:r>
          </a:p>
        </p:txBody>
      </p:sp>
      <p:sp>
        <p:nvSpPr>
          <p:cNvPr id="324" name="Text 104"/>
          <p:cNvSpPr txBox="1"/>
          <p:nvPr/>
        </p:nvSpPr>
        <p:spPr>
          <a:xfrm>
            <a:off x="6217920" y="6370319"/>
            <a:ext cx="534924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000">
                <a:solidFill>
                  <a:srgbClr val="64748B"/>
                </a:solidFill>
              </a:defRPr>
            </a:lvl1pPr>
          </a:lstStyle>
          <a:p>
            <a:pPr/>
            <a:r>
              <a:t>탐색 — 매칭 추천순 + 카드형 프로젝트 목록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7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328" name="Text 2"/>
          <p:cNvSpPr txBox="1"/>
          <p:nvPr/>
        </p:nvSpPr>
        <p:spPr>
          <a:xfrm>
            <a:off x="1188719" y="47236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02.  SERVICE  ·  UI</a:t>
            </a:r>
          </a:p>
        </p:txBody>
      </p:sp>
      <p:sp>
        <p:nvSpPr>
          <p:cNvPr id="329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7 / 21</a:t>
            </a:r>
          </a:p>
        </p:txBody>
      </p:sp>
      <p:sp>
        <p:nvSpPr>
          <p:cNvPr id="330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화면 미리보기 ② 매칭 비교 · 진행 보드</a:t>
            </a:r>
          </a:p>
        </p:txBody>
      </p:sp>
      <p:sp>
        <p:nvSpPr>
          <p:cNvPr id="331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332" name="Shape 6"/>
          <p:cNvSpPr/>
          <p:nvPr/>
        </p:nvSpPr>
        <p:spPr>
          <a:xfrm>
            <a:off x="548640" y="1691639"/>
            <a:ext cx="5440680" cy="45720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101600" dist="38100" dir="54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" name="Shape 7"/>
          <p:cNvSpPr/>
          <p:nvPr/>
        </p:nvSpPr>
        <p:spPr>
          <a:xfrm>
            <a:off x="548640" y="1691639"/>
            <a:ext cx="5440680" cy="365761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Shape 8"/>
          <p:cNvSpPr/>
          <p:nvPr/>
        </p:nvSpPr>
        <p:spPr>
          <a:xfrm>
            <a:off x="640080" y="1810511"/>
            <a:ext cx="118873" cy="118873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Shape 9"/>
          <p:cNvSpPr/>
          <p:nvPr/>
        </p:nvSpPr>
        <p:spPr>
          <a:xfrm>
            <a:off x="822960" y="1810511"/>
            <a:ext cx="118873" cy="118873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Shape 10"/>
          <p:cNvSpPr/>
          <p:nvPr/>
        </p:nvSpPr>
        <p:spPr>
          <a:xfrm>
            <a:off x="1005839" y="1810511"/>
            <a:ext cx="118873" cy="118873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Shape 11"/>
          <p:cNvSpPr/>
          <p:nvPr/>
        </p:nvSpPr>
        <p:spPr>
          <a:xfrm>
            <a:off x="1280160" y="1764792"/>
            <a:ext cx="4343401" cy="21945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12"/>
          <p:cNvSpPr txBox="1"/>
          <p:nvPr/>
        </p:nvSpPr>
        <p:spPr>
          <a:xfrm>
            <a:off x="1371600" y="1811020"/>
            <a:ext cx="4160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majorlink.kr/projects/.../applicants</a:t>
            </a:r>
          </a:p>
        </p:txBody>
      </p:sp>
      <p:sp>
        <p:nvSpPr>
          <p:cNvPr id="339" name="Text 13"/>
          <p:cNvSpPr txBox="1"/>
          <p:nvPr/>
        </p:nvSpPr>
        <p:spPr>
          <a:xfrm>
            <a:off x="731519" y="2245614"/>
            <a:ext cx="3657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캠퍼스 분실물 찾아주는 앱</a:t>
            </a:r>
          </a:p>
        </p:txBody>
      </p:sp>
      <p:sp>
        <p:nvSpPr>
          <p:cNvPr id="340" name="Text 14"/>
          <p:cNvSpPr txBox="1"/>
          <p:nvPr/>
        </p:nvSpPr>
        <p:spPr>
          <a:xfrm>
            <a:off x="731519" y="2524251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지원자 8명  ·  마감 D-12</a:t>
            </a:r>
          </a:p>
        </p:txBody>
      </p:sp>
      <p:sp>
        <p:nvSpPr>
          <p:cNvPr id="341" name="Shape 15"/>
          <p:cNvSpPr/>
          <p:nvPr/>
        </p:nvSpPr>
        <p:spPr>
          <a:xfrm>
            <a:off x="4434840" y="2240279"/>
            <a:ext cx="1371601" cy="292609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Text 16"/>
          <p:cNvSpPr txBox="1"/>
          <p:nvPr/>
        </p:nvSpPr>
        <p:spPr>
          <a:xfrm>
            <a:off x="4434840" y="2323083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TOP 3 비교하기</a:t>
            </a:r>
          </a:p>
        </p:txBody>
      </p:sp>
      <p:sp>
        <p:nvSpPr>
          <p:cNvPr id="343" name="Shape 17"/>
          <p:cNvSpPr/>
          <p:nvPr/>
        </p:nvSpPr>
        <p:spPr>
          <a:xfrm>
            <a:off x="685799" y="2834639"/>
            <a:ext cx="5166362" cy="71323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Shape 18"/>
          <p:cNvSpPr/>
          <p:nvPr/>
        </p:nvSpPr>
        <p:spPr>
          <a:xfrm>
            <a:off x="777240" y="2907792"/>
            <a:ext cx="566929" cy="566929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B4F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Text 19"/>
          <p:cNvSpPr txBox="1"/>
          <p:nvPr/>
        </p:nvSpPr>
        <p:spPr>
          <a:xfrm>
            <a:off x="777240" y="3096576"/>
            <a:ext cx="56692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5B4FE0"/>
                </a:solidFill>
              </a:defRPr>
            </a:lvl1pPr>
          </a:lstStyle>
          <a:p>
            <a:pPr/>
            <a:r>
              <a:t>85</a:t>
            </a:r>
          </a:p>
        </p:txBody>
      </p:sp>
      <p:sp>
        <p:nvSpPr>
          <p:cNvPr id="346" name="Text 20"/>
          <p:cNvSpPr txBox="1"/>
          <p:nvPr/>
        </p:nvSpPr>
        <p:spPr>
          <a:xfrm>
            <a:off x="1463039" y="2964179"/>
            <a:ext cx="1371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F172A"/>
                </a:solidFill>
              </a:defRPr>
            </a:lvl1pPr>
          </a:lstStyle>
          <a:p>
            <a:pPr/>
            <a:r>
              <a:t>최도윤</a:t>
            </a:r>
          </a:p>
        </p:txBody>
      </p:sp>
      <p:sp>
        <p:nvSpPr>
          <p:cNvPr id="347" name="Shape 21"/>
          <p:cNvSpPr/>
          <p:nvPr/>
        </p:nvSpPr>
        <p:spPr>
          <a:xfrm>
            <a:off x="1463039" y="3154679"/>
            <a:ext cx="1280161" cy="18288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Text 22"/>
          <p:cNvSpPr txBox="1"/>
          <p:nvPr/>
        </p:nvSpPr>
        <p:spPr>
          <a:xfrm>
            <a:off x="1463039" y="3182619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5B4FE0"/>
                </a:solidFill>
              </a:defRPr>
            </a:lvl1pPr>
          </a:lstStyle>
          <a:p>
            <a:pPr/>
            <a:r>
              <a:t>컴퓨터공학 3</a:t>
            </a:r>
          </a:p>
        </p:txBody>
      </p:sp>
      <p:sp>
        <p:nvSpPr>
          <p:cNvPr id="349" name="Text 23"/>
          <p:cNvSpPr txBox="1"/>
          <p:nvPr/>
        </p:nvSpPr>
        <p:spPr>
          <a:xfrm>
            <a:off x="1463039" y="3365499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풀스택 가능, 3개 사이드</a:t>
            </a:r>
          </a:p>
        </p:txBody>
      </p:sp>
      <p:sp>
        <p:nvSpPr>
          <p:cNvPr id="350" name="Shape 24"/>
          <p:cNvSpPr/>
          <p:nvPr/>
        </p:nvSpPr>
        <p:spPr>
          <a:xfrm>
            <a:off x="4663440" y="2953511"/>
            <a:ext cx="640081" cy="228601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25"/>
          <p:cNvSpPr txBox="1"/>
          <p:nvPr/>
        </p:nvSpPr>
        <p:spPr>
          <a:xfrm>
            <a:off x="4663440" y="3004311"/>
            <a:ext cx="6400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✓ 승인</a:t>
            </a:r>
          </a:p>
        </p:txBody>
      </p:sp>
      <p:sp>
        <p:nvSpPr>
          <p:cNvPr id="352" name="Shape 26"/>
          <p:cNvSpPr/>
          <p:nvPr/>
        </p:nvSpPr>
        <p:spPr>
          <a:xfrm>
            <a:off x="5349240" y="2953511"/>
            <a:ext cx="548641" cy="228601"/>
          </a:xfrm>
          <a:prstGeom prst="rect">
            <a:avLst/>
          </a:prstGeom>
          <a:solidFill>
            <a:srgbClr val="FEE2E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Text 27"/>
          <p:cNvSpPr txBox="1"/>
          <p:nvPr/>
        </p:nvSpPr>
        <p:spPr>
          <a:xfrm>
            <a:off x="5349240" y="3004311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EF4444"/>
                </a:solidFill>
              </a:defRPr>
            </a:lvl1pPr>
          </a:lstStyle>
          <a:p>
            <a:pPr/>
            <a:r>
              <a:t>✕ 거절</a:t>
            </a:r>
          </a:p>
        </p:txBody>
      </p:sp>
      <p:sp>
        <p:nvSpPr>
          <p:cNvPr id="354" name="Shape 28"/>
          <p:cNvSpPr/>
          <p:nvPr/>
        </p:nvSpPr>
        <p:spPr>
          <a:xfrm>
            <a:off x="685799" y="3611879"/>
            <a:ext cx="5166362" cy="71323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Shape 29"/>
          <p:cNvSpPr/>
          <p:nvPr/>
        </p:nvSpPr>
        <p:spPr>
          <a:xfrm>
            <a:off x="777240" y="3685032"/>
            <a:ext cx="566929" cy="566929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4CC1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Text 30"/>
          <p:cNvSpPr txBox="1"/>
          <p:nvPr/>
        </p:nvSpPr>
        <p:spPr>
          <a:xfrm>
            <a:off x="777240" y="3873816"/>
            <a:ext cx="56692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84CC16"/>
                </a:solidFill>
              </a:defRPr>
            </a:lvl1pPr>
          </a:lstStyle>
          <a:p>
            <a:pPr/>
            <a:r>
              <a:t>84</a:t>
            </a:r>
          </a:p>
        </p:txBody>
      </p:sp>
      <p:sp>
        <p:nvSpPr>
          <p:cNvPr id="357" name="Text 31"/>
          <p:cNvSpPr txBox="1"/>
          <p:nvPr/>
        </p:nvSpPr>
        <p:spPr>
          <a:xfrm>
            <a:off x="1463039" y="3741420"/>
            <a:ext cx="1371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F172A"/>
                </a:solidFill>
              </a:defRPr>
            </a:lvl1pPr>
          </a:lstStyle>
          <a:p>
            <a:pPr/>
            <a:r>
              <a:t>이수민</a:t>
            </a:r>
          </a:p>
        </p:txBody>
      </p:sp>
      <p:sp>
        <p:nvSpPr>
          <p:cNvPr id="358" name="Shape 32"/>
          <p:cNvSpPr/>
          <p:nvPr/>
        </p:nvSpPr>
        <p:spPr>
          <a:xfrm>
            <a:off x="1463039" y="3931920"/>
            <a:ext cx="1280161" cy="18288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Text 33"/>
          <p:cNvSpPr txBox="1"/>
          <p:nvPr/>
        </p:nvSpPr>
        <p:spPr>
          <a:xfrm>
            <a:off x="1463039" y="3959860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5B4FE0"/>
                </a:solidFill>
              </a:defRPr>
            </a:lvl1pPr>
          </a:lstStyle>
          <a:p>
            <a:pPr/>
            <a:r>
              <a:t>시각디자인 2</a:t>
            </a:r>
          </a:p>
        </p:txBody>
      </p:sp>
      <p:sp>
        <p:nvSpPr>
          <p:cNvPr id="360" name="Text 34"/>
          <p:cNvSpPr txBox="1"/>
          <p:nvPr/>
        </p:nvSpPr>
        <p:spPr>
          <a:xfrm>
            <a:off x="1463039" y="4142740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브랜드·앱 UI 모두 OK</a:t>
            </a:r>
          </a:p>
        </p:txBody>
      </p:sp>
      <p:sp>
        <p:nvSpPr>
          <p:cNvPr id="361" name="Shape 35"/>
          <p:cNvSpPr/>
          <p:nvPr/>
        </p:nvSpPr>
        <p:spPr>
          <a:xfrm>
            <a:off x="4663440" y="3730752"/>
            <a:ext cx="640081" cy="228601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2" name="Text 36"/>
          <p:cNvSpPr txBox="1"/>
          <p:nvPr/>
        </p:nvSpPr>
        <p:spPr>
          <a:xfrm>
            <a:off x="4663440" y="3781552"/>
            <a:ext cx="6400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✓ 승인</a:t>
            </a:r>
          </a:p>
        </p:txBody>
      </p:sp>
      <p:sp>
        <p:nvSpPr>
          <p:cNvPr id="363" name="Shape 37"/>
          <p:cNvSpPr/>
          <p:nvPr/>
        </p:nvSpPr>
        <p:spPr>
          <a:xfrm>
            <a:off x="5349240" y="3730752"/>
            <a:ext cx="548641" cy="228601"/>
          </a:xfrm>
          <a:prstGeom prst="rect">
            <a:avLst/>
          </a:prstGeom>
          <a:solidFill>
            <a:srgbClr val="FEE2E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Text 38"/>
          <p:cNvSpPr txBox="1"/>
          <p:nvPr/>
        </p:nvSpPr>
        <p:spPr>
          <a:xfrm>
            <a:off x="5349240" y="3781552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EF4444"/>
                </a:solidFill>
              </a:defRPr>
            </a:lvl1pPr>
          </a:lstStyle>
          <a:p>
            <a:pPr/>
            <a:r>
              <a:t>✕ 거절</a:t>
            </a:r>
          </a:p>
        </p:txBody>
      </p:sp>
      <p:sp>
        <p:nvSpPr>
          <p:cNvPr id="365" name="Shape 39"/>
          <p:cNvSpPr/>
          <p:nvPr/>
        </p:nvSpPr>
        <p:spPr>
          <a:xfrm>
            <a:off x="685799" y="4389120"/>
            <a:ext cx="5166362" cy="71323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Shape 40"/>
          <p:cNvSpPr/>
          <p:nvPr/>
        </p:nvSpPr>
        <p:spPr>
          <a:xfrm>
            <a:off x="777240" y="4462271"/>
            <a:ext cx="566929" cy="566929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4CC1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7" name="Text 41"/>
          <p:cNvSpPr txBox="1"/>
          <p:nvPr/>
        </p:nvSpPr>
        <p:spPr>
          <a:xfrm>
            <a:off x="777240" y="4651056"/>
            <a:ext cx="56692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84CC16"/>
                </a:solidFill>
              </a:defRPr>
            </a:lvl1pPr>
          </a:lstStyle>
          <a:p>
            <a:pPr/>
            <a:r>
              <a:t>82</a:t>
            </a:r>
          </a:p>
        </p:txBody>
      </p:sp>
      <p:sp>
        <p:nvSpPr>
          <p:cNvPr id="368" name="Text 42"/>
          <p:cNvSpPr txBox="1"/>
          <p:nvPr/>
        </p:nvSpPr>
        <p:spPr>
          <a:xfrm>
            <a:off x="1463039" y="4518659"/>
            <a:ext cx="1371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F172A"/>
                </a:solidFill>
              </a:defRPr>
            </a:lvl1pPr>
          </a:lstStyle>
          <a:p>
            <a:pPr/>
            <a:r>
              <a:t>박서연</a:t>
            </a:r>
          </a:p>
        </p:txBody>
      </p:sp>
      <p:sp>
        <p:nvSpPr>
          <p:cNvPr id="369" name="Shape 43"/>
          <p:cNvSpPr/>
          <p:nvPr/>
        </p:nvSpPr>
        <p:spPr>
          <a:xfrm>
            <a:off x="1463039" y="4709159"/>
            <a:ext cx="1280161" cy="18288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 44"/>
          <p:cNvSpPr txBox="1"/>
          <p:nvPr/>
        </p:nvSpPr>
        <p:spPr>
          <a:xfrm>
            <a:off x="1463039" y="4737099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5B4FE0"/>
                </a:solidFill>
              </a:defRPr>
            </a:lvl1pPr>
          </a:lstStyle>
          <a:p>
            <a:pPr/>
            <a:r>
              <a:t>경영학 3</a:t>
            </a:r>
          </a:p>
        </p:txBody>
      </p:sp>
      <p:sp>
        <p:nvSpPr>
          <p:cNvPr id="371" name="Text 45"/>
          <p:cNvSpPr txBox="1"/>
          <p:nvPr/>
        </p:nvSpPr>
        <p:spPr>
          <a:xfrm>
            <a:off x="1463039" y="4919980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학생 창업동아리 부회장</a:t>
            </a:r>
          </a:p>
        </p:txBody>
      </p:sp>
      <p:sp>
        <p:nvSpPr>
          <p:cNvPr id="372" name="Shape 46"/>
          <p:cNvSpPr/>
          <p:nvPr/>
        </p:nvSpPr>
        <p:spPr>
          <a:xfrm>
            <a:off x="4663440" y="4507991"/>
            <a:ext cx="640081" cy="228601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3" name="Text 47"/>
          <p:cNvSpPr txBox="1"/>
          <p:nvPr/>
        </p:nvSpPr>
        <p:spPr>
          <a:xfrm>
            <a:off x="4663440" y="4558791"/>
            <a:ext cx="6400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✓ 승인</a:t>
            </a:r>
          </a:p>
        </p:txBody>
      </p:sp>
      <p:sp>
        <p:nvSpPr>
          <p:cNvPr id="374" name="Shape 48"/>
          <p:cNvSpPr/>
          <p:nvPr/>
        </p:nvSpPr>
        <p:spPr>
          <a:xfrm>
            <a:off x="5349240" y="4507991"/>
            <a:ext cx="548641" cy="228601"/>
          </a:xfrm>
          <a:prstGeom prst="rect">
            <a:avLst/>
          </a:prstGeom>
          <a:solidFill>
            <a:srgbClr val="FEE2E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Text 49"/>
          <p:cNvSpPr txBox="1"/>
          <p:nvPr/>
        </p:nvSpPr>
        <p:spPr>
          <a:xfrm>
            <a:off x="5349240" y="4558791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EF4444"/>
                </a:solidFill>
              </a:defRPr>
            </a:lvl1pPr>
          </a:lstStyle>
          <a:p>
            <a:pPr/>
            <a:r>
              <a:t>✕ 거절</a:t>
            </a:r>
          </a:p>
        </p:txBody>
      </p:sp>
      <p:sp>
        <p:nvSpPr>
          <p:cNvPr id="376" name="Shape 50"/>
          <p:cNvSpPr/>
          <p:nvPr/>
        </p:nvSpPr>
        <p:spPr>
          <a:xfrm>
            <a:off x="685799" y="5166359"/>
            <a:ext cx="5166362" cy="71323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7" name="Shape 51"/>
          <p:cNvSpPr/>
          <p:nvPr/>
        </p:nvSpPr>
        <p:spPr>
          <a:xfrm>
            <a:off x="777240" y="5239511"/>
            <a:ext cx="566929" cy="566929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4CC1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52"/>
          <p:cNvSpPr txBox="1"/>
          <p:nvPr/>
        </p:nvSpPr>
        <p:spPr>
          <a:xfrm>
            <a:off x="777240" y="5428296"/>
            <a:ext cx="56692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84CC16"/>
                </a:solidFill>
              </a:defRPr>
            </a:lvl1pPr>
          </a:lstStyle>
          <a:p>
            <a:pPr/>
            <a:r>
              <a:t>82</a:t>
            </a:r>
          </a:p>
        </p:txBody>
      </p:sp>
      <p:sp>
        <p:nvSpPr>
          <p:cNvPr id="379" name="Text 53"/>
          <p:cNvSpPr txBox="1"/>
          <p:nvPr/>
        </p:nvSpPr>
        <p:spPr>
          <a:xfrm>
            <a:off x="1463039" y="5295899"/>
            <a:ext cx="1371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F172A"/>
                </a:solidFill>
              </a:defRPr>
            </a:lvl1pPr>
          </a:lstStyle>
          <a:p>
            <a:pPr/>
            <a:r>
              <a:t>정현우</a:t>
            </a:r>
          </a:p>
        </p:txBody>
      </p:sp>
      <p:sp>
        <p:nvSpPr>
          <p:cNvPr id="380" name="Shape 54"/>
          <p:cNvSpPr/>
          <p:nvPr/>
        </p:nvSpPr>
        <p:spPr>
          <a:xfrm>
            <a:off x="1463039" y="5486400"/>
            <a:ext cx="1280161" cy="18288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1" name="Text 55"/>
          <p:cNvSpPr txBox="1"/>
          <p:nvPr/>
        </p:nvSpPr>
        <p:spPr>
          <a:xfrm>
            <a:off x="1463039" y="5514340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5B4FE0"/>
                </a:solidFill>
              </a:defRPr>
            </a:lvl1pPr>
          </a:lstStyle>
          <a:p>
            <a:pPr/>
            <a:r>
              <a:t>통계학 4</a:t>
            </a:r>
          </a:p>
        </p:txBody>
      </p:sp>
      <p:sp>
        <p:nvSpPr>
          <p:cNvPr id="382" name="Text 56"/>
          <p:cNvSpPr txBox="1"/>
          <p:nvPr/>
        </p:nvSpPr>
        <p:spPr>
          <a:xfrm>
            <a:off x="1463039" y="5697220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학회 데이터 동아리 회장</a:t>
            </a:r>
          </a:p>
        </p:txBody>
      </p:sp>
      <p:sp>
        <p:nvSpPr>
          <p:cNvPr id="383" name="Shape 57"/>
          <p:cNvSpPr/>
          <p:nvPr/>
        </p:nvSpPr>
        <p:spPr>
          <a:xfrm>
            <a:off x="4663440" y="5285232"/>
            <a:ext cx="640081" cy="228601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58"/>
          <p:cNvSpPr txBox="1"/>
          <p:nvPr/>
        </p:nvSpPr>
        <p:spPr>
          <a:xfrm>
            <a:off x="4663440" y="5336032"/>
            <a:ext cx="6400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✓ 승인</a:t>
            </a:r>
          </a:p>
        </p:txBody>
      </p:sp>
      <p:sp>
        <p:nvSpPr>
          <p:cNvPr id="385" name="Shape 59"/>
          <p:cNvSpPr/>
          <p:nvPr/>
        </p:nvSpPr>
        <p:spPr>
          <a:xfrm>
            <a:off x="5349240" y="5285232"/>
            <a:ext cx="548641" cy="228601"/>
          </a:xfrm>
          <a:prstGeom prst="rect">
            <a:avLst/>
          </a:prstGeom>
          <a:solidFill>
            <a:srgbClr val="FEE2E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Text 60"/>
          <p:cNvSpPr txBox="1"/>
          <p:nvPr/>
        </p:nvSpPr>
        <p:spPr>
          <a:xfrm>
            <a:off x="5349240" y="5336032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EF4444"/>
                </a:solidFill>
              </a:defRPr>
            </a:lvl1pPr>
          </a:lstStyle>
          <a:p>
            <a:pPr/>
            <a:r>
              <a:t>✕ 거절</a:t>
            </a:r>
          </a:p>
        </p:txBody>
      </p:sp>
      <p:sp>
        <p:nvSpPr>
          <p:cNvPr id="387" name="Shape 61"/>
          <p:cNvSpPr/>
          <p:nvPr/>
        </p:nvSpPr>
        <p:spPr>
          <a:xfrm>
            <a:off x="6172200" y="1691639"/>
            <a:ext cx="5440680" cy="45720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101600" dist="38100" dir="54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" name="Shape 62"/>
          <p:cNvSpPr/>
          <p:nvPr/>
        </p:nvSpPr>
        <p:spPr>
          <a:xfrm>
            <a:off x="6172200" y="1691639"/>
            <a:ext cx="5440680" cy="365761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Shape 63"/>
          <p:cNvSpPr/>
          <p:nvPr/>
        </p:nvSpPr>
        <p:spPr>
          <a:xfrm>
            <a:off x="6263640" y="1810511"/>
            <a:ext cx="118873" cy="118873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Shape 64"/>
          <p:cNvSpPr/>
          <p:nvPr/>
        </p:nvSpPr>
        <p:spPr>
          <a:xfrm>
            <a:off x="6446520" y="1810511"/>
            <a:ext cx="118873" cy="118873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1" name="Shape 65"/>
          <p:cNvSpPr/>
          <p:nvPr/>
        </p:nvSpPr>
        <p:spPr>
          <a:xfrm>
            <a:off x="6629400" y="1810511"/>
            <a:ext cx="118873" cy="118873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2" name="Shape 66"/>
          <p:cNvSpPr/>
          <p:nvPr/>
        </p:nvSpPr>
        <p:spPr>
          <a:xfrm>
            <a:off x="6903719" y="1764792"/>
            <a:ext cx="4343401" cy="21945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3" name="Text 67"/>
          <p:cNvSpPr txBox="1"/>
          <p:nvPr/>
        </p:nvSpPr>
        <p:spPr>
          <a:xfrm>
            <a:off x="6995159" y="1811020"/>
            <a:ext cx="4160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majorlink.kr/workspace/lost-and-found</a:t>
            </a:r>
          </a:p>
        </p:txBody>
      </p:sp>
      <p:sp>
        <p:nvSpPr>
          <p:cNvPr id="394" name="Text 68"/>
          <p:cNvSpPr txBox="1"/>
          <p:nvPr/>
        </p:nvSpPr>
        <p:spPr>
          <a:xfrm>
            <a:off x="6355079" y="2245614"/>
            <a:ext cx="36576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캠퍼스 분실물 찾아주는 앱</a:t>
            </a:r>
          </a:p>
        </p:txBody>
      </p:sp>
      <p:sp>
        <p:nvSpPr>
          <p:cNvPr id="395" name="Shape 69"/>
          <p:cNvSpPr/>
          <p:nvPr/>
        </p:nvSpPr>
        <p:spPr>
          <a:xfrm>
            <a:off x="6355079" y="2560320"/>
            <a:ext cx="914401" cy="182881"/>
          </a:xfrm>
          <a:prstGeom prst="rect">
            <a:avLst/>
          </a:prstGeom>
          <a:solidFill>
            <a:srgbClr val="ECFCC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Text 70"/>
          <p:cNvSpPr txBox="1"/>
          <p:nvPr/>
        </p:nvSpPr>
        <p:spPr>
          <a:xfrm>
            <a:off x="6355079" y="2588260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84CC16"/>
                </a:solidFill>
              </a:defRPr>
            </a:lvl1pPr>
          </a:lstStyle>
          <a:p>
            <a:pPr/>
            <a:r>
              <a:t>진행 중</a:t>
            </a:r>
          </a:p>
        </p:txBody>
      </p:sp>
      <p:sp>
        <p:nvSpPr>
          <p:cNvPr id="397" name="Text 71"/>
          <p:cNvSpPr txBox="1"/>
          <p:nvPr/>
        </p:nvSpPr>
        <p:spPr>
          <a:xfrm>
            <a:off x="6355079" y="2911094"/>
            <a:ext cx="18288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155"/>
                </a:solidFill>
              </a:defRPr>
            </a:lvl1pPr>
          </a:lstStyle>
          <a:p>
            <a:pPr/>
            <a:r>
              <a:t>전체 진행률</a:t>
            </a:r>
          </a:p>
        </p:txBody>
      </p:sp>
      <p:sp>
        <p:nvSpPr>
          <p:cNvPr id="398" name="Text 72"/>
          <p:cNvSpPr txBox="1"/>
          <p:nvPr/>
        </p:nvSpPr>
        <p:spPr>
          <a:xfrm>
            <a:off x="10698480" y="2913810"/>
            <a:ext cx="7315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0F172A"/>
                </a:solidFill>
              </a:defRPr>
            </a:lvl1pPr>
          </a:lstStyle>
          <a:p>
            <a:pPr/>
            <a:r>
              <a:t>47%</a:t>
            </a:r>
          </a:p>
        </p:txBody>
      </p:sp>
      <p:sp>
        <p:nvSpPr>
          <p:cNvPr id="399" name="Shape 73"/>
          <p:cNvSpPr/>
          <p:nvPr/>
        </p:nvSpPr>
        <p:spPr>
          <a:xfrm>
            <a:off x="6355079" y="3108960"/>
            <a:ext cx="5074921" cy="109729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Shape 74"/>
          <p:cNvSpPr/>
          <p:nvPr/>
        </p:nvSpPr>
        <p:spPr>
          <a:xfrm>
            <a:off x="6355079" y="3108960"/>
            <a:ext cx="2385213" cy="109729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1" name="Text 75"/>
          <p:cNvSpPr txBox="1"/>
          <p:nvPr/>
        </p:nvSpPr>
        <p:spPr>
          <a:xfrm>
            <a:off x="6355079" y="3434079"/>
            <a:ext cx="1600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800">
                <a:solidFill>
                  <a:srgbClr val="64748B"/>
                </a:solidFill>
              </a:defRPr>
            </a:pPr>
            <a:r>
              <a:t>● </a:t>
            </a:r>
            <a:r>
              <a:rPr>
                <a:solidFill>
                  <a:srgbClr val="0F172A"/>
                </a:solidFill>
              </a:rPr>
              <a:t>To Do</a:t>
            </a:r>
            <a:r>
              <a:rPr b="0"/>
              <a:t>  5</a:t>
            </a:r>
          </a:p>
        </p:txBody>
      </p:sp>
      <p:sp>
        <p:nvSpPr>
          <p:cNvPr id="402" name="Shape 76"/>
          <p:cNvSpPr/>
          <p:nvPr/>
        </p:nvSpPr>
        <p:spPr>
          <a:xfrm>
            <a:off x="6355079" y="3657600"/>
            <a:ext cx="155448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3" name="Text 77"/>
          <p:cNvSpPr txBox="1"/>
          <p:nvPr/>
        </p:nvSpPr>
        <p:spPr>
          <a:xfrm>
            <a:off x="6428232" y="377697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F172A"/>
                </a:solidFill>
              </a:defRPr>
            </a:lvl1pPr>
          </a:lstStyle>
          <a:p>
            <a:pPr/>
            <a:r>
              <a:t>매칭 알고리즘 가중치 검증</a:t>
            </a:r>
          </a:p>
        </p:txBody>
      </p:sp>
      <p:sp>
        <p:nvSpPr>
          <p:cNvPr id="404" name="Shape 78"/>
          <p:cNvSpPr/>
          <p:nvPr/>
        </p:nvSpPr>
        <p:spPr>
          <a:xfrm>
            <a:off x="6428232" y="3950208"/>
            <a:ext cx="137161" cy="137161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5" name="Text 79"/>
          <p:cNvSpPr txBox="1"/>
          <p:nvPr/>
        </p:nvSpPr>
        <p:spPr>
          <a:xfrm>
            <a:off x="7543800" y="3950716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EF4444"/>
                </a:solidFill>
              </a:defRPr>
            </a:lvl1pPr>
          </a:lstStyle>
          <a:p>
            <a:pPr/>
            <a:r>
              <a:t>D-2</a:t>
            </a:r>
          </a:p>
        </p:txBody>
      </p:sp>
      <p:sp>
        <p:nvSpPr>
          <p:cNvPr id="406" name="Shape 80"/>
          <p:cNvSpPr/>
          <p:nvPr/>
        </p:nvSpPr>
        <p:spPr>
          <a:xfrm>
            <a:off x="6355079" y="4251959"/>
            <a:ext cx="155448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7" name="Text 81"/>
          <p:cNvSpPr txBox="1"/>
          <p:nvPr/>
        </p:nvSpPr>
        <p:spPr>
          <a:xfrm>
            <a:off x="6428232" y="437133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F172A"/>
                </a:solidFill>
              </a:defRPr>
            </a:lvl1pPr>
          </a:lstStyle>
          <a:p>
            <a:pPr/>
            <a:r>
              <a:t>랜딩 페이지 와이어프레임</a:t>
            </a:r>
          </a:p>
        </p:txBody>
      </p:sp>
      <p:sp>
        <p:nvSpPr>
          <p:cNvPr id="408" name="Shape 82"/>
          <p:cNvSpPr/>
          <p:nvPr/>
        </p:nvSpPr>
        <p:spPr>
          <a:xfrm>
            <a:off x="6428232" y="4544567"/>
            <a:ext cx="137161" cy="137161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9" name="Text 83"/>
          <p:cNvSpPr txBox="1"/>
          <p:nvPr/>
        </p:nvSpPr>
        <p:spPr>
          <a:xfrm>
            <a:off x="7543800" y="4545076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EF4444"/>
                </a:solidFill>
              </a:defRPr>
            </a:lvl1pPr>
          </a:lstStyle>
          <a:p>
            <a:pPr/>
            <a:r>
              <a:t>D-3</a:t>
            </a:r>
          </a:p>
        </p:txBody>
      </p:sp>
      <p:sp>
        <p:nvSpPr>
          <p:cNvPr id="410" name="Shape 84"/>
          <p:cNvSpPr/>
          <p:nvPr/>
        </p:nvSpPr>
        <p:spPr>
          <a:xfrm>
            <a:off x="6355079" y="4846320"/>
            <a:ext cx="155448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1" name="Text 85"/>
          <p:cNvSpPr txBox="1"/>
          <p:nvPr/>
        </p:nvSpPr>
        <p:spPr>
          <a:xfrm>
            <a:off x="6428232" y="496569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F172A"/>
                </a:solidFill>
              </a:defRPr>
            </a:lvl1pPr>
          </a:lstStyle>
          <a:p>
            <a:pPr/>
            <a:r>
              <a:t>인터뷰 스크립트 작성</a:t>
            </a:r>
          </a:p>
        </p:txBody>
      </p:sp>
      <p:sp>
        <p:nvSpPr>
          <p:cNvPr id="412" name="Shape 86"/>
          <p:cNvSpPr/>
          <p:nvPr/>
        </p:nvSpPr>
        <p:spPr>
          <a:xfrm>
            <a:off x="6428232" y="5138928"/>
            <a:ext cx="137161" cy="137161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Text 87"/>
          <p:cNvSpPr txBox="1"/>
          <p:nvPr/>
        </p:nvSpPr>
        <p:spPr>
          <a:xfrm>
            <a:off x="7543800" y="5139436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EF4444"/>
                </a:solidFill>
              </a:defRPr>
            </a:lvl1pPr>
          </a:lstStyle>
          <a:p>
            <a:pPr/>
            <a:r>
              <a:t>D-4</a:t>
            </a:r>
          </a:p>
        </p:txBody>
      </p:sp>
      <p:sp>
        <p:nvSpPr>
          <p:cNvPr id="414" name="Text 88"/>
          <p:cNvSpPr txBox="1"/>
          <p:nvPr/>
        </p:nvSpPr>
        <p:spPr>
          <a:xfrm>
            <a:off x="8046719" y="3434079"/>
            <a:ext cx="1600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800">
                <a:solidFill>
                  <a:srgbClr val="5B4FE0"/>
                </a:solidFill>
              </a:defRPr>
            </a:pPr>
            <a:r>
              <a:t>● </a:t>
            </a:r>
            <a:r>
              <a:rPr>
                <a:solidFill>
                  <a:srgbClr val="0F172A"/>
                </a:solidFill>
              </a:rPr>
              <a:t>In Progress</a:t>
            </a:r>
            <a:r>
              <a:rPr b="0">
                <a:solidFill>
                  <a:srgbClr val="64748B"/>
                </a:solidFill>
              </a:rPr>
              <a:t>  3</a:t>
            </a:r>
          </a:p>
        </p:txBody>
      </p:sp>
      <p:sp>
        <p:nvSpPr>
          <p:cNvPr id="415" name="Shape 89"/>
          <p:cNvSpPr/>
          <p:nvPr/>
        </p:nvSpPr>
        <p:spPr>
          <a:xfrm>
            <a:off x="8046719" y="3657600"/>
            <a:ext cx="155448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Text 90"/>
          <p:cNvSpPr txBox="1"/>
          <p:nvPr/>
        </p:nvSpPr>
        <p:spPr>
          <a:xfrm>
            <a:off x="8119871" y="377697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F172A"/>
                </a:solidFill>
              </a:defRPr>
            </a:lvl1pPr>
          </a:lstStyle>
          <a:p>
            <a:pPr/>
            <a:r>
              <a:t>로고 시안 v2</a:t>
            </a:r>
          </a:p>
        </p:txBody>
      </p:sp>
      <p:sp>
        <p:nvSpPr>
          <p:cNvPr id="417" name="Shape 91"/>
          <p:cNvSpPr/>
          <p:nvPr/>
        </p:nvSpPr>
        <p:spPr>
          <a:xfrm>
            <a:off x="8119871" y="3950208"/>
            <a:ext cx="137161" cy="137161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8" name="Text 92"/>
          <p:cNvSpPr txBox="1"/>
          <p:nvPr/>
        </p:nvSpPr>
        <p:spPr>
          <a:xfrm>
            <a:off x="9235440" y="3950716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EF4444"/>
                </a:solidFill>
              </a:defRPr>
            </a:lvl1pPr>
          </a:lstStyle>
          <a:p>
            <a:pPr/>
            <a:r>
              <a:t>D-2</a:t>
            </a:r>
          </a:p>
        </p:txBody>
      </p:sp>
      <p:sp>
        <p:nvSpPr>
          <p:cNvPr id="419" name="Shape 93"/>
          <p:cNvSpPr/>
          <p:nvPr/>
        </p:nvSpPr>
        <p:spPr>
          <a:xfrm>
            <a:off x="8046719" y="4251959"/>
            <a:ext cx="155448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0" name="Text 94"/>
          <p:cNvSpPr txBox="1"/>
          <p:nvPr/>
        </p:nvSpPr>
        <p:spPr>
          <a:xfrm>
            <a:off x="8119871" y="437133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F172A"/>
                </a:solidFill>
              </a:defRPr>
            </a:lvl1pPr>
          </a:lstStyle>
          <a:p>
            <a:pPr/>
            <a:r>
              <a:t>발표 영상 편집</a:t>
            </a:r>
          </a:p>
        </p:txBody>
      </p:sp>
      <p:sp>
        <p:nvSpPr>
          <p:cNvPr id="421" name="Shape 95"/>
          <p:cNvSpPr/>
          <p:nvPr/>
        </p:nvSpPr>
        <p:spPr>
          <a:xfrm>
            <a:off x="8119871" y="4544567"/>
            <a:ext cx="137161" cy="137161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Text 96"/>
          <p:cNvSpPr txBox="1"/>
          <p:nvPr/>
        </p:nvSpPr>
        <p:spPr>
          <a:xfrm>
            <a:off x="9235440" y="4545076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EF4444"/>
                </a:solidFill>
              </a:defRPr>
            </a:lvl1pPr>
          </a:lstStyle>
          <a:p>
            <a:pPr/>
            <a:r>
              <a:t>D-3</a:t>
            </a:r>
          </a:p>
        </p:txBody>
      </p:sp>
      <p:sp>
        <p:nvSpPr>
          <p:cNvPr id="423" name="Shape 97"/>
          <p:cNvSpPr/>
          <p:nvPr/>
        </p:nvSpPr>
        <p:spPr>
          <a:xfrm>
            <a:off x="8046719" y="4846320"/>
            <a:ext cx="155448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4" name="Text 98"/>
          <p:cNvSpPr txBox="1"/>
          <p:nvPr/>
        </p:nvSpPr>
        <p:spPr>
          <a:xfrm>
            <a:off x="8119871" y="496569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F172A"/>
                </a:solidFill>
              </a:defRPr>
            </a:lvl1pPr>
          </a:lstStyle>
          <a:p>
            <a:pPr/>
            <a:r>
              <a:t>로그인 API 구현</a:t>
            </a:r>
          </a:p>
        </p:txBody>
      </p:sp>
      <p:sp>
        <p:nvSpPr>
          <p:cNvPr id="425" name="Shape 99"/>
          <p:cNvSpPr/>
          <p:nvPr/>
        </p:nvSpPr>
        <p:spPr>
          <a:xfrm>
            <a:off x="8119871" y="5138928"/>
            <a:ext cx="137161" cy="137161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6" name="Text 100"/>
          <p:cNvSpPr txBox="1"/>
          <p:nvPr/>
        </p:nvSpPr>
        <p:spPr>
          <a:xfrm>
            <a:off x="9235440" y="5139436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EF4444"/>
                </a:solidFill>
              </a:defRPr>
            </a:lvl1pPr>
          </a:lstStyle>
          <a:p>
            <a:pPr/>
            <a:r>
              <a:t>D-4</a:t>
            </a:r>
          </a:p>
        </p:txBody>
      </p:sp>
      <p:sp>
        <p:nvSpPr>
          <p:cNvPr id="427" name="Text 101"/>
          <p:cNvSpPr txBox="1"/>
          <p:nvPr/>
        </p:nvSpPr>
        <p:spPr>
          <a:xfrm>
            <a:off x="9738359" y="3434079"/>
            <a:ext cx="1600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800">
                <a:solidFill>
                  <a:srgbClr val="84CC16"/>
                </a:solidFill>
              </a:defRPr>
            </a:pPr>
            <a:r>
              <a:t>● </a:t>
            </a:r>
            <a:r>
              <a:rPr>
                <a:solidFill>
                  <a:srgbClr val="0F172A"/>
                </a:solidFill>
              </a:rPr>
              <a:t>Done</a:t>
            </a:r>
            <a:r>
              <a:rPr b="0">
                <a:solidFill>
                  <a:srgbClr val="64748B"/>
                </a:solidFill>
              </a:rPr>
              <a:t>  4</a:t>
            </a:r>
          </a:p>
        </p:txBody>
      </p:sp>
      <p:sp>
        <p:nvSpPr>
          <p:cNvPr id="428" name="Shape 102"/>
          <p:cNvSpPr/>
          <p:nvPr/>
        </p:nvSpPr>
        <p:spPr>
          <a:xfrm>
            <a:off x="9738359" y="3657600"/>
            <a:ext cx="155448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9" name="Text 103"/>
          <p:cNvSpPr txBox="1"/>
          <p:nvPr/>
        </p:nvSpPr>
        <p:spPr>
          <a:xfrm>
            <a:off x="9811511" y="377697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F172A"/>
                </a:solidFill>
              </a:defRPr>
            </a:lvl1pPr>
          </a:lstStyle>
          <a:p>
            <a:pPr/>
            <a:r>
              <a:t>사용자 인터뷰 5명</a:t>
            </a:r>
          </a:p>
        </p:txBody>
      </p:sp>
      <p:sp>
        <p:nvSpPr>
          <p:cNvPr id="430" name="Shape 104"/>
          <p:cNvSpPr/>
          <p:nvPr/>
        </p:nvSpPr>
        <p:spPr>
          <a:xfrm>
            <a:off x="9811511" y="3950208"/>
            <a:ext cx="137161" cy="137161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1" name="Text 105"/>
          <p:cNvSpPr txBox="1"/>
          <p:nvPr/>
        </p:nvSpPr>
        <p:spPr>
          <a:xfrm>
            <a:off x="10927080" y="3950716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EF4444"/>
                </a:solidFill>
              </a:defRPr>
            </a:lvl1pPr>
          </a:lstStyle>
          <a:p>
            <a:pPr/>
            <a:r>
              <a:t>D-2</a:t>
            </a:r>
          </a:p>
        </p:txBody>
      </p:sp>
      <p:sp>
        <p:nvSpPr>
          <p:cNvPr id="432" name="Shape 106"/>
          <p:cNvSpPr/>
          <p:nvPr/>
        </p:nvSpPr>
        <p:spPr>
          <a:xfrm>
            <a:off x="9738359" y="4251959"/>
            <a:ext cx="155448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3" name="Text 107"/>
          <p:cNvSpPr txBox="1"/>
          <p:nvPr/>
        </p:nvSpPr>
        <p:spPr>
          <a:xfrm>
            <a:off x="9811511" y="437133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F172A"/>
                </a:solidFill>
              </a:defRPr>
            </a:lvl1pPr>
          </a:lstStyle>
          <a:p>
            <a:pPr/>
            <a:r>
              <a:t>경쟁사 분석 리서치</a:t>
            </a:r>
          </a:p>
        </p:txBody>
      </p:sp>
      <p:sp>
        <p:nvSpPr>
          <p:cNvPr id="434" name="Shape 108"/>
          <p:cNvSpPr/>
          <p:nvPr/>
        </p:nvSpPr>
        <p:spPr>
          <a:xfrm>
            <a:off x="9811511" y="4544567"/>
            <a:ext cx="137161" cy="137161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5" name="Text 109"/>
          <p:cNvSpPr txBox="1"/>
          <p:nvPr/>
        </p:nvSpPr>
        <p:spPr>
          <a:xfrm>
            <a:off x="10927080" y="4545076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EF4444"/>
                </a:solidFill>
              </a:defRPr>
            </a:lvl1pPr>
          </a:lstStyle>
          <a:p>
            <a:pPr/>
            <a:r>
              <a:t>D-3</a:t>
            </a:r>
          </a:p>
        </p:txBody>
      </p:sp>
      <p:sp>
        <p:nvSpPr>
          <p:cNvPr id="436" name="Shape 110"/>
          <p:cNvSpPr/>
          <p:nvPr/>
        </p:nvSpPr>
        <p:spPr>
          <a:xfrm>
            <a:off x="9738359" y="4846320"/>
            <a:ext cx="155448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7" name="Text 111"/>
          <p:cNvSpPr txBox="1"/>
          <p:nvPr/>
        </p:nvSpPr>
        <p:spPr>
          <a:xfrm>
            <a:off x="9811511" y="496569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F172A"/>
                </a:solidFill>
              </a:defRPr>
            </a:lvl1pPr>
          </a:lstStyle>
          <a:p>
            <a:pPr/>
            <a:r>
              <a:t>브랜드 컬러 확정</a:t>
            </a:r>
          </a:p>
        </p:txBody>
      </p:sp>
      <p:sp>
        <p:nvSpPr>
          <p:cNvPr id="438" name="Shape 112"/>
          <p:cNvSpPr/>
          <p:nvPr/>
        </p:nvSpPr>
        <p:spPr>
          <a:xfrm>
            <a:off x="9811511" y="5138928"/>
            <a:ext cx="137161" cy="137161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9" name="Text 113"/>
          <p:cNvSpPr txBox="1"/>
          <p:nvPr/>
        </p:nvSpPr>
        <p:spPr>
          <a:xfrm>
            <a:off x="10927080" y="5139436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00">
                <a:solidFill>
                  <a:srgbClr val="EF4444"/>
                </a:solidFill>
              </a:defRPr>
            </a:lvl1pPr>
          </a:lstStyle>
          <a:p>
            <a:pPr/>
            <a:r>
              <a:t>D-4</a:t>
            </a:r>
          </a:p>
        </p:txBody>
      </p:sp>
      <p:sp>
        <p:nvSpPr>
          <p:cNvPr id="440" name="Text 114"/>
          <p:cNvSpPr txBox="1"/>
          <p:nvPr/>
        </p:nvSpPr>
        <p:spPr>
          <a:xfrm>
            <a:off x="594360" y="6370319"/>
            <a:ext cx="534924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000">
                <a:solidFill>
                  <a:srgbClr val="64748B"/>
                </a:solidFill>
              </a:defRPr>
            </a:lvl1pPr>
          </a:lstStyle>
          <a:p>
            <a:pPr/>
            <a:r>
              <a:t>매칭 비교 — 점수순 정렬 + 즉시 승인/거절</a:t>
            </a:r>
          </a:p>
        </p:txBody>
      </p:sp>
      <p:sp>
        <p:nvSpPr>
          <p:cNvPr id="441" name="Text 115"/>
          <p:cNvSpPr txBox="1"/>
          <p:nvPr/>
        </p:nvSpPr>
        <p:spPr>
          <a:xfrm>
            <a:off x="6217920" y="6370319"/>
            <a:ext cx="534924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000">
                <a:solidFill>
                  <a:srgbClr val="64748B"/>
                </a:solidFill>
              </a:defRPr>
            </a:lvl1pPr>
          </a:lstStyle>
          <a:p>
            <a:pPr/>
            <a:r>
              <a:t>진행 보드 — 칸반 + 진행률 + 디스코드 연동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4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445" name="Text 2"/>
          <p:cNvSpPr txBox="1"/>
          <p:nvPr/>
        </p:nvSpPr>
        <p:spPr>
          <a:xfrm>
            <a:off x="1188719" y="47236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02.  SERVICE  ·  UI</a:t>
            </a:r>
          </a:p>
        </p:txBody>
      </p:sp>
      <p:sp>
        <p:nvSpPr>
          <p:cNvPr id="446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8 / 21</a:t>
            </a:r>
          </a:p>
        </p:txBody>
      </p:sp>
      <p:sp>
        <p:nvSpPr>
          <p:cNvPr id="447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화면 미리보기 ③ 포트폴리오 · 마이페이지</a:t>
            </a:r>
          </a:p>
        </p:txBody>
      </p:sp>
      <p:sp>
        <p:nvSpPr>
          <p:cNvPr id="448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449" name="Shape 6"/>
          <p:cNvSpPr/>
          <p:nvPr/>
        </p:nvSpPr>
        <p:spPr>
          <a:xfrm>
            <a:off x="548640" y="1691639"/>
            <a:ext cx="5440680" cy="45720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101600" dist="38100" dir="54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" name="Shape 7"/>
          <p:cNvSpPr/>
          <p:nvPr/>
        </p:nvSpPr>
        <p:spPr>
          <a:xfrm>
            <a:off x="548640" y="1691639"/>
            <a:ext cx="5440680" cy="365761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1" name="Shape 8"/>
          <p:cNvSpPr/>
          <p:nvPr/>
        </p:nvSpPr>
        <p:spPr>
          <a:xfrm>
            <a:off x="640080" y="1810511"/>
            <a:ext cx="118873" cy="118873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2" name="Shape 9"/>
          <p:cNvSpPr/>
          <p:nvPr/>
        </p:nvSpPr>
        <p:spPr>
          <a:xfrm>
            <a:off x="822960" y="1810511"/>
            <a:ext cx="118873" cy="118873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3" name="Shape 10"/>
          <p:cNvSpPr/>
          <p:nvPr/>
        </p:nvSpPr>
        <p:spPr>
          <a:xfrm>
            <a:off x="1005839" y="1810511"/>
            <a:ext cx="118873" cy="118873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4" name="Shape 11"/>
          <p:cNvSpPr/>
          <p:nvPr/>
        </p:nvSpPr>
        <p:spPr>
          <a:xfrm>
            <a:off x="1280160" y="1764792"/>
            <a:ext cx="4343401" cy="21945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5" name="Text 12"/>
          <p:cNvSpPr txBox="1"/>
          <p:nvPr/>
        </p:nvSpPr>
        <p:spPr>
          <a:xfrm>
            <a:off x="1371600" y="1811020"/>
            <a:ext cx="4160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majorlink.kr/me/portfolio/892</a:t>
            </a:r>
          </a:p>
        </p:txBody>
      </p:sp>
      <p:sp>
        <p:nvSpPr>
          <p:cNvPr id="456" name="Shape 13"/>
          <p:cNvSpPr/>
          <p:nvPr/>
        </p:nvSpPr>
        <p:spPr>
          <a:xfrm>
            <a:off x="1920239" y="2240279"/>
            <a:ext cx="2697482" cy="274321"/>
          </a:xfrm>
          <a:prstGeom prst="rect">
            <a:avLst/>
          </a:prstGeom>
          <a:solidFill>
            <a:srgbClr val="ECFCC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7" name="Text 14"/>
          <p:cNvSpPr txBox="1"/>
          <p:nvPr/>
        </p:nvSpPr>
        <p:spPr>
          <a:xfrm>
            <a:off x="1920239" y="2313939"/>
            <a:ext cx="2697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84CC16"/>
                </a:solidFill>
              </a:defRPr>
            </a:lvl1pPr>
          </a:lstStyle>
          <a:p>
            <a:pPr/>
            <a:r>
              <a:t>● PROJECT COMPLETE</a:t>
            </a:r>
          </a:p>
        </p:txBody>
      </p:sp>
      <p:sp>
        <p:nvSpPr>
          <p:cNvPr id="458" name="Text 15"/>
          <p:cNvSpPr txBox="1"/>
          <p:nvPr/>
        </p:nvSpPr>
        <p:spPr>
          <a:xfrm>
            <a:off x="731519" y="2664713"/>
            <a:ext cx="507492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0F172A"/>
                </a:solidFill>
              </a:defRPr>
            </a:lvl1pPr>
          </a:lstStyle>
          <a:p>
            <a:pPr/>
            <a:r>
              <a:t>프로젝트 완료를 축하해요!</a:t>
            </a:r>
          </a:p>
        </p:txBody>
      </p:sp>
      <p:sp>
        <p:nvSpPr>
          <p:cNvPr id="459" name="Text 16"/>
          <p:cNvSpPr txBox="1"/>
          <p:nvPr/>
        </p:nvSpPr>
        <p:spPr>
          <a:xfrm>
            <a:off x="731519" y="3061970"/>
            <a:ext cx="50749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10주의 협업이 한 장의 포트폴리오로 자동 정리됐어요</a:t>
            </a:r>
          </a:p>
        </p:txBody>
      </p:sp>
      <p:sp>
        <p:nvSpPr>
          <p:cNvPr id="460" name="Shape 17"/>
          <p:cNvSpPr/>
          <p:nvPr/>
        </p:nvSpPr>
        <p:spPr>
          <a:xfrm>
            <a:off x="822959" y="3383279"/>
            <a:ext cx="4892042" cy="256032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1" name="Text 18"/>
          <p:cNvSpPr txBox="1"/>
          <p:nvPr/>
        </p:nvSpPr>
        <p:spPr>
          <a:xfrm>
            <a:off x="960119" y="3520484"/>
            <a:ext cx="1371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B4FE0"/>
                </a:solidFill>
              </a:defRPr>
            </a:lvl1pPr>
          </a:lstStyle>
          <a:p>
            <a:pPr/>
            <a:r>
              <a:t>MajorLink</a:t>
            </a:r>
          </a:p>
        </p:txBody>
      </p:sp>
      <p:sp>
        <p:nvSpPr>
          <p:cNvPr id="462" name="Text 19"/>
          <p:cNvSpPr txBox="1"/>
          <p:nvPr/>
        </p:nvSpPr>
        <p:spPr>
          <a:xfrm>
            <a:off x="3749040" y="3469640"/>
            <a:ext cx="1920240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PORTFOLIO  ·  2026.07.14 생성</a:t>
            </a:r>
          </a:p>
        </p:txBody>
      </p:sp>
      <p:sp>
        <p:nvSpPr>
          <p:cNvPr id="463" name="Shape 20"/>
          <p:cNvSpPr/>
          <p:nvPr/>
        </p:nvSpPr>
        <p:spPr>
          <a:xfrm>
            <a:off x="960119" y="3794759"/>
            <a:ext cx="457201" cy="457201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4" name="Text 21"/>
          <p:cNvSpPr txBox="1"/>
          <p:nvPr/>
        </p:nvSpPr>
        <p:spPr>
          <a:xfrm>
            <a:off x="960119" y="3928109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5B4FE0"/>
                </a:solidFill>
              </a:defRPr>
            </a:lvl1pPr>
          </a:lstStyle>
          <a:p>
            <a:pPr/>
            <a:r>
              <a:t>최</a:t>
            </a:r>
          </a:p>
        </p:txBody>
      </p:sp>
      <p:sp>
        <p:nvSpPr>
          <p:cNvPr id="465" name="Text 22"/>
          <p:cNvSpPr txBox="1"/>
          <p:nvPr/>
        </p:nvSpPr>
        <p:spPr>
          <a:xfrm>
            <a:off x="1508760" y="3837432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F172A"/>
                </a:solidFill>
              </a:defRPr>
            </a:lvl1pPr>
          </a:lstStyle>
          <a:p>
            <a:pPr/>
            <a:r>
              <a:t>최도윤</a:t>
            </a:r>
          </a:p>
        </p:txBody>
      </p:sp>
      <p:sp>
        <p:nvSpPr>
          <p:cNvPr id="466" name="Text 23"/>
          <p:cNvSpPr txBox="1"/>
          <p:nvPr/>
        </p:nvSpPr>
        <p:spPr>
          <a:xfrm>
            <a:off x="1508760" y="4051299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한양대 · 컴퓨터공학 3학년</a:t>
            </a:r>
          </a:p>
        </p:txBody>
      </p:sp>
      <p:sp>
        <p:nvSpPr>
          <p:cNvPr id="467" name="Shape 24"/>
          <p:cNvSpPr/>
          <p:nvPr/>
        </p:nvSpPr>
        <p:spPr>
          <a:xfrm>
            <a:off x="960119" y="4389120"/>
            <a:ext cx="4617722" cy="502920"/>
          </a:xfrm>
          <a:prstGeom prst="rect">
            <a:avLst/>
          </a:prstGeom>
          <a:solidFill>
            <a:srgbClr val="ECFCC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8" name="Text 25"/>
          <p:cNvSpPr txBox="1"/>
          <p:nvPr/>
        </p:nvSpPr>
        <p:spPr>
          <a:xfrm>
            <a:off x="1051559" y="4558029"/>
            <a:ext cx="44348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F172A"/>
                </a:solidFill>
              </a:defRPr>
            </a:lvl1pPr>
          </a:lstStyle>
          <a:p>
            <a:pPr/>
            <a:r>
              <a:t>캠퍼스 분실물 찾아주는 앱</a:t>
            </a:r>
          </a:p>
        </p:txBody>
      </p:sp>
      <p:sp>
        <p:nvSpPr>
          <p:cNvPr id="469" name="Shape 26"/>
          <p:cNvSpPr/>
          <p:nvPr/>
        </p:nvSpPr>
        <p:spPr>
          <a:xfrm>
            <a:off x="960119" y="5029200"/>
            <a:ext cx="1097281" cy="82296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0" name="Text 27"/>
          <p:cNvSpPr txBox="1"/>
          <p:nvPr/>
        </p:nvSpPr>
        <p:spPr>
          <a:xfrm>
            <a:off x="1051560" y="5102860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64748B"/>
                </a:solidFill>
              </a:defRPr>
            </a:lvl1pPr>
          </a:lstStyle>
          <a:p>
            <a:pPr/>
            <a:r>
              <a:t>내 역할</a:t>
            </a:r>
          </a:p>
        </p:txBody>
      </p:sp>
      <p:sp>
        <p:nvSpPr>
          <p:cNvPr id="471" name="Text 28"/>
          <p:cNvSpPr txBox="1"/>
          <p:nvPr/>
        </p:nvSpPr>
        <p:spPr>
          <a:xfrm>
            <a:off x="1051560" y="5468620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b="1" sz="800">
                <a:solidFill>
                  <a:srgbClr val="0F172A"/>
                </a:solidFill>
              </a:defRPr>
            </a:lvl1pPr>
          </a:lstStyle>
          <a:p>
            <a:pPr/>
            <a:r>
              <a:t>프론트엔드 개발자</a:t>
            </a:r>
          </a:p>
        </p:txBody>
      </p:sp>
      <p:sp>
        <p:nvSpPr>
          <p:cNvPr id="472" name="Shape 29"/>
          <p:cNvSpPr/>
          <p:nvPr/>
        </p:nvSpPr>
        <p:spPr>
          <a:xfrm>
            <a:off x="2121407" y="5029200"/>
            <a:ext cx="1097281" cy="82296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3" name="Text 30"/>
          <p:cNvSpPr txBox="1"/>
          <p:nvPr/>
        </p:nvSpPr>
        <p:spPr>
          <a:xfrm>
            <a:off x="2212848" y="5102860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64748B"/>
                </a:solidFill>
              </a:defRPr>
            </a:lvl1pPr>
          </a:lstStyle>
          <a:p>
            <a:pPr/>
            <a:r>
              <a:t>기여도</a:t>
            </a:r>
          </a:p>
        </p:txBody>
      </p:sp>
      <p:sp>
        <p:nvSpPr>
          <p:cNvPr id="474" name="Text 31"/>
          <p:cNvSpPr txBox="1"/>
          <p:nvPr/>
        </p:nvSpPr>
        <p:spPr>
          <a:xfrm>
            <a:off x="2212848" y="5468620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b="1" sz="800">
                <a:solidFill>
                  <a:srgbClr val="0F172A"/>
                </a:solidFill>
              </a:defRPr>
            </a:lvl1pPr>
          </a:lstStyle>
          <a:p>
            <a:pPr/>
            <a:r>
              <a:t>28 알고리즘 UI</a:t>
            </a:r>
          </a:p>
        </p:txBody>
      </p:sp>
      <p:sp>
        <p:nvSpPr>
          <p:cNvPr id="475" name="Shape 32"/>
          <p:cNvSpPr/>
          <p:nvPr/>
        </p:nvSpPr>
        <p:spPr>
          <a:xfrm>
            <a:off x="3282696" y="5029200"/>
            <a:ext cx="1097281" cy="82296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6" name="Text 33"/>
          <p:cNvSpPr txBox="1"/>
          <p:nvPr/>
        </p:nvSpPr>
        <p:spPr>
          <a:xfrm>
            <a:off x="3374135" y="5102860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64748B"/>
                </a:solidFill>
              </a:defRPr>
            </a:lvl1pPr>
          </a:lstStyle>
          <a:p>
            <a:pPr/>
            <a:r>
              <a:t>기간</a:t>
            </a:r>
          </a:p>
        </p:txBody>
      </p:sp>
      <p:sp>
        <p:nvSpPr>
          <p:cNvPr id="477" name="Text 34"/>
          <p:cNvSpPr txBox="1"/>
          <p:nvPr/>
        </p:nvSpPr>
        <p:spPr>
          <a:xfrm>
            <a:off x="3374135" y="5468620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b="1" sz="800">
                <a:solidFill>
                  <a:srgbClr val="0F172A"/>
                </a:solidFill>
              </a:defRPr>
            </a:lvl1pPr>
          </a:lstStyle>
          <a:p>
            <a:pPr/>
            <a:r>
              <a:t>10주  2026.05-07</a:t>
            </a:r>
          </a:p>
        </p:txBody>
      </p:sp>
      <p:sp>
        <p:nvSpPr>
          <p:cNvPr id="478" name="Shape 35"/>
          <p:cNvSpPr/>
          <p:nvPr/>
        </p:nvSpPr>
        <p:spPr>
          <a:xfrm>
            <a:off x="4443984" y="5029200"/>
            <a:ext cx="1097281" cy="82296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9" name="Text 36"/>
          <p:cNvSpPr txBox="1"/>
          <p:nvPr/>
        </p:nvSpPr>
        <p:spPr>
          <a:xfrm>
            <a:off x="4535423" y="5102860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64748B"/>
                </a:solidFill>
              </a:defRPr>
            </a:lvl1pPr>
          </a:lstStyle>
          <a:p>
            <a:pPr/>
            <a:r>
              <a:t>팀 평점</a:t>
            </a:r>
          </a:p>
        </p:txBody>
      </p:sp>
      <p:sp>
        <p:nvSpPr>
          <p:cNvPr id="480" name="Text 37"/>
          <p:cNvSpPr txBox="1"/>
          <p:nvPr/>
        </p:nvSpPr>
        <p:spPr>
          <a:xfrm>
            <a:off x="4535423" y="5468620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b="1" sz="800">
                <a:solidFill>
                  <a:srgbClr val="0F172A"/>
                </a:solidFill>
              </a:defRPr>
            </a:lvl1pPr>
          </a:lstStyle>
          <a:p>
            <a:pPr/>
            <a:r>
              <a:t>★ 4.7  / 5.0</a:t>
            </a:r>
          </a:p>
        </p:txBody>
      </p:sp>
      <p:sp>
        <p:nvSpPr>
          <p:cNvPr id="481" name="Shape 38"/>
          <p:cNvSpPr/>
          <p:nvPr/>
        </p:nvSpPr>
        <p:spPr>
          <a:xfrm>
            <a:off x="6172200" y="1691639"/>
            <a:ext cx="5440680" cy="45720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101600" dist="38100" dir="54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2" name="Shape 39"/>
          <p:cNvSpPr/>
          <p:nvPr/>
        </p:nvSpPr>
        <p:spPr>
          <a:xfrm>
            <a:off x="6172200" y="1691639"/>
            <a:ext cx="5440680" cy="365761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3" name="Shape 40"/>
          <p:cNvSpPr/>
          <p:nvPr/>
        </p:nvSpPr>
        <p:spPr>
          <a:xfrm>
            <a:off x="6263640" y="1810511"/>
            <a:ext cx="118873" cy="118873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4" name="Shape 41"/>
          <p:cNvSpPr/>
          <p:nvPr/>
        </p:nvSpPr>
        <p:spPr>
          <a:xfrm>
            <a:off x="6446520" y="1810511"/>
            <a:ext cx="118873" cy="118873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5" name="Shape 42"/>
          <p:cNvSpPr/>
          <p:nvPr/>
        </p:nvSpPr>
        <p:spPr>
          <a:xfrm>
            <a:off x="6629400" y="1810511"/>
            <a:ext cx="118873" cy="118873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6" name="Shape 43"/>
          <p:cNvSpPr/>
          <p:nvPr/>
        </p:nvSpPr>
        <p:spPr>
          <a:xfrm>
            <a:off x="6903719" y="1764792"/>
            <a:ext cx="4343401" cy="21945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7" name="Text 44"/>
          <p:cNvSpPr txBox="1"/>
          <p:nvPr/>
        </p:nvSpPr>
        <p:spPr>
          <a:xfrm>
            <a:off x="6995159" y="1811020"/>
            <a:ext cx="41605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majorlink.kr/me</a:t>
            </a:r>
          </a:p>
        </p:txBody>
      </p:sp>
      <p:sp>
        <p:nvSpPr>
          <p:cNvPr id="488" name="Shape 45"/>
          <p:cNvSpPr/>
          <p:nvPr/>
        </p:nvSpPr>
        <p:spPr>
          <a:xfrm>
            <a:off x="6172200" y="2057400"/>
            <a:ext cx="5440680" cy="128016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9" name="Text 46"/>
          <p:cNvSpPr txBox="1"/>
          <p:nvPr/>
        </p:nvSpPr>
        <p:spPr>
          <a:xfrm>
            <a:off x="6446520" y="2263184"/>
            <a:ext cx="1828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FFFFF"/>
                </a:solidFill>
              </a:defRPr>
            </a:lvl1pPr>
          </a:lstStyle>
          <a:p>
            <a:pPr/>
            <a:r>
              <a:t>MY PAGE</a:t>
            </a:r>
          </a:p>
        </p:txBody>
      </p:sp>
      <p:sp>
        <p:nvSpPr>
          <p:cNvPr id="490" name="Shape 47"/>
          <p:cNvSpPr/>
          <p:nvPr/>
        </p:nvSpPr>
        <p:spPr>
          <a:xfrm>
            <a:off x="6446520" y="2697479"/>
            <a:ext cx="4892041" cy="146304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sx="100000" sy="100000" kx="0" ky="0" algn="b" rotWithShape="0" blurRad="76200" dist="25400" dir="5400000">
              <a:srgbClr val="000000">
                <a:alpha val="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1" name="Shape 48"/>
          <p:cNvSpPr/>
          <p:nvPr/>
        </p:nvSpPr>
        <p:spPr>
          <a:xfrm>
            <a:off x="6629400" y="2834639"/>
            <a:ext cx="640081" cy="640081"/>
          </a:xfrm>
          <a:prstGeom prst="ellipse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2" name="Text 49"/>
          <p:cNvSpPr txBox="1"/>
          <p:nvPr/>
        </p:nvSpPr>
        <p:spPr>
          <a:xfrm>
            <a:off x="6629400" y="3034029"/>
            <a:ext cx="6400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5B4FE0"/>
                </a:solidFill>
              </a:defRPr>
            </a:lvl1pPr>
          </a:lstStyle>
          <a:p>
            <a:pPr/>
            <a:r>
              <a:t>김</a:t>
            </a:r>
          </a:p>
        </p:txBody>
      </p:sp>
      <p:sp>
        <p:nvSpPr>
          <p:cNvPr id="493" name="Text 50"/>
          <p:cNvSpPr txBox="1"/>
          <p:nvPr/>
        </p:nvSpPr>
        <p:spPr>
          <a:xfrm>
            <a:off x="7360919" y="2915920"/>
            <a:ext cx="1828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F172A"/>
                </a:solidFill>
              </a:defRPr>
            </a:lvl1pPr>
          </a:lstStyle>
          <a:p>
            <a:pPr/>
            <a:r>
              <a:t>김민준</a:t>
            </a:r>
          </a:p>
        </p:txBody>
      </p:sp>
      <p:sp>
        <p:nvSpPr>
          <p:cNvPr id="494" name="Shape 51"/>
          <p:cNvSpPr/>
          <p:nvPr/>
        </p:nvSpPr>
        <p:spPr>
          <a:xfrm>
            <a:off x="7360919" y="3154679"/>
            <a:ext cx="1280161" cy="201169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5" name="Text 52"/>
          <p:cNvSpPr txBox="1"/>
          <p:nvPr/>
        </p:nvSpPr>
        <p:spPr>
          <a:xfrm>
            <a:off x="7360919" y="3191764"/>
            <a:ext cx="1280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5B4FE0"/>
                </a:solidFill>
              </a:defRPr>
            </a:lvl1pPr>
          </a:lstStyle>
          <a:p>
            <a:pPr/>
            <a:r>
              <a:t>컴퓨터공학 3</a:t>
            </a:r>
          </a:p>
        </p:txBody>
      </p:sp>
      <p:sp>
        <p:nvSpPr>
          <p:cNvPr id="496" name="Text 53"/>
          <p:cNvSpPr txBox="1"/>
          <p:nvPr/>
        </p:nvSpPr>
        <p:spPr>
          <a:xfrm>
            <a:off x="7360919" y="3420364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mj.kim@hanyang.ac.kr</a:t>
            </a:r>
          </a:p>
        </p:txBody>
      </p:sp>
      <p:sp>
        <p:nvSpPr>
          <p:cNvPr id="497" name="Shape 54"/>
          <p:cNvSpPr/>
          <p:nvPr/>
        </p:nvSpPr>
        <p:spPr>
          <a:xfrm>
            <a:off x="6583680" y="3794759"/>
            <a:ext cx="1097281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8" name="Text 55"/>
          <p:cNvSpPr txBox="1"/>
          <p:nvPr/>
        </p:nvSpPr>
        <p:spPr>
          <a:xfrm>
            <a:off x="6583680" y="3859276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진행 중</a:t>
            </a:r>
          </a:p>
        </p:txBody>
      </p:sp>
      <p:sp>
        <p:nvSpPr>
          <p:cNvPr id="499" name="Text 56"/>
          <p:cNvSpPr txBox="1"/>
          <p:nvPr/>
        </p:nvSpPr>
        <p:spPr>
          <a:xfrm>
            <a:off x="6583680" y="4037655"/>
            <a:ext cx="109728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5B4FE0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00" name="Shape 57"/>
          <p:cNvSpPr/>
          <p:nvPr/>
        </p:nvSpPr>
        <p:spPr>
          <a:xfrm>
            <a:off x="7744968" y="3794759"/>
            <a:ext cx="1097281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1" name="Text 58"/>
          <p:cNvSpPr txBox="1"/>
          <p:nvPr/>
        </p:nvSpPr>
        <p:spPr>
          <a:xfrm>
            <a:off x="7744968" y="3859276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완료</a:t>
            </a:r>
          </a:p>
        </p:txBody>
      </p:sp>
      <p:sp>
        <p:nvSpPr>
          <p:cNvPr id="502" name="Text 59"/>
          <p:cNvSpPr txBox="1"/>
          <p:nvPr/>
        </p:nvSpPr>
        <p:spPr>
          <a:xfrm>
            <a:off x="7744968" y="4037655"/>
            <a:ext cx="109728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84CC16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03" name="Shape 60"/>
          <p:cNvSpPr/>
          <p:nvPr/>
        </p:nvSpPr>
        <p:spPr>
          <a:xfrm>
            <a:off x="8906256" y="3794759"/>
            <a:ext cx="1097281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4" name="Text 61"/>
          <p:cNvSpPr txBox="1"/>
          <p:nvPr/>
        </p:nvSpPr>
        <p:spPr>
          <a:xfrm>
            <a:off x="8906256" y="3859276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평균 ★</a:t>
            </a:r>
          </a:p>
        </p:txBody>
      </p:sp>
      <p:sp>
        <p:nvSpPr>
          <p:cNvPr id="505" name="Text 62"/>
          <p:cNvSpPr txBox="1"/>
          <p:nvPr/>
        </p:nvSpPr>
        <p:spPr>
          <a:xfrm>
            <a:off x="8906256" y="4037655"/>
            <a:ext cx="109728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59E0B"/>
                </a:solidFill>
              </a:defRPr>
            </a:lvl1pPr>
          </a:lstStyle>
          <a:p>
            <a:pPr/>
            <a:r>
              <a:t>4.7</a:t>
            </a:r>
          </a:p>
        </p:txBody>
      </p:sp>
      <p:sp>
        <p:nvSpPr>
          <p:cNvPr id="506" name="Shape 63"/>
          <p:cNvSpPr/>
          <p:nvPr/>
        </p:nvSpPr>
        <p:spPr>
          <a:xfrm>
            <a:off x="10067543" y="3794759"/>
            <a:ext cx="1097281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7" name="Text 64"/>
          <p:cNvSpPr txBox="1"/>
          <p:nvPr/>
        </p:nvSpPr>
        <p:spPr>
          <a:xfrm>
            <a:off x="10067543" y="3859276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">
                <a:solidFill>
                  <a:srgbClr val="64748B"/>
                </a:solidFill>
              </a:defRPr>
            </a:lvl1pPr>
          </a:lstStyle>
          <a:p>
            <a:pPr/>
            <a:r>
              <a:t>평균 매칭</a:t>
            </a:r>
          </a:p>
        </p:txBody>
      </p:sp>
      <p:sp>
        <p:nvSpPr>
          <p:cNvPr id="508" name="Text 65"/>
          <p:cNvSpPr txBox="1"/>
          <p:nvPr/>
        </p:nvSpPr>
        <p:spPr>
          <a:xfrm>
            <a:off x="10067543" y="4037655"/>
            <a:ext cx="109728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EC4899"/>
                </a:solidFill>
              </a:defRPr>
            </a:lvl1pPr>
          </a:lstStyle>
          <a:p>
            <a:pPr/>
            <a:r>
              <a:t>82</a:t>
            </a:r>
          </a:p>
        </p:txBody>
      </p:sp>
      <p:sp>
        <p:nvSpPr>
          <p:cNvPr id="509" name="Text 66"/>
          <p:cNvSpPr txBox="1"/>
          <p:nvPr/>
        </p:nvSpPr>
        <p:spPr>
          <a:xfrm>
            <a:off x="6446520" y="4466590"/>
            <a:ext cx="2743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F172A"/>
                </a:solidFill>
              </a:defRPr>
            </a:lvl1pPr>
          </a:lstStyle>
          <a:p>
            <a:pPr/>
            <a:r>
              <a:t>활동 통계</a:t>
            </a:r>
          </a:p>
        </p:txBody>
      </p:sp>
      <p:sp>
        <p:nvSpPr>
          <p:cNvPr id="510" name="Text 67"/>
          <p:cNvSpPr txBox="1"/>
          <p:nvPr/>
        </p:nvSpPr>
        <p:spPr>
          <a:xfrm>
            <a:off x="6446520" y="4845050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155"/>
                </a:solidFill>
              </a:defRPr>
            </a:lvl1pPr>
          </a:lstStyle>
          <a:p>
            <a:pPr/>
            <a:r>
              <a:t>함께한 사람</a:t>
            </a:r>
          </a:p>
        </p:txBody>
      </p:sp>
      <p:sp>
        <p:nvSpPr>
          <p:cNvPr id="511" name="Text 68"/>
          <p:cNvSpPr txBox="1"/>
          <p:nvPr/>
        </p:nvSpPr>
        <p:spPr>
          <a:xfrm>
            <a:off x="10241280" y="4838699"/>
            <a:ext cx="1097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5B4FE0"/>
                </a:solidFill>
              </a:defRPr>
            </a:lvl1pPr>
          </a:lstStyle>
          <a:p>
            <a:pPr/>
            <a:r>
              <a:t>14명</a:t>
            </a:r>
          </a:p>
        </p:txBody>
      </p:sp>
      <p:sp>
        <p:nvSpPr>
          <p:cNvPr id="512" name="Text 69"/>
          <p:cNvSpPr txBox="1"/>
          <p:nvPr/>
        </p:nvSpPr>
        <p:spPr>
          <a:xfrm>
            <a:off x="6446520" y="5119370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155"/>
                </a:solidFill>
              </a:defRPr>
            </a:lvl1pPr>
          </a:lstStyle>
          <a:p>
            <a:pPr/>
            <a:r>
              <a:t>받은 별점</a:t>
            </a:r>
          </a:p>
        </p:txBody>
      </p:sp>
      <p:sp>
        <p:nvSpPr>
          <p:cNvPr id="513" name="Text 70"/>
          <p:cNvSpPr txBox="1"/>
          <p:nvPr/>
        </p:nvSpPr>
        <p:spPr>
          <a:xfrm>
            <a:off x="10241280" y="5113020"/>
            <a:ext cx="1097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5B4FE0"/>
                </a:solidFill>
              </a:defRPr>
            </a:lvl1pPr>
          </a:lstStyle>
          <a:p>
            <a:pPr/>
            <a:r>
              <a:t>38회</a:t>
            </a:r>
          </a:p>
        </p:txBody>
      </p:sp>
      <p:sp>
        <p:nvSpPr>
          <p:cNvPr id="514" name="Text 71"/>
          <p:cNvSpPr txBox="1"/>
          <p:nvPr/>
        </p:nvSpPr>
        <p:spPr>
          <a:xfrm>
            <a:off x="6446520" y="5393690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155"/>
                </a:solidFill>
              </a:defRPr>
            </a:lvl1pPr>
          </a:lstStyle>
          <a:p>
            <a:pPr/>
            <a:r>
              <a:t>작성 댓글</a:t>
            </a:r>
          </a:p>
        </p:txBody>
      </p:sp>
      <p:sp>
        <p:nvSpPr>
          <p:cNvPr id="515" name="Text 72"/>
          <p:cNvSpPr txBox="1"/>
          <p:nvPr/>
        </p:nvSpPr>
        <p:spPr>
          <a:xfrm>
            <a:off x="10241280" y="5387340"/>
            <a:ext cx="1097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5B4FE0"/>
                </a:solidFill>
              </a:defRPr>
            </a:lvl1pPr>
          </a:lstStyle>
          <a:p>
            <a:pPr/>
            <a:r>
              <a:t>127개</a:t>
            </a:r>
          </a:p>
        </p:txBody>
      </p:sp>
      <p:sp>
        <p:nvSpPr>
          <p:cNvPr id="516" name="Text 73"/>
          <p:cNvSpPr txBox="1"/>
          <p:nvPr/>
        </p:nvSpPr>
        <p:spPr>
          <a:xfrm>
            <a:off x="6446520" y="5668009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334155"/>
                </a:solidFill>
              </a:defRPr>
            </a:lvl1pPr>
          </a:lstStyle>
          <a:p>
            <a:pPr/>
            <a:r>
              <a:t>완료 Task</a:t>
            </a:r>
          </a:p>
        </p:txBody>
      </p:sp>
      <p:sp>
        <p:nvSpPr>
          <p:cNvPr id="517" name="Text 74"/>
          <p:cNvSpPr txBox="1"/>
          <p:nvPr/>
        </p:nvSpPr>
        <p:spPr>
          <a:xfrm>
            <a:off x="10241280" y="5661659"/>
            <a:ext cx="10972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5B4FE0"/>
                </a:solidFill>
              </a:defRPr>
            </a:lvl1pPr>
          </a:lstStyle>
          <a:p>
            <a:pPr/>
            <a:r>
              <a:t>64개</a:t>
            </a:r>
          </a:p>
        </p:txBody>
      </p:sp>
      <p:sp>
        <p:nvSpPr>
          <p:cNvPr id="518" name="Text 75"/>
          <p:cNvSpPr txBox="1"/>
          <p:nvPr/>
        </p:nvSpPr>
        <p:spPr>
          <a:xfrm>
            <a:off x="594360" y="6370319"/>
            <a:ext cx="534924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000">
                <a:solidFill>
                  <a:srgbClr val="64748B"/>
                </a:solidFill>
              </a:defRPr>
            </a:lvl1pPr>
          </a:lstStyle>
          <a:p>
            <a:pPr/>
            <a:r>
              <a:t>포트폴리오 — 완료 시 1장 카드로 자동 정리</a:t>
            </a:r>
          </a:p>
        </p:txBody>
      </p:sp>
      <p:sp>
        <p:nvSpPr>
          <p:cNvPr id="519" name="Text 76"/>
          <p:cNvSpPr txBox="1"/>
          <p:nvPr/>
        </p:nvSpPr>
        <p:spPr>
          <a:xfrm>
            <a:off x="6217920" y="6370319"/>
            <a:ext cx="534924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000">
                <a:solidFill>
                  <a:srgbClr val="64748B"/>
                </a:solidFill>
              </a:defRPr>
            </a:lvl1pPr>
          </a:lstStyle>
          <a:p>
            <a:pPr/>
            <a:r>
              <a:t>마이페이지 — 진행 중·완료·통계 한눈에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B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2" name="Text 1"/>
          <p:cNvSpPr txBox="1"/>
          <p:nvPr/>
        </p:nvSpPr>
        <p:spPr>
          <a:xfrm>
            <a:off x="463295" y="206117"/>
            <a:ext cx="8778242" cy="41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진행 관리 보드 </a:t>
            </a:r>
            <a:r>
              <a:t>— Notion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과 다른 이유</a:t>
            </a:r>
          </a:p>
        </p:txBody>
      </p:sp>
      <p:sp>
        <p:nvSpPr>
          <p:cNvPr id="523" name="Text 2"/>
          <p:cNvSpPr txBox="1"/>
          <p:nvPr/>
        </p:nvSpPr>
        <p:spPr>
          <a:xfrm>
            <a:off x="8778240" y="319277"/>
            <a:ext cx="31699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200">
                <a:solidFill>
                  <a:srgbClr val="AACC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보완 슬라이드 </a:t>
            </a:r>
            <a:r>
              <a:t>05 / 06  |  MajorLink</a:t>
            </a:r>
          </a:p>
        </p:txBody>
      </p:sp>
      <p:sp>
        <p:nvSpPr>
          <p:cNvPr id="524" name="Text 3"/>
          <p:cNvSpPr txBox="1"/>
          <p:nvPr/>
        </p:nvSpPr>
        <p:spPr>
          <a:xfrm>
            <a:off x="463295" y="1007489"/>
            <a:ext cx="11265410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2563E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태스크 완료가 포트폴리오 기여 항목으로 자동 연결</a:t>
            </a:r>
          </a:p>
        </p:txBody>
      </p:sp>
      <p:sp>
        <p:nvSpPr>
          <p:cNvPr id="525" name="Text 4"/>
          <p:cNvSpPr txBox="1"/>
          <p:nvPr/>
        </p:nvSpPr>
        <p:spPr>
          <a:xfrm>
            <a:off x="463295" y="6600569"/>
            <a:ext cx="11265410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MajorLink  |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전공 기반 대학생 협업 플랫폼</a:t>
            </a:r>
          </a:p>
        </p:txBody>
      </p:sp>
      <p:sp>
        <p:nvSpPr>
          <p:cNvPr id="526" name="Shape 5"/>
          <p:cNvSpPr/>
          <p:nvPr/>
        </p:nvSpPr>
        <p:spPr>
          <a:xfrm>
            <a:off x="426719" y="1316736"/>
            <a:ext cx="5242562" cy="2804161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7" name="Text 6"/>
          <p:cNvSpPr txBox="1"/>
          <p:nvPr/>
        </p:nvSpPr>
        <p:spPr>
          <a:xfrm>
            <a:off x="426719" y="1524202"/>
            <a:ext cx="5242562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64748B"/>
                </a:solidFill>
              </a:defRPr>
            </a:lvl1pPr>
          </a:lstStyle>
          <a:p>
            <a:pPr/>
            <a:r>
              <a:t>Notion · Trello</a:t>
            </a:r>
          </a:p>
        </p:txBody>
      </p:sp>
      <p:sp>
        <p:nvSpPr>
          <p:cNvPr id="528" name="Text 7"/>
          <p:cNvSpPr txBox="1"/>
          <p:nvPr/>
        </p:nvSpPr>
        <p:spPr>
          <a:xfrm>
            <a:off x="426719" y="2026219"/>
            <a:ext cx="5242562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13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태스크 관리  </a:t>
            </a:r>
            <a:r>
              <a:t>→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끝</a:t>
            </a:r>
          </a:p>
        </p:txBody>
      </p:sp>
      <p:sp>
        <p:nvSpPr>
          <p:cNvPr id="529" name="Text 8"/>
          <p:cNvSpPr txBox="1"/>
          <p:nvPr/>
        </p:nvSpPr>
        <p:spPr>
          <a:xfrm>
            <a:off x="670560" y="2494859"/>
            <a:ext cx="4754880" cy="20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latin typeface="+mj-lt"/>
                <a:ea typeface="+mj-ea"/>
                <a:cs typeface="+mj-cs"/>
                <a:sym typeface="Helvetica"/>
              </a:rPr>
              <a:t>할 일 등록</a:t>
            </a:r>
            <a:r>
              <a:rPr b="0"/>
              <a:t>·</a:t>
            </a:r>
            <a:r>
              <a:rPr b="0">
                <a:latin typeface="+mj-lt"/>
                <a:ea typeface="+mj-ea"/>
                <a:cs typeface="+mj-cs"/>
                <a:sym typeface="Helvetica"/>
              </a:rPr>
              <a:t>상태 변경 가능</a:t>
            </a:r>
          </a:p>
        </p:txBody>
      </p:sp>
      <p:sp>
        <p:nvSpPr>
          <p:cNvPr id="530" name="Text 9"/>
          <p:cNvSpPr txBox="1"/>
          <p:nvPr/>
        </p:nvSpPr>
        <p:spPr>
          <a:xfrm>
            <a:off x="670560" y="2909387"/>
            <a:ext cx="4754880" cy="20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latin typeface="+mj-lt"/>
                <a:ea typeface="+mj-ea"/>
                <a:cs typeface="+mj-cs"/>
                <a:sym typeface="Helvetica"/>
              </a:rPr>
              <a:t>드래그앤드롭 칸반 </a:t>
            </a:r>
            <a:r>
              <a:rPr b="0"/>
              <a:t>UI</a:t>
            </a:r>
          </a:p>
        </p:txBody>
      </p:sp>
      <p:sp>
        <p:nvSpPr>
          <p:cNvPr id="531" name="Text 10"/>
          <p:cNvSpPr txBox="1"/>
          <p:nvPr/>
        </p:nvSpPr>
        <p:spPr>
          <a:xfrm>
            <a:off x="670560" y="3330702"/>
            <a:ext cx="475488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✕  </a:t>
            </a:r>
            <a:r>
              <a:rPr b="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rPr>
              <a:t>포트폴리오와 연결되지 않음</a:t>
            </a:r>
          </a:p>
        </p:txBody>
      </p:sp>
      <p:sp>
        <p:nvSpPr>
          <p:cNvPr id="532" name="Text 11"/>
          <p:cNvSpPr txBox="1"/>
          <p:nvPr/>
        </p:nvSpPr>
        <p:spPr>
          <a:xfrm>
            <a:off x="670560" y="3745229"/>
            <a:ext cx="475488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✕  </a:t>
            </a:r>
            <a:r>
              <a:rPr b="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rPr>
              <a:t>프로젝트 끝나면 데이터가 남지 않음</a:t>
            </a:r>
          </a:p>
        </p:txBody>
      </p:sp>
      <p:sp>
        <p:nvSpPr>
          <p:cNvPr id="533" name="Text 12"/>
          <p:cNvSpPr txBox="1"/>
          <p:nvPr/>
        </p:nvSpPr>
        <p:spPr>
          <a:xfrm>
            <a:off x="5791200" y="2537208"/>
            <a:ext cx="731521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900">
                <a:solidFill>
                  <a:srgbClr val="1B3A6B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34" name="Shape 13"/>
          <p:cNvSpPr/>
          <p:nvPr/>
        </p:nvSpPr>
        <p:spPr>
          <a:xfrm>
            <a:off x="6583680" y="1316736"/>
            <a:ext cx="5181601" cy="2804161"/>
          </a:xfrm>
          <a:prstGeom prst="rect">
            <a:avLst/>
          </a:prstGeom>
          <a:solidFill>
            <a:srgbClr val="DBEAFE"/>
          </a:solidFill>
          <a:ln w="16933">
            <a:solidFill>
              <a:srgbClr val="2563EB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5" name="Text 14"/>
          <p:cNvSpPr txBox="1"/>
          <p:nvPr/>
        </p:nvSpPr>
        <p:spPr>
          <a:xfrm>
            <a:off x="6583680" y="1506727"/>
            <a:ext cx="51816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700">
                <a:solidFill>
                  <a:srgbClr val="1B3A6B"/>
                </a:solidFill>
              </a:defRPr>
            </a:pPr>
            <a:r>
              <a:t>MajorLink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태스크</a:t>
            </a:r>
          </a:p>
        </p:txBody>
      </p:sp>
      <p:sp>
        <p:nvSpPr>
          <p:cNvPr id="536" name="Text 15"/>
          <p:cNvSpPr txBox="1"/>
          <p:nvPr/>
        </p:nvSpPr>
        <p:spPr>
          <a:xfrm>
            <a:off x="6583680" y="2026219"/>
            <a:ext cx="5181601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1300">
                <a:solidFill>
                  <a:srgbClr val="2563E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태스크 완료  </a:t>
            </a:r>
            <a:r>
              <a:t>→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포트폴리오에 반영</a:t>
            </a:r>
          </a:p>
        </p:txBody>
      </p:sp>
      <p:sp>
        <p:nvSpPr>
          <p:cNvPr id="537" name="Text 16"/>
          <p:cNvSpPr txBox="1"/>
          <p:nvPr/>
        </p:nvSpPr>
        <p:spPr>
          <a:xfrm>
            <a:off x="6827519" y="2494859"/>
            <a:ext cx="4693921" cy="20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태스크 등록</a:t>
            </a:r>
            <a:r>
              <a:rPr b="0">
                <a:solidFill>
                  <a:srgbClr val="1E293B"/>
                </a:solidFill>
              </a:rPr>
              <a:t>·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상태 변경 가능</a:t>
            </a:r>
          </a:p>
        </p:txBody>
      </p:sp>
      <p:sp>
        <p:nvSpPr>
          <p:cNvPr id="538" name="Text 17"/>
          <p:cNvSpPr txBox="1"/>
          <p:nvPr/>
        </p:nvSpPr>
        <p:spPr>
          <a:xfrm>
            <a:off x="6827519" y="2909387"/>
            <a:ext cx="4693921" cy="20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완료 태스크 </a:t>
            </a:r>
            <a:r>
              <a:rPr b="0">
                <a:solidFill>
                  <a:srgbClr val="1E293B"/>
                </a:solidFill>
              </a:rPr>
              <a:t>→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포트폴리오 자동 집계</a:t>
            </a:r>
          </a:p>
        </p:txBody>
      </p:sp>
      <p:sp>
        <p:nvSpPr>
          <p:cNvPr id="539" name="Text 18"/>
          <p:cNvSpPr txBox="1"/>
          <p:nvPr/>
        </p:nvSpPr>
        <p:spPr>
          <a:xfrm>
            <a:off x="6827519" y="3323915"/>
            <a:ext cx="4693921" cy="20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완료 시 기여 항목으로 자동 기록</a:t>
            </a:r>
          </a:p>
        </p:txBody>
      </p:sp>
      <p:sp>
        <p:nvSpPr>
          <p:cNvPr id="540" name="Text 19"/>
          <p:cNvSpPr txBox="1"/>
          <p:nvPr/>
        </p:nvSpPr>
        <p:spPr>
          <a:xfrm>
            <a:off x="6827519" y="3738443"/>
            <a:ext cx="4693921" cy="20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프로젝트가 끝나도 데이터가 살아남음</a:t>
            </a:r>
          </a:p>
        </p:txBody>
      </p:sp>
      <p:sp>
        <p:nvSpPr>
          <p:cNvPr id="541" name="Shape 20"/>
          <p:cNvSpPr/>
          <p:nvPr/>
        </p:nvSpPr>
        <p:spPr>
          <a:xfrm>
            <a:off x="426720" y="4291584"/>
            <a:ext cx="11338560" cy="341377"/>
          </a:xfrm>
          <a:prstGeom prst="rect">
            <a:avLst/>
          </a:prstGeom>
          <a:solidFill>
            <a:srgbClr val="1B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2" name="Text 21"/>
          <p:cNvSpPr txBox="1"/>
          <p:nvPr/>
        </p:nvSpPr>
        <p:spPr>
          <a:xfrm>
            <a:off x="426720" y="4354892"/>
            <a:ext cx="11338560" cy="214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MVP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포함 범위  </a:t>
            </a:r>
            <a:r>
              <a:t>vs  Phase 2</a:t>
            </a:r>
          </a:p>
        </p:txBody>
      </p:sp>
      <p:sp>
        <p:nvSpPr>
          <p:cNvPr id="543" name="Shape 22"/>
          <p:cNvSpPr/>
          <p:nvPr/>
        </p:nvSpPr>
        <p:spPr>
          <a:xfrm>
            <a:off x="426719" y="4706111"/>
            <a:ext cx="5547362" cy="1706880"/>
          </a:xfrm>
          <a:prstGeom prst="rect">
            <a:avLst/>
          </a:prstGeom>
          <a:solidFill>
            <a:srgbClr val="D1FAE5"/>
          </a:solidFill>
          <a:ln w="16933">
            <a:solidFill>
              <a:srgbClr val="059669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4" name="Text 23"/>
          <p:cNvSpPr txBox="1"/>
          <p:nvPr/>
        </p:nvSpPr>
        <p:spPr>
          <a:xfrm>
            <a:off x="573023" y="4866955"/>
            <a:ext cx="5254754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059669"/>
                </a:solidFill>
              </a:defRPr>
            </a:pPr>
            <a:r>
              <a:t>MVP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구현 대상</a:t>
            </a:r>
            <a:r>
              <a:t>)</a:t>
            </a:r>
          </a:p>
        </p:txBody>
      </p:sp>
      <p:sp>
        <p:nvSpPr>
          <p:cNvPr id="545" name="Text 24"/>
          <p:cNvSpPr txBox="1"/>
          <p:nvPr/>
        </p:nvSpPr>
        <p:spPr>
          <a:xfrm>
            <a:off x="646176" y="5269229"/>
            <a:ext cx="505968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태스크 등록 </a:t>
            </a: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담당자 </a:t>
            </a: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마감일 </a:t>
            </a: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상태 관리</a:t>
            </a:r>
          </a:p>
        </p:txBody>
      </p:sp>
      <p:sp>
        <p:nvSpPr>
          <p:cNvPr id="546" name="Text 25"/>
          <p:cNvSpPr txBox="1"/>
          <p:nvPr/>
        </p:nvSpPr>
        <p:spPr>
          <a:xfrm>
            <a:off x="646176" y="5659373"/>
            <a:ext cx="505968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상태 변경 </a:t>
            </a:r>
            <a:r>
              <a:t>(TODO → IN_PROGRESS → DONE)</a:t>
            </a:r>
          </a:p>
        </p:txBody>
      </p:sp>
      <p:sp>
        <p:nvSpPr>
          <p:cNvPr id="547" name="Text 26"/>
          <p:cNvSpPr txBox="1"/>
          <p:nvPr/>
        </p:nvSpPr>
        <p:spPr>
          <a:xfrm>
            <a:off x="646176" y="6049517"/>
            <a:ext cx="505968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완료 태스크 </a:t>
            </a: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포트폴리오 초안 자동 반영</a:t>
            </a:r>
          </a:p>
        </p:txBody>
      </p:sp>
      <p:sp>
        <p:nvSpPr>
          <p:cNvPr id="548" name="Shape 27"/>
          <p:cNvSpPr/>
          <p:nvPr/>
        </p:nvSpPr>
        <p:spPr>
          <a:xfrm>
            <a:off x="6339840" y="4706111"/>
            <a:ext cx="5547361" cy="1706880"/>
          </a:xfrm>
          <a:prstGeom prst="rect">
            <a:avLst/>
          </a:prstGeom>
          <a:solidFill>
            <a:srgbClr val="FEF3C7"/>
          </a:solidFill>
          <a:ln w="16933">
            <a:solidFill>
              <a:srgbClr val="F59E0B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9" name="Text 28"/>
          <p:cNvSpPr txBox="1"/>
          <p:nvPr/>
        </p:nvSpPr>
        <p:spPr>
          <a:xfrm>
            <a:off x="6486144" y="4872735"/>
            <a:ext cx="525475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Phase 2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나중에</a:t>
            </a:r>
            <a:r>
              <a:t>)</a:t>
            </a:r>
          </a:p>
        </p:txBody>
      </p:sp>
      <p:sp>
        <p:nvSpPr>
          <p:cNvPr id="550" name="Text 29"/>
          <p:cNvSpPr txBox="1"/>
          <p:nvPr/>
        </p:nvSpPr>
        <p:spPr>
          <a:xfrm>
            <a:off x="6559295" y="5269229"/>
            <a:ext cx="50596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드래그앤드롭 칸반 </a:t>
            </a:r>
            <a:r>
              <a:t>UI</a:t>
            </a:r>
          </a:p>
        </p:txBody>
      </p:sp>
      <p:sp>
        <p:nvSpPr>
          <p:cNvPr id="551" name="Text 30"/>
          <p:cNvSpPr txBox="1"/>
          <p:nvPr/>
        </p:nvSpPr>
        <p:spPr>
          <a:xfrm>
            <a:off x="6559295" y="5659373"/>
            <a:ext cx="50596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마감 </a:t>
            </a:r>
            <a:r>
              <a:t>D-3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자동 알림</a:t>
            </a:r>
          </a:p>
        </p:txBody>
      </p:sp>
      <p:sp>
        <p:nvSpPr>
          <p:cNvPr id="552" name="Text 31"/>
          <p:cNvSpPr txBox="1"/>
          <p:nvPr/>
        </p:nvSpPr>
        <p:spPr>
          <a:xfrm>
            <a:off x="6559295" y="6049517"/>
            <a:ext cx="50596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•  Discord / Slack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알림 연동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5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556" name="Text 2"/>
          <p:cNvSpPr txBox="1"/>
          <p:nvPr/>
        </p:nvSpPr>
        <p:spPr>
          <a:xfrm>
            <a:off x="1188719" y="47236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03.  CORE FEATURE</a:t>
            </a:r>
          </a:p>
        </p:txBody>
      </p:sp>
      <p:sp>
        <p:nvSpPr>
          <p:cNvPr id="557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9 / 21</a:t>
            </a:r>
          </a:p>
        </p:txBody>
      </p:sp>
      <p:sp>
        <p:nvSpPr>
          <p:cNvPr id="558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MVP 핵심 기능 6가지</a:t>
            </a:r>
          </a:p>
        </p:txBody>
      </p:sp>
      <p:sp>
        <p:nvSpPr>
          <p:cNvPr id="559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560" name="Shape 6"/>
          <p:cNvSpPr/>
          <p:nvPr/>
        </p:nvSpPr>
        <p:spPr>
          <a:xfrm>
            <a:off x="548639" y="1783079"/>
            <a:ext cx="3566161" cy="210312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1" name="Shape 7"/>
          <p:cNvSpPr/>
          <p:nvPr/>
        </p:nvSpPr>
        <p:spPr>
          <a:xfrm>
            <a:off x="548639" y="1783079"/>
            <a:ext cx="3566161" cy="7315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2" name="Text 8"/>
          <p:cNvSpPr txBox="1"/>
          <p:nvPr/>
        </p:nvSpPr>
        <p:spPr>
          <a:xfrm>
            <a:off x="731519" y="2034584"/>
            <a:ext cx="640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5B4FE0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63" name="Text 9"/>
          <p:cNvSpPr txBox="1"/>
          <p:nvPr/>
        </p:nvSpPr>
        <p:spPr>
          <a:xfrm>
            <a:off x="731519" y="2383789"/>
            <a:ext cx="3200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전공/역할 기반 프로필</a:t>
            </a:r>
          </a:p>
        </p:txBody>
      </p:sp>
      <p:sp>
        <p:nvSpPr>
          <p:cNvPr id="564" name="Text 10"/>
          <p:cNvSpPr txBox="1"/>
          <p:nvPr/>
        </p:nvSpPr>
        <p:spPr>
          <a:xfrm>
            <a:off x="731519" y="2873965"/>
            <a:ext cx="3200401" cy="37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전공·희망 역할·기술 스택·관심 분야·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포트폴리오 링크를 한 곳에</a:t>
            </a:r>
          </a:p>
        </p:txBody>
      </p:sp>
      <p:sp>
        <p:nvSpPr>
          <p:cNvPr id="565" name="Shape 11"/>
          <p:cNvSpPr/>
          <p:nvPr/>
        </p:nvSpPr>
        <p:spPr>
          <a:xfrm>
            <a:off x="731519" y="3474720"/>
            <a:ext cx="3200401" cy="292609"/>
          </a:xfrm>
          <a:prstGeom prst="rect">
            <a:avLst/>
          </a:prstGeom>
          <a:solidFill>
            <a:srgbClr val="FFFFFF"/>
          </a:solidFill>
          <a:ln w="12700">
            <a:solidFill>
              <a:srgbClr val="5B4F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6" name="Text 12"/>
          <p:cNvSpPr txBox="1"/>
          <p:nvPr/>
        </p:nvSpPr>
        <p:spPr>
          <a:xfrm>
            <a:off x="822960" y="3551173"/>
            <a:ext cx="31089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5B4FE0"/>
                </a:solidFill>
              </a:defRPr>
            </a:pPr>
            <a:r>
              <a:t>● </a:t>
            </a:r>
            <a:r>
              <a:rPr b="0">
                <a:solidFill>
                  <a:srgbClr val="334155"/>
                </a:solidFill>
              </a:rPr>
              <a:t>설문 1순위 (53.8%)</a:t>
            </a:r>
          </a:p>
        </p:txBody>
      </p:sp>
      <p:sp>
        <p:nvSpPr>
          <p:cNvPr id="567" name="Shape 13"/>
          <p:cNvSpPr/>
          <p:nvPr/>
        </p:nvSpPr>
        <p:spPr>
          <a:xfrm>
            <a:off x="4251959" y="1783079"/>
            <a:ext cx="3566160" cy="210312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8" name="Shape 14"/>
          <p:cNvSpPr/>
          <p:nvPr/>
        </p:nvSpPr>
        <p:spPr>
          <a:xfrm>
            <a:off x="4251959" y="1783079"/>
            <a:ext cx="3566160" cy="7315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9" name="Text 15"/>
          <p:cNvSpPr txBox="1"/>
          <p:nvPr/>
        </p:nvSpPr>
        <p:spPr>
          <a:xfrm>
            <a:off x="4434840" y="2034584"/>
            <a:ext cx="640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5B4FE0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70" name="Text 16"/>
          <p:cNvSpPr txBox="1"/>
          <p:nvPr/>
        </p:nvSpPr>
        <p:spPr>
          <a:xfrm>
            <a:off x="4434840" y="2383789"/>
            <a:ext cx="3200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프로젝트 모집글</a:t>
            </a:r>
          </a:p>
        </p:txBody>
      </p:sp>
      <p:sp>
        <p:nvSpPr>
          <p:cNvPr id="571" name="Text 17"/>
          <p:cNvSpPr txBox="1"/>
          <p:nvPr/>
        </p:nvSpPr>
        <p:spPr>
          <a:xfrm>
            <a:off x="4434840" y="2873965"/>
            <a:ext cx="3200401" cy="37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제목·목표·기간·필요 역할·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기술 태그·마감일을 카드형으로</a:t>
            </a:r>
          </a:p>
        </p:txBody>
      </p:sp>
      <p:sp>
        <p:nvSpPr>
          <p:cNvPr id="572" name="Shape 18"/>
          <p:cNvSpPr/>
          <p:nvPr/>
        </p:nvSpPr>
        <p:spPr>
          <a:xfrm>
            <a:off x="4434840" y="3474720"/>
            <a:ext cx="3200401" cy="292609"/>
          </a:xfrm>
          <a:prstGeom prst="rect">
            <a:avLst/>
          </a:prstGeom>
          <a:solidFill>
            <a:srgbClr val="FFFFFF"/>
          </a:solidFill>
          <a:ln w="12700">
            <a:solidFill>
              <a:srgbClr val="5B4F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3" name="Text 19"/>
          <p:cNvSpPr txBox="1"/>
          <p:nvPr/>
        </p:nvSpPr>
        <p:spPr>
          <a:xfrm>
            <a:off x="4526279" y="3551173"/>
            <a:ext cx="31089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5B4FE0"/>
                </a:solidFill>
              </a:defRPr>
            </a:pPr>
            <a:r>
              <a:t>● </a:t>
            </a:r>
            <a:r>
              <a:rPr b="0">
                <a:solidFill>
                  <a:srgbClr val="334155"/>
                </a:solidFill>
              </a:rPr>
              <a:t>Q9 32.7% 요청</a:t>
            </a:r>
          </a:p>
        </p:txBody>
      </p:sp>
      <p:sp>
        <p:nvSpPr>
          <p:cNvPr id="574" name="Shape 20"/>
          <p:cNvSpPr/>
          <p:nvPr/>
        </p:nvSpPr>
        <p:spPr>
          <a:xfrm>
            <a:off x="7955280" y="1783079"/>
            <a:ext cx="3566160" cy="210312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5" name="Shape 21"/>
          <p:cNvSpPr/>
          <p:nvPr/>
        </p:nvSpPr>
        <p:spPr>
          <a:xfrm>
            <a:off x="7955280" y="1783079"/>
            <a:ext cx="3566160" cy="7315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6" name="Text 22"/>
          <p:cNvSpPr txBox="1"/>
          <p:nvPr/>
        </p:nvSpPr>
        <p:spPr>
          <a:xfrm>
            <a:off x="8138159" y="2034584"/>
            <a:ext cx="640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5B4FE0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77" name="Text 23"/>
          <p:cNvSpPr txBox="1"/>
          <p:nvPr/>
        </p:nvSpPr>
        <p:spPr>
          <a:xfrm>
            <a:off x="8138159" y="2383789"/>
            <a:ext cx="3200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지원 &amp; 승인</a:t>
            </a:r>
          </a:p>
        </p:txBody>
      </p:sp>
      <p:sp>
        <p:nvSpPr>
          <p:cNvPr id="578" name="Text 24"/>
          <p:cNvSpPr txBox="1"/>
          <p:nvPr/>
        </p:nvSpPr>
        <p:spPr>
          <a:xfrm>
            <a:off x="8138159" y="2873965"/>
            <a:ext cx="3200401" cy="37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지원 → 팀장 검토 → 승인/거절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매칭 점수와 함께 비교</a:t>
            </a:r>
          </a:p>
        </p:txBody>
      </p:sp>
      <p:sp>
        <p:nvSpPr>
          <p:cNvPr id="579" name="Shape 25"/>
          <p:cNvSpPr/>
          <p:nvPr/>
        </p:nvSpPr>
        <p:spPr>
          <a:xfrm>
            <a:off x="8138159" y="3474720"/>
            <a:ext cx="3200401" cy="292609"/>
          </a:xfrm>
          <a:prstGeom prst="rect">
            <a:avLst/>
          </a:prstGeom>
          <a:solidFill>
            <a:srgbClr val="FFFFFF"/>
          </a:solidFill>
          <a:ln w="12700">
            <a:solidFill>
              <a:srgbClr val="5B4F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0" name="Text 26"/>
          <p:cNvSpPr txBox="1"/>
          <p:nvPr/>
        </p:nvSpPr>
        <p:spPr>
          <a:xfrm>
            <a:off x="8229600" y="3551173"/>
            <a:ext cx="31089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5B4FE0"/>
                </a:solidFill>
              </a:defRPr>
            </a:pPr>
            <a:r>
              <a:t>● </a:t>
            </a:r>
            <a:r>
              <a:rPr b="0">
                <a:solidFill>
                  <a:srgbClr val="334155"/>
                </a:solidFill>
              </a:rPr>
              <a:t>프로세스 부재 해결</a:t>
            </a:r>
          </a:p>
        </p:txBody>
      </p:sp>
      <p:sp>
        <p:nvSpPr>
          <p:cNvPr id="581" name="Shape 27"/>
          <p:cNvSpPr/>
          <p:nvPr/>
        </p:nvSpPr>
        <p:spPr>
          <a:xfrm>
            <a:off x="548639" y="4069079"/>
            <a:ext cx="3566161" cy="2103121"/>
          </a:xfrm>
          <a:prstGeom prst="rect">
            <a:avLst/>
          </a:prstGeom>
          <a:solidFill>
            <a:srgbClr val="ECFCCB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2" name="Shape 28"/>
          <p:cNvSpPr/>
          <p:nvPr/>
        </p:nvSpPr>
        <p:spPr>
          <a:xfrm>
            <a:off x="548639" y="4069079"/>
            <a:ext cx="3566161" cy="73153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3" name="Text 29"/>
          <p:cNvSpPr txBox="1"/>
          <p:nvPr/>
        </p:nvSpPr>
        <p:spPr>
          <a:xfrm>
            <a:off x="731519" y="4320584"/>
            <a:ext cx="640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84CC16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84" name="Text 30"/>
          <p:cNvSpPr txBox="1"/>
          <p:nvPr/>
        </p:nvSpPr>
        <p:spPr>
          <a:xfrm>
            <a:off x="731519" y="4669790"/>
            <a:ext cx="3200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★ 역할 기반 매칭 점수</a:t>
            </a:r>
          </a:p>
        </p:txBody>
      </p:sp>
      <p:sp>
        <p:nvSpPr>
          <p:cNvPr id="585" name="Text 31"/>
          <p:cNvSpPr txBox="1"/>
          <p:nvPr/>
        </p:nvSpPr>
        <p:spPr>
          <a:xfrm>
            <a:off x="731519" y="5159965"/>
            <a:ext cx="3200401" cy="37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역할30 + 기술25 + 기간20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+ 관심15 + 포폴10 = 100점</a:t>
            </a:r>
          </a:p>
        </p:txBody>
      </p:sp>
      <p:sp>
        <p:nvSpPr>
          <p:cNvPr id="586" name="Shape 32"/>
          <p:cNvSpPr/>
          <p:nvPr/>
        </p:nvSpPr>
        <p:spPr>
          <a:xfrm>
            <a:off x="731519" y="5760720"/>
            <a:ext cx="3200401" cy="292609"/>
          </a:xfrm>
          <a:prstGeom prst="rect">
            <a:avLst/>
          </a:prstGeom>
          <a:solidFill>
            <a:srgbClr val="FFFFFF"/>
          </a:solidFill>
          <a:ln w="12700">
            <a:solidFill>
              <a:srgbClr val="84CC1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7" name="Text 33"/>
          <p:cNvSpPr txBox="1"/>
          <p:nvPr/>
        </p:nvSpPr>
        <p:spPr>
          <a:xfrm>
            <a:off x="822960" y="5837173"/>
            <a:ext cx="31089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84CC16"/>
                </a:solidFill>
              </a:defRPr>
            </a:pPr>
            <a:r>
              <a:t>● </a:t>
            </a:r>
            <a:r>
              <a:rPr b="0">
                <a:solidFill>
                  <a:srgbClr val="334155"/>
                </a:solidFill>
              </a:rPr>
              <a:t>MajorLink 차별점</a:t>
            </a:r>
          </a:p>
        </p:txBody>
      </p:sp>
      <p:sp>
        <p:nvSpPr>
          <p:cNvPr id="588" name="Shape 34"/>
          <p:cNvSpPr/>
          <p:nvPr/>
        </p:nvSpPr>
        <p:spPr>
          <a:xfrm>
            <a:off x="4251959" y="4069079"/>
            <a:ext cx="3566160" cy="210312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9" name="Shape 35"/>
          <p:cNvSpPr/>
          <p:nvPr/>
        </p:nvSpPr>
        <p:spPr>
          <a:xfrm>
            <a:off x="4251959" y="4069079"/>
            <a:ext cx="3566160" cy="7315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0" name="Text 36"/>
          <p:cNvSpPr txBox="1"/>
          <p:nvPr/>
        </p:nvSpPr>
        <p:spPr>
          <a:xfrm>
            <a:off x="4434840" y="4320584"/>
            <a:ext cx="640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5B4FE0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591" name="Text 37"/>
          <p:cNvSpPr txBox="1"/>
          <p:nvPr/>
        </p:nvSpPr>
        <p:spPr>
          <a:xfrm>
            <a:off x="4434840" y="4669790"/>
            <a:ext cx="3200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진행 관리 보드</a:t>
            </a:r>
          </a:p>
        </p:txBody>
      </p:sp>
      <p:sp>
        <p:nvSpPr>
          <p:cNvPr id="592" name="Text 38"/>
          <p:cNvSpPr txBox="1"/>
          <p:nvPr/>
        </p:nvSpPr>
        <p:spPr>
          <a:xfrm>
            <a:off x="4434840" y="5159965"/>
            <a:ext cx="3200401" cy="37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할 일·담당자·마감일·상태를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칸반형으로 가시화</a:t>
            </a:r>
          </a:p>
        </p:txBody>
      </p:sp>
      <p:sp>
        <p:nvSpPr>
          <p:cNvPr id="593" name="Shape 39"/>
          <p:cNvSpPr/>
          <p:nvPr/>
        </p:nvSpPr>
        <p:spPr>
          <a:xfrm>
            <a:off x="4434840" y="5760720"/>
            <a:ext cx="3200401" cy="292609"/>
          </a:xfrm>
          <a:prstGeom prst="rect">
            <a:avLst/>
          </a:prstGeom>
          <a:solidFill>
            <a:srgbClr val="FFFFFF"/>
          </a:solidFill>
          <a:ln w="12700">
            <a:solidFill>
              <a:srgbClr val="5B4F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4" name="Text 40"/>
          <p:cNvSpPr txBox="1"/>
          <p:nvPr/>
        </p:nvSpPr>
        <p:spPr>
          <a:xfrm>
            <a:off x="4526279" y="5837173"/>
            <a:ext cx="31089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5B4FE0"/>
                </a:solidFill>
              </a:defRPr>
            </a:pPr>
            <a:r>
              <a:t>● </a:t>
            </a:r>
            <a:r>
              <a:rPr b="0">
                <a:solidFill>
                  <a:srgbClr val="334155"/>
                </a:solidFill>
              </a:rPr>
              <a:t>Q9 26.9% 요청</a:t>
            </a:r>
          </a:p>
        </p:txBody>
      </p:sp>
      <p:sp>
        <p:nvSpPr>
          <p:cNvPr id="595" name="Shape 41"/>
          <p:cNvSpPr/>
          <p:nvPr/>
        </p:nvSpPr>
        <p:spPr>
          <a:xfrm>
            <a:off x="7955280" y="4069079"/>
            <a:ext cx="3566160" cy="210312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6" name="Shape 42"/>
          <p:cNvSpPr/>
          <p:nvPr/>
        </p:nvSpPr>
        <p:spPr>
          <a:xfrm>
            <a:off x="7955280" y="4069079"/>
            <a:ext cx="3566160" cy="7315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7" name="Text 43"/>
          <p:cNvSpPr txBox="1"/>
          <p:nvPr/>
        </p:nvSpPr>
        <p:spPr>
          <a:xfrm>
            <a:off x="8138159" y="4320584"/>
            <a:ext cx="640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5B4FE0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598" name="Text 44"/>
          <p:cNvSpPr txBox="1"/>
          <p:nvPr/>
        </p:nvSpPr>
        <p:spPr>
          <a:xfrm>
            <a:off x="8138159" y="4669790"/>
            <a:ext cx="3200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포트폴리오 자동 생성</a:t>
            </a:r>
          </a:p>
        </p:txBody>
      </p:sp>
      <p:sp>
        <p:nvSpPr>
          <p:cNvPr id="599" name="Text 45"/>
          <p:cNvSpPr txBox="1"/>
          <p:nvPr/>
        </p:nvSpPr>
        <p:spPr>
          <a:xfrm>
            <a:off x="8138159" y="5159965"/>
            <a:ext cx="3200401" cy="37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완료 시 역할·기여·기술·링크가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한 장 카드로 자동 정리</a:t>
            </a:r>
          </a:p>
        </p:txBody>
      </p:sp>
      <p:sp>
        <p:nvSpPr>
          <p:cNvPr id="600" name="Shape 46"/>
          <p:cNvSpPr/>
          <p:nvPr/>
        </p:nvSpPr>
        <p:spPr>
          <a:xfrm>
            <a:off x="8138159" y="5760720"/>
            <a:ext cx="3200401" cy="292609"/>
          </a:xfrm>
          <a:prstGeom prst="rect">
            <a:avLst/>
          </a:prstGeom>
          <a:solidFill>
            <a:srgbClr val="FFFFFF"/>
          </a:solidFill>
          <a:ln w="12700">
            <a:solidFill>
              <a:srgbClr val="5B4F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1" name="Text 47"/>
          <p:cNvSpPr txBox="1"/>
          <p:nvPr/>
        </p:nvSpPr>
        <p:spPr>
          <a:xfrm>
            <a:off x="8229600" y="5837173"/>
            <a:ext cx="31089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5B4FE0"/>
                </a:solidFill>
              </a:defRPr>
            </a:pPr>
            <a:r>
              <a:t>● </a:t>
            </a:r>
            <a:r>
              <a:rPr b="0">
                <a:solidFill>
                  <a:srgbClr val="334155"/>
                </a:solidFill>
              </a:rPr>
              <a:t>Q10 어려움 50%+</a:t>
            </a:r>
          </a:p>
        </p:txBody>
      </p:sp>
      <p:sp>
        <p:nvSpPr>
          <p:cNvPr id="602" name="Text 48"/>
          <p:cNvSpPr txBox="1"/>
          <p:nvPr/>
        </p:nvSpPr>
        <p:spPr>
          <a:xfrm>
            <a:off x="594359" y="6376669"/>
            <a:ext cx="1097280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64748B"/>
                </a:solidFill>
              </a:defRPr>
            </a:lvl1pPr>
          </a:lstStyle>
          <a:p>
            <a:pPr/>
            <a:r>
              <a:t>MVP 제외 (Phase 2 이관) → 소셜 로그인, 팀원 댓글/소통, 후기/평가, 공모전 정보 연동, 포트폴리오 PDF 내보내기, 반응형 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5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06" name="Text 2"/>
          <p:cNvSpPr txBox="1"/>
          <p:nvPr/>
        </p:nvSpPr>
        <p:spPr>
          <a:xfrm>
            <a:off x="1188719" y="456946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03.  CORE  ·  ★</a:t>
            </a:r>
          </a:p>
        </p:txBody>
      </p:sp>
      <p:sp>
        <p:nvSpPr>
          <p:cNvPr id="607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10 / 21</a:t>
            </a:r>
          </a:p>
        </p:txBody>
      </p:sp>
      <p:sp>
        <p:nvSpPr>
          <p:cNvPr id="608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역할 기반 매칭 점수 — 핵심 차별 기능</a:t>
            </a:r>
          </a:p>
        </p:txBody>
      </p:sp>
      <p:sp>
        <p:nvSpPr>
          <p:cNvPr id="609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610" name="Text 6"/>
          <p:cNvSpPr txBox="1"/>
          <p:nvPr/>
        </p:nvSpPr>
        <p:spPr>
          <a:xfrm>
            <a:off x="594359" y="1795780"/>
            <a:ext cx="53949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5B4FE0"/>
                </a:solidFill>
              </a:defRPr>
            </a:lvl1pPr>
          </a:lstStyle>
          <a:p>
            <a:pPr/>
            <a:r>
              <a:t>점수 구성 (총 100점)</a:t>
            </a:r>
          </a:p>
        </p:txBody>
      </p:sp>
      <p:sp>
        <p:nvSpPr>
          <p:cNvPr id="611" name="Text 7"/>
          <p:cNvSpPr txBox="1"/>
          <p:nvPr/>
        </p:nvSpPr>
        <p:spPr>
          <a:xfrm>
            <a:off x="548640" y="2373629"/>
            <a:ext cx="201167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역할 적합도</a:t>
            </a:r>
          </a:p>
        </p:txBody>
      </p:sp>
      <p:sp>
        <p:nvSpPr>
          <p:cNvPr id="612" name="Shape 8"/>
          <p:cNvSpPr/>
          <p:nvPr/>
        </p:nvSpPr>
        <p:spPr>
          <a:xfrm>
            <a:off x="2560320" y="2304288"/>
            <a:ext cx="4114801" cy="329185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3" name="Shape 9"/>
          <p:cNvSpPr/>
          <p:nvPr/>
        </p:nvSpPr>
        <p:spPr>
          <a:xfrm>
            <a:off x="2560320" y="2304288"/>
            <a:ext cx="4114801" cy="329185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4" name="Text 10"/>
          <p:cNvSpPr txBox="1"/>
          <p:nvPr/>
        </p:nvSpPr>
        <p:spPr>
          <a:xfrm>
            <a:off x="6766559" y="2367279"/>
            <a:ext cx="7315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5B4FE0"/>
                </a:solidFill>
              </a:defRPr>
            </a:lvl1pPr>
          </a:lstStyle>
          <a:p>
            <a:pPr/>
            <a:r>
              <a:t>30점</a:t>
            </a:r>
          </a:p>
        </p:txBody>
      </p:sp>
      <p:sp>
        <p:nvSpPr>
          <p:cNvPr id="615" name="Text 11"/>
          <p:cNvSpPr txBox="1"/>
          <p:nvPr/>
        </p:nvSpPr>
        <p:spPr>
          <a:xfrm>
            <a:off x="548640" y="2719070"/>
            <a:ext cx="6858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64748B"/>
                </a:solidFill>
              </a:defRPr>
            </a:lvl1pPr>
          </a:lstStyle>
          <a:p>
            <a:pPr/>
            <a:r>
              <a:t>지원자 희망 역할 ↔ 모집 역할 일치</a:t>
            </a:r>
          </a:p>
        </p:txBody>
      </p:sp>
      <p:sp>
        <p:nvSpPr>
          <p:cNvPr id="616" name="Text 12"/>
          <p:cNvSpPr txBox="1"/>
          <p:nvPr/>
        </p:nvSpPr>
        <p:spPr>
          <a:xfrm>
            <a:off x="548640" y="3150870"/>
            <a:ext cx="201167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기술 스택 일치</a:t>
            </a:r>
          </a:p>
        </p:txBody>
      </p:sp>
      <p:sp>
        <p:nvSpPr>
          <p:cNvPr id="617" name="Shape 13"/>
          <p:cNvSpPr/>
          <p:nvPr/>
        </p:nvSpPr>
        <p:spPr>
          <a:xfrm>
            <a:off x="2560320" y="3081527"/>
            <a:ext cx="4114801" cy="329185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8" name="Shape 14"/>
          <p:cNvSpPr/>
          <p:nvPr/>
        </p:nvSpPr>
        <p:spPr>
          <a:xfrm>
            <a:off x="2560320" y="3081527"/>
            <a:ext cx="3429001" cy="329185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9" name="Text 15"/>
          <p:cNvSpPr txBox="1"/>
          <p:nvPr/>
        </p:nvSpPr>
        <p:spPr>
          <a:xfrm>
            <a:off x="6766559" y="3144520"/>
            <a:ext cx="7315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0B981"/>
                </a:solidFill>
              </a:defRPr>
            </a:lvl1pPr>
          </a:lstStyle>
          <a:p>
            <a:pPr/>
            <a:r>
              <a:t>25점</a:t>
            </a:r>
          </a:p>
        </p:txBody>
      </p:sp>
      <p:sp>
        <p:nvSpPr>
          <p:cNvPr id="620" name="Text 16"/>
          <p:cNvSpPr txBox="1"/>
          <p:nvPr/>
        </p:nvSpPr>
        <p:spPr>
          <a:xfrm>
            <a:off x="548640" y="3496309"/>
            <a:ext cx="6858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64748B"/>
                </a:solidFill>
              </a:defRPr>
            </a:lvl1pPr>
          </a:lstStyle>
          <a:p>
            <a:pPr/>
            <a:r>
              <a:t>지원자 기술 ↔ 프로젝트 요구 기술</a:t>
            </a:r>
          </a:p>
        </p:txBody>
      </p:sp>
      <p:sp>
        <p:nvSpPr>
          <p:cNvPr id="621" name="Text 17"/>
          <p:cNvSpPr txBox="1"/>
          <p:nvPr/>
        </p:nvSpPr>
        <p:spPr>
          <a:xfrm>
            <a:off x="548640" y="3928109"/>
            <a:ext cx="201167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참여 가능 기간</a:t>
            </a:r>
          </a:p>
        </p:txBody>
      </p:sp>
      <p:sp>
        <p:nvSpPr>
          <p:cNvPr id="622" name="Shape 18"/>
          <p:cNvSpPr/>
          <p:nvPr/>
        </p:nvSpPr>
        <p:spPr>
          <a:xfrm>
            <a:off x="2560320" y="3858767"/>
            <a:ext cx="4114801" cy="329185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3" name="Shape 19"/>
          <p:cNvSpPr/>
          <p:nvPr/>
        </p:nvSpPr>
        <p:spPr>
          <a:xfrm>
            <a:off x="2560320" y="3858767"/>
            <a:ext cx="2743201" cy="329185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4" name="Text 20"/>
          <p:cNvSpPr txBox="1"/>
          <p:nvPr/>
        </p:nvSpPr>
        <p:spPr>
          <a:xfrm>
            <a:off x="6766559" y="3921759"/>
            <a:ext cx="7315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59E0B"/>
                </a:solidFill>
              </a:defRPr>
            </a:lvl1pPr>
          </a:lstStyle>
          <a:p>
            <a:pPr/>
            <a:r>
              <a:t>20점</a:t>
            </a:r>
          </a:p>
        </p:txBody>
      </p:sp>
      <p:sp>
        <p:nvSpPr>
          <p:cNvPr id="625" name="Text 21"/>
          <p:cNvSpPr txBox="1"/>
          <p:nvPr/>
        </p:nvSpPr>
        <p:spPr>
          <a:xfrm>
            <a:off x="548640" y="4273550"/>
            <a:ext cx="6858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64748B"/>
                </a:solidFill>
              </a:defRPr>
            </a:lvl1pPr>
          </a:lstStyle>
          <a:p>
            <a:pPr/>
            <a:r>
              <a:t>프로젝트 기간 ↔ 지원자 가용 기간</a:t>
            </a:r>
          </a:p>
        </p:txBody>
      </p:sp>
      <p:sp>
        <p:nvSpPr>
          <p:cNvPr id="626" name="Text 22"/>
          <p:cNvSpPr txBox="1"/>
          <p:nvPr/>
        </p:nvSpPr>
        <p:spPr>
          <a:xfrm>
            <a:off x="548640" y="4705350"/>
            <a:ext cx="201167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관심 분야 일치</a:t>
            </a:r>
          </a:p>
        </p:txBody>
      </p:sp>
      <p:sp>
        <p:nvSpPr>
          <p:cNvPr id="627" name="Shape 23"/>
          <p:cNvSpPr/>
          <p:nvPr/>
        </p:nvSpPr>
        <p:spPr>
          <a:xfrm>
            <a:off x="2560320" y="4636008"/>
            <a:ext cx="4114801" cy="329185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8" name="Shape 24"/>
          <p:cNvSpPr/>
          <p:nvPr/>
        </p:nvSpPr>
        <p:spPr>
          <a:xfrm>
            <a:off x="2560320" y="4636008"/>
            <a:ext cx="2057401" cy="329185"/>
          </a:xfrm>
          <a:prstGeom prst="rect">
            <a:avLst/>
          </a:prstGeom>
          <a:solidFill>
            <a:srgbClr val="EC48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9" name="Text 25"/>
          <p:cNvSpPr txBox="1"/>
          <p:nvPr/>
        </p:nvSpPr>
        <p:spPr>
          <a:xfrm>
            <a:off x="6766559" y="4698999"/>
            <a:ext cx="7315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EC4899"/>
                </a:solidFill>
              </a:defRPr>
            </a:lvl1pPr>
          </a:lstStyle>
          <a:p>
            <a:pPr/>
            <a:r>
              <a:t>15점</a:t>
            </a:r>
          </a:p>
        </p:txBody>
      </p:sp>
      <p:sp>
        <p:nvSpPr>
          <p:cNvPr id="630" name="Text 26"/>
          <p:cNvSpPr txBox="1"/>
          <p:nvPr/>
        </p:nvSpPr>
        <p:spPr>
          <a:xfrm>
            <a:off x="548640" y="5050789"/>
            <a:ext cx="6858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64748B"/>
                </a:solidFill>
              </a:defRPr>
            </a:lvl1pPr>
          </a:lstStyle>
          <a:p>
            <a:pPr/>
            <a:r>
              <a:t>지원자 관심 ↔ 프로젝트 도메인</a:t>
            </a:r>
          </a:p>
        </p:txBody>
      </p:sp>
      <p:sp>
        <p:nvSpPr>
          <p:cNvPr id="631" name="Text 27"/>
          <p:cNvSpPr txBox="1"/>
          <p:nvPr/>
        </p:nvSpPr>
        <p:spPr>
          <a:xfrm>
            <a:off x="548640" y="5482590"/>
            <a:ext cx="201167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F172A"/>
                </a:solidFill>
              </a:defRPr>
            </a:lvl1pPr>
          </a:lstStyle>
          <a:p>
            <a:pPr/>
            <a:r>
              <a:t>포트폴리오 완성도</a:t>
            </a:r>
          </a:p>
        </p:txBody>
      </p:sp>
      <p:sp>
        <p:nvSpPr>
          <p:cNvPr id="632" name="Shape 28"/>
          <p:cNvSpPr/>
          <p:nvPr/>
        </p:nvSpPr>
        <p:spPr>
          <a:xfrm>
            <a:off x="2560320" y="5413247"/>
            <a:ext cx="4114801" cy="329185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3" name="Shape 29"/>
          <p:cNvSpPr/>
          <p:nvPr/>
        </p:nvSpPr>
        <p:spPr>
          <a:xfrm>
            <a:off x="2560320" y="5413247"/>
            <a:ext cx="1371601" cy="329185"/>
          </a:xfrm>
          <a:prstGeom prst="rect">
            <a:avLst/>
          </a:prstGeom>
          <a:solidFill>
            <a:srgbClr val="14B8A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4" name="Text 30"/>
          <p:cNvSpPr txBox="1"/>
          <p:nvPr/>
        </p:nvSpPr>
        <p:spPr>
          <a:xfrm>
            <a:off x="6766559" y="5476240"/>
            <a:ext cx="7315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4B8A6"/>
                </a:solidFill>
              </a:defRPr>
            </a:lvl1pPr>
          </a:lstStyle>
          <a:p>
            <a:pPr/>
            <a:r>
              <a:t>10점</a:t>
            </a:r>
          </a:p>
        </p:txBody>
      </p:sp>
      <p:sp>
        <p:nvSpPr>
          <p:cNvPr id="635" name="Text 31"/>
          <p:cNvSpPr txBox="1"/>
          <p:nvPr/>
        </p:nvSpPr>
        <p:spPr>
          <a:xfrm>
            <a:off x="548640" y="5828029"/>
            <a:ext cx="6858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64748B"/>
                </a:solidFill>
              </a:defRPr>
            </a:lvl1pPr>
          </a:lstStyle>
          <a:p>
            <a:pPr/>
            <a:r>
              <a:t>GitHub/배포 링크 보유 여부</a:t>
            </a:r>
          </a:p>
        </p:txBody>
      </p:sp>
      <p:sp>
        <p:nvSpPr>
          <p:cNvPr id="636" name="Shape 32"/>
          <p:cNvSpPr/>
          <p:nvPr/>
        </p:nvSpPr>
        <p:spPr>
          <a:xfrm>
            <a:off x="7955280" y="1783079"/>
            <a:ext cx="3657601" cy="4754881"/>
          </a:xfrm>
          <a:prstGeom prst="rect">
            <a:avLst/>
          </a:prstGeom>
          <a:solidFill>
            <a:srgbClr val="2D2B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7" name="Text 33"/>
          <p:cNvSpPr txBox="1"/>
          <p:nvPr/>
        </p:nvSpPr>
        <p:spPr>
          <a:xfrm>
            <a:off x="8138159" y="1929130"/>
            <a:ext cx="329184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1100">
                <a:solidFill>
                  <a:srgbClr val="84CC16"/>
                </a:solidFill>
              </a:defRPr>
            </a:lvl1pPr>
          </a:lstStyle>
          <a:p>
            <a:pPr/>
            <a:r>
              <a:t>예시 — 이수민 (시각디자인 2)</a:t>
            </a:r>
          </a:p>
        </p:txBody>
      </p:sp>
      <p:sp>
        <p:nvSpPr>
          <p:cNvPr id="638" name="Shape 34"/>
          <p:cNvSpPr/>
          <p:nvPr/>
        </p:nvSpPr>
        <p:spPr>
          <a:xfrm>
            <a:off x="8869680" y="2331720"/>
            <a:ext cx="1828801" cy="1828801"/>
          </a:xfrm>
          <a:prstGeom prst="ellipse">
            <a:avLst/>
          </a:prstGeom>
          <a:solidFill>
            <a:srgbClr val="2D2B55"/>
          </a:solidFill>
          <a:ln w="101600">
            <a:solidFill>
              <a:srgbClr val="84CC1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9" name="Text 35"/>
          <p:cNvSpPr txBox="1"/>
          <p:nvPr/>
        </p:nvSpPr>
        <p:spPr>
          <a:xfrm>
            <a:off x="8869680" y="2922493"/>
            <a:ext cx="1828801" cy="647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5000">
                <a:solidFill>
                  <a:srgbClr val="FFFFFF"/>
                </a:solidFill>
              </a:defRPr>
            </a:lvl1pPr>
          </a:lstStyle>
          <a:p>
            <a:pPr/>
            <a:r>
              <a:t>87</a:t>
            </a:r>
          </a:p>
        </p:txBody>
      </p:sp>
      <p:sp>
        <p:nvSpPr>
          <p:cNvPr id="640" name="Shape 36"/>
          <p:cNvSpPr/>
          <p:nvPr/>
        </p:nvSpPr>
        <p:spPr>
          <a:xfrm>
            <a:off x="8686800" y="4343400"/>
            <a:ext cx="2194561" cy="320041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1" name="Text 37"/>
          <p:cNvSpPr txBox="1"/>
          <p:nvPr/>
        </p:nvSpPr>
        <p:spPr>
          <a:xfrm>
            <a:off x="8686800" y="4436286"/>
            <a:ext cx="21945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1100">
                <a:solidFill>
                  <a:srgbClr val="FFFFFF"/>
                </a:solidFill>
              </a:defRPr>
            </a:lvl1pPr>
          </a:lstStyle>
          <a:p>
            <a:pPr/>
            <a:r>
              <a:t>EXCELLENT</a:t>
            </a:r>
          </a:p>
        </p:txBody>
      </p:sp>
      <p:sp>
        <p:nvSpPr>
          <p:cNvPr id="642" name="Text 38"/>
          <p:cNvSpPr txBox="1"/>
          <p:nvPr/>
        </p:nvSpPr>
        <p:spPr>
          <a:xfrm>
            <a:off x="8183880" y="4890770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/>
            <a:r>
              <a:t>역할</a:t>
            </a:r>
          </a:p>
        </p:txBody>
      </p:sp>
      <p:sp>
        <p:nvSpPr>
          <p:cNvPr id="643" name="Text 39"/>
          <p:cNvSpPr txBox="1"/>
          <p:nvPr/>
        </p:nvSpPr>
        <p:spPr>
          <a:xfrm>
            <a:off x="10058400" y="4897120"/>
            <a:ext cx="1371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30/30</a:t>
            </a:r>
          </a:p>
        </p:txBody>
      </p:sp>
      <p:sp>
        <p:nvSpPr>
          <p:cNvPr id="644" name="Text 40"/>
          <p:cNvSpPr txBox="1"/>
          <p:nvPr/>
        </p:nvSpPr>
        <p:spPr>
          <a:xfrm>
            <a:off x="8183880" y="5183378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/>
            <a:r>
              <a:t>기술</a:t>
            </a:r>
          </a:p>
        </p:txBody>
      </p:sp>
      <p:sp>
        <p:nvSpPr>
          <p:cNvPr id="645" name="Text 41"/>
          <p:cNvSpPr txBox="1"/>
          <p:nvPr/>
        </p:nvSpPr>
        <p:spPr>
          <a:xfrm>
            <a:off x="10058400" y="5189728"/>
            <a:ext cx="1371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22/25</a:t>
            </a:r>
          </a:p>
        </p:txBody>
      </p:sp>
      <p:sp>
        <p:nvSpPr>
          <p:cNvPr id="646" name="Text 42"/>
          <p:cNvSpPr txBox="1"/>
          <p:nvPr/>
        </p:nvSpPr>
        <p:spPr>
          <a:xfrm>
            <a:off x="8183880" y="5475985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/>
            <a:r>
              <a:t>기간</a:t>
            </a:r>
          </a:p>
        </p:txBody>
      </p:sp>
      <p:sp>
        <p:nvSpPr>
          <p:cNvPr id="647" name="Text 43"/>
          <p:cNvSpPr txBox="1"/>
          <p:nvPr/>
        </p:nvSpPr>
        <p:spPr>
          <a:xfrm>
            <a:off x="10058400" y="5482335"/>
            <a:ext cx="1371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18/20</a:t>
            </a:r>
          </a:p>
        </p:txBody>
      </p:sp>
      <p:sp>
        <p:nvSpPr>
          <p:cNvPr id="648" name="Text 44"/>
          <p:cNvSpPr txBox="1"/>
          <p:nvPr/>
        </p:nvSpPr>
        <p:spPr>
          <a:xfrm>
            <a:off x="8183880" y="5768594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/>
            <a:r>
              <a:t>관심</a:t>
            </a:r>
          </a:p>
        </p:txBody>
      </p:sp>
      <p:sp>
        <p:nvSpPr>
          <p:cNvPr id="649" name="Text 45"/>
          <p:cNvSpPr txBox="1"/>
          <p:nvPr/>
        </p:nvSpPr>
        <p:spPr>
          <a:xfrm>
            <a:off x="10058400" y="5774944"/>
            <a:ext cx="1371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12/15</a:t>
            </a:r>
          </a:p>
        </p:txBody>
      </p:sp>
      <p:sp>
        <p:nvSpPr>
          <p:cNvPr id="650" name="Text 46"/>
          <p:cNvSpPr txBox="1"/>
          <p:nvPr/>
        </p:nvSpPr>
        <p:spPr>
          <a:xfrm>
            <a:off x="8183880" y="6061202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/>
            <a:r>
              <a:t>포폴</a:t>
            </a:r>
          </a:p>
        </p:txBody>
      </p:sp>
      <p:sp>
        <p:nvSpPr>
          <p:cNvPr id="651" name="Text 47"/>
          <p:cNvSpPr txBox="1"/>
          <p:nvPr/>
        </p:nvSpPr>
        <p:spPr>
          <a:xfrm>
            <a:off x="10058400" y="6067552"/>
            <a:ext cx="1371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5/10</a:t>
            </a:r>
          </a:p>
        </p:txBody>
      </p:sp>
      <p:sp>
        <p:nvSpPr>
          <p:cNvPr id="652" name="Shape 48"/>
          <p:cNvSpPr/>
          <p:nvPr/>
        </p:nvSpPr>
        <p:spPr>
          <a:xfrm>
            <a:off x="548639" y="6400800"/>
            <a:ext cx="11064242" cy="274321"/>
          </a:xfrm>
          <a:prstGeom prst="rect">
            <a:avLst/>
          </a:prstGeom>
          <a:solidFill>
            <a:srgbClr val="ECFCC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3" name="Text 49"/>
          <p:cNvSpPr txBox="1"/>
          <p:nvPr/>
        </p:nvSpPr>
        <p:spPr>
          <a:xfrm>
            <a:off x="640080" y="6461759"/>
            <a:ext cx="10972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84CC16"/>
                </a:solidFill>
              </a:defRPr>
            </a:pPr>
            <a:r>
              <a:t>구현 </a:t>
            </a:r>
            <a:r>
              <a:rPr b="0">
                <a:solidFill>
                  <a:srgbClr val="334155"/>
                </a:solidFill>
              </a:rPr>
              <a:t>백엔드 Service 계층에서 가중치 합산  ·  단위 테스트로 검증 가능  ·  베타 50~100명 5점 척도 만족도 수집 후 가중치 튜닝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B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6" name="Text 1"/>
          <p:cNvSpPr txBox="1"/>
          <p:nvPr/>
        </p:nvSpPr>
        <p:spPr>
          <a:xfrm>
            <a:off x="463295" y="206117"/>
            <a:ext cx="8778242" cy="41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역할 기반 매칭 점수 </a:t>
            </a:r>
            <a:r>
              <a:t>—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가중치 근거</a:t>
            </a:r>
          </a:p>
        </p:txBody>
      </p:sp>
      <p:sp>
        <p:nvSpPr>
          <p:cNvPr id="657" name="Text 2"/>
          <p:cNvSpPr txBox="1"/>
          <p:nvPr/>
        </p:nvSpPr>
        <p:spPr>
          <a:xfrm>
            <a:off x="8778240" y="319277"/>
            <a:ext cx="31699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200">
                <a:solidFill>
                  <a:srgbClr val="AACC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보완 슬라이드 </a:t>
            </a:r>
            <a:r>
              <a:t>03 / 06  |  MajorLink</a:t>
            </a:r>
          </a:p>
        </p:txBody>
      </p:sp>
      <p:sp>
        <p:nvSpPr>
          <p:cNvPr id="658" name="Text 3"/>
          <p:cNvSpPr txBox="1"/>
          <p:nvPr/>
        </p:nvSpPr>
        <p:spPr>
          <a:xfrm>
            <a:off x="463295" y="1007489"/>
            <a:ext cx="11265410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400">
                <a:solidFill>
                  <a:srgbClr val="2563E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설문 </a:t>
            </a:r>
            <a:r>
              <a:t>Q5 '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팀원 구하기에서 가장 어려웠던 점</a:t>
            </a:r>
            <a:r>
              <a:t>'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응답을 가중치 설계에 반영</a:t>
            </a:r>
          </a:p>
        </p:txBody>
      </p:sp>
      <p:sp>
        <p:nvSpPr>
          <p:cNvPr id="659" name="Text 4"/>
          <p:cNvSpPr txBox="1"/>
          <p:nvPr/>
        </p:nvSpPr>
        <p:spPr>
          <a:xfrm>
            <a:off x="463295" y="6600569"/>
            <a:ext cx="11265410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MajorLink  |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전공 기반 대학생 협업 플랫폼</a:t>
            </a:r>
          </a:p>
        </p:txBody>
      </p:sp>
      <p:sp>
        <p:nvSpPr>
          <p:cNvPr id="660" name="Shape 5"/>
          <p:cNvSpPr/>
          <p:nvPr/>
        </p:nvSpPr>
        <p:spPr>
          <a:xfrm>
            <a:off x="426720" y="1365503"/>
            <a:ext cx="2121408" cy="4657345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" name="Shape 6"/>
          <p:cNvSpPr/>
          <p:nvPr/>
        </p:nvSpPr>
        <p:spPr>
          <a:xfrm>
            <a:off x="426720" y="1365503"/>
            <a:ext cx="2121408" cy="560833"/>
          </a:xfrm>
          <a:prstGeom prst="rect">
            <a:avLst/>
          </a:prstGeom>
          <a:solidFill>
            <a:srgbClr val="1B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2" name="Text 7"/>
          <p:cNvSpPr txBox="1"/>
          <p:nvPr/>
        </p:nvSpPr>
        <p:spPr>
          <a:xfrm>
            <a:off x="426720" y="1461769"/>
            <a:ext cx="212140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30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점</a:t>
            </a:r>
          </a:p>
        </p:txBody>
      </p:sp>
      <p:sp>
        <p:nvSpPr>
          <p:cNvPr id="663" name="Text 8"/>
          <p:cNvSpPr txBox="1"/>
          <p:nvPr/>
        </p:nvSpPr>
        <p:spPr>
          <a:xfrm>
            <a:off x="426720" y="2149348"/>
            <a:ext cx="212140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4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역할</a:t>
            </a:r>
            <a:endParaRPr sz="1100"/>
          </a:p>
          <a:p>
            <a:pPr algn="ctr">
              <a:defRPr b="1" sz="14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적합도</a:t>
            </a:r>
          </a:p>
        </p:txBody>
      </p:sp>
      <p:sp>
        <p:nvSpPr>
          <p:cNvPr id="664" name="Text 9"/>
          <p:cNvSpPr txBox="1"/>
          <p:nvPr/>
        </p:nvSpPr>
        <p:spPr>
          <a:xfrm>
            <a:off x="524256" y="2804160"/>
            <a:ext cx="1926335" cy="555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역할 분담 불명확</a:t>
            </a:r>
            <a:endParaRPr sz="800"/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26.9%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응답 </a:t>
            </a: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역할 미스매치가 팀 실패 </a:t>
            </a:r>
            <a:r>
              <a:t>1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원인</a:t>
            </a:r>
          </a:p>
        </p:txBody>
      </p:sp>
      <p:sp>
        <p:nvSpPr>
          <p:cNvPr id="665" name="Shape 10"/>
          <p:cNvSpPr/>
          <p:nvPr/>
        </p:nvSpPr>
        <p:spPr>
          <a:xfrm>
            <a:off x="573023" y="5510784"/>
            <a:ext cx="1828801" cy="316993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6" name="Text 11"/>
          <p:cNvSpPr txBox="1"/>
          <p:nvPr/>
        </p:nvSpPr>
        <p:spPr>
          <a:xfrm>
            <a:off x="573023" y="5593080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Q5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근거</a:t>
            </a:r>
          </a:p>
        </p:txBody>
      </p:sp>
      <p:sp>
        <p:nvSpPr>
          <p:cNvPr id="667" name="Shape 12"/>
          <p:cNvSpPr/>
          <p:nvPr/>
        </p:nvSpPr>
        <p:spPr>
          <a:xfrm>
            <a:off x="2718816" y="1365503"/>
            <a:ext cx="2121408" cy="4657345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8" name="Shape 13"/>
          <p:cNvSpPr/>
          <p:nvPr/>
        </p:nvSpPr>
        <p:spPr>
          <a:xfrm>
            <a:off x="2718816" y="1365503"/>
            <a:ext cx="2121408" cy="560833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9" name="Text 14"/>
          <p:cNvSpPr txBox="1"/>
          <p:nvPr/>
        </p:nvSpPr>
        <p:spPr>
          <a:xfrm>
            <a:off x="2718816" y="1461769"/>
            <a:ext cx="212140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25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점</a:t>
            </a:r>
          </a:p>
        </p:txBody>
      </p:sp>
      <p:sp>
        <p:nvSpPr>
          <p:cNvPr id="670" name="Text 15"/>
          <p:cNvSpPr txBox="1"/>
          <p:nvPr/>
        </p:nvSpPr>
        <p:spPr>
          <a:xfrm>
            <a:off x="2718816" y="2143123"/>
            <a:ext cx="2121408" cy="444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4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기술 스택</a:t>
            </a:r>
            <a:endParaRPr sz="1100"/>
          </a:p>
          <a:p>
            <a:pPr algn="ctr">
              <a:defRPr b="1" sz="14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일치</a:t>
            </a:r>
          </a:p>
        </p:txBody>
      </p:sp>
      <p:sp>
        <p:nvSpPr>
          <p:cNvPr id="671" name="Text 16"/>
          <p:cNvSpPr txBox="1"/>
          <p:nvPr/>
        </p:nvSpPr>
        <p:spPr>
          <a:xfrm>
            <a:off x="2816351" y="2804160"/>
            <a:ext cx="1926336" cy="555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지원자 실력 확인</a:t>
            </a:r>
            <a:endParaRPr sz="800"/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어려움 </a:t>
            </a:r>
            <a:r>
              <a:t>42.3% 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기술이 실력의 대리 지표</a:t>
            </a:r>
          </a:p>
        </p:txBody>
      </p:sp>
      <p:sp>
        <p:nvSpPr>
          <p:cNvPr id="672" name="Shape 17"/>
          <p:cNvSpPr/>
          <p:nvPr/>
        </p:nvSpPr>
        <p:spPr>
          <a:xfrm>
            <a:off x="2865120" y="5510784"/>
            <a:ext cx="1828801" cy="316993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3" name="Text 18"/>
          <p:cNvSpPr txBox="1"/>
          <p:nvPr/>
        </p:nvSpPr>
        <p:spPr>
          <a:xfrm>
            <a:off x="2865120" y="5593080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Q5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근거</a:t>
            </a:r>
          </a:p>
        </p:txBody>
      </p:sp>
      <p:sp>
        <p:nvSpPr>
          <p:cNvPr id="674" name="Shape 19"/>
          <p:cNvSpPr/>
          <p:nvPr/>
        </p:nvSpPr>
        <p:spPr>
          <a:xfrm>
            <a:off x="5010911" y="1365503"/>
            <a:ext cx="2121409" cy="4657345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" name="Shape 20"/>
          <p:cNvSpPr/>
          <p:nvPr/>
        </p:nvSpPr>
        <p:spPr>
          <a:xfrm>
            <a:off x="5010911" y="1365503"/>
            <a:ext cx="2121409" cy="560833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6" name="Text 21"/>
          <p:cNvSpPr txBox="1"/>
          <p:nvPr/>
        </p:nvSpPr>
        <p:spPr>
          <a:xfrm>
            <a:off x="5010911" y="1461769"/>
            <a:ext cx="2121409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20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점</a:t>
            </a:r>
          </a:p>
        </p:txBody>
      </p:sp>
      <p:sp>
        <p:nvSpPr>
          <p:cNvPr id="677" name="Text 22"/>
          <p:cNvSpPr txBox="1"/>
          <p:nvPr/>
        </p:nvSpPr>
        <p:spPr>
          <a:xfrm>
            <a:off x="5010911" y="2143123"/>
            <a:ext cx="2121409" cy="444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4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참여 기간</a:t>
            </a:r>
            <a:endParaRPr sz="1100"/>
          </a:p>
          <a:p>
            <a:pPr algn="ctr">
              <a:defRPr b="1" sz="14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중복</a:t>
            </a:r>
          </a:p>
        </p:txBody>
      </p:sp>
      <p:sp>
        <p:nvSpPr>
          <p:cNvPr id="678" name="Text 23"/>
          <p:cNvSpPr txBox="1"/>
          <p:nvPr/>
        </p:nvSpPr>
        <p:spPr>
          <a:xfrm>
            <a:off x="5108447" y="2804160"/>
            <a:ext cx="1926336" cy="576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연락 끊김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참여도</a:t>
            </a:r>
            <a:endParaRPr sz="800"/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낮음 </a:t>
            </a:r>
            <a:r>
              <a:t>28.8% 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기간 불일치가 주원인</a:t>
            </a:r>
          </a:p>
        </p:txBody>
      </p:sp>
      <p:sp>
        <p:nvSpPr>
          <p:cNvPr id="679" name="Shape 24"/>
          <p:cNvSpPr/>
          <p:nvPr/>
        </p:nvSpPr>
        <p:spPr>
          <a:xfrm>
            <a:off x="5157215" y="5510784"/>
            <a:ext cx="1828801" cy="316993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0" name="Text 25"/>
          <p:cNvSpPr txBox="1"/>
          <p:nvPr/>
        </p:nvSpPr>
        <p:spPr>
          <a:xfrm>
            <a:off x="5157215" y="5593080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Q5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근거</a:t>
            </a:r>
          </a:p>
        </p:txBody>
      </p:sp>
      <p:sp>
        <p:nvSpPr>
          <p:cNvPr id="681" name="Shape 26"/>
          <p:cNvSpPr/>
          <p:nvPr/>
        </p:nvSpPr>
        <p:spPr>
          <a:xfrm>
            <a:off x="7303007" y="1365503"/>
            <a:ext cx="2121409" cy="4657345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" name="Shape 27"/>
          <p:cNvSpPr/>
          <p:nvPr/>
        </p:nvSpPr>
        <p:spPr>
          <a:xfrm>
            <a:off x="7303007" y="1365503"/>
            <a:ext cx="2121409" cy="560833"/>
          </a:xfrm>
          <a:prstGeom prst="rect">
            <a:avLst/>
          </a:prstGeom>
          <a:solidFill>
            <a:srgbClr val="6D28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3" name="Text 28"/>
          <p:cNvSpPr txBox="1"/>
          <p:nvPr/>
        </p:nvSpPr>
        <p:spPr>
          <a:xfrm>
            <a:off x="7303007" y="1461769"/>
            <a:ext cx="2121409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15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점</a:t>
            </a:r>
          </a:p>
        </p:txBody>
      </p:sp>
      <p:sp>
        <p:nvSpPr>
          <p:cNvPr id="684" name="Text 29"/>
          <p:cNvSpPr txBox="1"/>
          <p:nvPr/>
        </p:nvSpPr>
        <p:spPr>
          <a:xfrm>
            <a:off x="7303007" y="2143123"/>
            <a:ext cx="2121409" cy="444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4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관심 분야</a:t>
            </a:r>
            <a:endParaRPr sz="1100"/>
          </a:p>
          <a:p>
            <a:pPr algn="ctr">
              <a:defRPr b="1" sz="14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일치</a:t>
            </a:r>
          </a:p>
        </p:txBody>
      </p:sp>
      <p:sp>
        <p:nvSpPr>
          <p:cNvPr id="685" name="Text 30"/>
          <p:cNvSpPr txBox="1"/>
          <p:nvPr/>
        </p:nvSpPr>
        <p:spPr>
          <a:xfrm>
            <a:off x="7400543" y="2804160"/>
            <a:ext cx="1926336" cy="349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도메인 관심 없으면</a:t>
            </a:r>
            <a:endParaRPr sz="800"/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프로젝트 지속 동기 낮아짐</a:t>
            </a:r>
          </a:p>
        </p:txBody>
      </p:sp>
      <p:sp>
        <p:nvSpPr>
          <p:cNvPr id="686" name="Shape 31"/>
          <p:cNvSpPr/>
          <p:nvPr/>
        </p:nvSpPr>
        <p:spPr>
          <a:xfrm>
            <a:off x="7449311" y="5510784"/>
            <a:ext cx="1828801" cy="316993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7" name="Text 32"/>
          <p:cNvSpPr txBox="1"/>
          <p:nvPr/>
        </p:nvSpPr>
        <p:spPr>
          <a:xfrm>
            <a:off x="7449311" y="5588634"/>
            <a:ext cx="18288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기획 가설</a:t>
            </a:r>
          </a:p>
        </p:txBody>
      </p:sp>
      <p:sp>
        <p:nvSpPr>
          <p:cNvPr id="688" name="Shape 33"/>
          <p:cNvSpPr/>
          <p:nvPr/>
        </p:nvSpPr>
        <p:spPr>
          <a:xfrm>
            <a:off x="9595104" y="1365503"/>
            <a:ext cx="2121409" cy="4657345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9" name="Shape 34"/>
          <p:cNvSpPr/>
          <p:nvPr/>
        </p:nvSpPr>
        <p:spPr>
          <a:xfrm>
            <a:off x="9595104" y="1365503"/>
            <a:ext cx="2121409" cy="560833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0" name="Text 35"/>
          <p:cNvSpPr txBox="1"/>
          <p:nvPr/>
        </p:nvSpPr>
        <p:spPr>
          <a:xfrm>
            <a:off x="9595104" y="1461769"/>
            <a:ext cx="2121409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10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점</a:t>
            </a:r>
          </a:p>
        </p:txBody>
      </p:sp>
      <p:sp>
        <p:nvSpPr>
          <p:cNvPr id="691" name="Text 36"/>
          <p:cNvSpPr txBox="1"/>
          <p:nvPr/>
        </p:nvSpPr>
        <p:spPr>
          <a:xfrm>
            <a:off x="9595104" y="2149348"/>
            <a:ext cx="212140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4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포트폴리오</a:t>
            </a:r>
            <a:endParaRPr sz="1100"/>
          </a:p>
          <a:p>
            <a:pPr algn="ctr">
              <a:defRPr b="1" sz="14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보유</a:t>
            </a:r>
          </a:p>
        </p:txBody>
      </p:sp>
      <p:sp>
        <p:nvSpPr>
          <p:cNvPr id="692" name="Text 37"/>
          <p:cNvSpPr txBox="1"/>
          <p:nvPr/>
        </p:nvSpPr>
        <p:spPr>
          <a:xfrm>
            <a:off x="9692640" y="2804160"/>
            <a:ext cx="1926336" cy="349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실력 검증 보조 지표</a:t>
            </a:r>
            <a:endParaRPr sz="800"/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(GitHub·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배포 링크</a:t>
            </a:r>
            <a:r>
              <a:t>)</a:t>
            </a:r>
          </a:p>
        </p:txBody>
      </p:sp>
      <p:sp>
        <p:nvSpPr>
          <p:cNvPr id="693" name="Shape 38"/>
          <p:cNvSpPr/>
          <p:nvPr/>
        </p:nvSpPr>
        <p:spPr>
          <a:xfrm>
            <a:off x="9741407" y="5510784"/>
            <a:ext cx="1828801" cy="316993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4" name="Text 39"/>
          <p:cNvSpPr txBox="1"/>
          <p:nvPr/>
        </p:nvSpPr>
        <p:spPr>
          <a:xfrm>
            <a:off x="9741407" y="5588634"/>
            <a:ext cx="1828801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기획 가설</a:t>
            </a:r>
          </a:p>
        </p:txBody>
      </p:sp>
      <p:sp>
        <p:nvSpPr>
          <p:cNvPr id="695" name="Shape 40"/>
          <p:cNvSpPr/>
          <p:nvPr/>
        </p:nvSpPr>
        <p:spPr>
          <a:xfrm>
            <a:off x="426720" y="6144767"/>
            <a:ext cx="11338560" cy="341377"/>
          </a:xfrm>
          <a:prstGeom prst="rect">
            <a:avLst/>
          </a:prstGeom>
          <a:solidFill>
            <a:srgbClr val="DBEAF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6" name="Text 41"/>
          <p:cNvSpPr txBox="1"/>
          <p:nvPr/>
        </p:nvSpPr>
        <p:spPr>
          <a:xfrm>
            <a:off x="426720" y="6220205"/>
            <a:ext cx="113385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1B3A6B"/>
                </a:solidFill>
              </a:defRPr>
            </a:pPr>
            <a:r>
              <a:t>※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초기 가중치는 설문 기반 가설 </a:t>
            </a:r>
            <a:r>
              <a:t>—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베타 출시 후 실제 팀 매칭 성공률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팀원 평점 데이터로 조정 예정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B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9" name="Text 1"/>
          <p:cNvSpPr txBox="1"/>
          <p:nvPr/>
        </p:nvSpPr>
        <p:spPr>
          <a:xfrm>
            <a:off x="463295" y="206117"/>
            <a:ext cx="8778242" cy="41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포트폴리오 </a:t>
            </a:r>
            <a:r>
              <a:t>—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활동 데이터 기반 자동 집계</a:t>
            </a:r>
          </a:p>
        </p:txBody>
      </p:sp>
      <p:sp>
        <p:nvSpPr>
          <p:cNvPr id="700" name="Text 2"/>
          <p:cNvSpPr txBox="1"/>
          <p:nvPr/>
        </p:nvSpPr>
        <p:spPr>
          <a:xfrm>
            <a:off x="8778240" y="319277"/>
            <a:ext cx="31699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200">
                <a:solidFill>
                  <a:srgbClr val="AACC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보완 슬라이드 </a:t>
            </a:r>
            <a:r>
              <a:t>04 / 06  |  MajorLink</a:t>
            </a:r>
          </a:p>
        </p:txBody>
      </p:sp>
      <p:sp>
        <p:nvSpPr>
          <p:cNvPr id="701" name="Text 3"/>
          <p:cNvSpPr txBox="1"/>
          <p:nvPr/>
        </p:nvSpPr>
        <p:spPr>
          <a:xfrm>
            <a:off x="463295" y="1007489"/>
            <a:ext cx="11265410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400">
                <a:solidFill>
                  <a:srgbClr val="2563EB"/>
                </a:solidFill>
              </a:defRPr>
            </a:pP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자동 생성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이 아니라 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프로젝트 활동이 쌓이면 알아서 채워지는 것</a:t>
            </a:r>
            <a:r>
              <a:t>"</a:t>
            </a:r>
          </a:p>
        </p:txBody>
      </p:sp>
      <p:sp>
        <p:nvSpPr>
          <p:cNvPr id="702" name="Text 4"/>
          <p:cNvSpPr txBox="1"/>
          <p:nvPr/>
        </p:nvSpPr>
        <p:spPr>
          <a:xfrm>
            <a:off x="463295" y="6600569"/>
            <a:ext cx="11265410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MajorLink  |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전공 기반 대학생 협업 플랫폼</a:t>
            </a:r>
          </a:p>
        </p:txBody>
      </p:sp>
      <p:sp>
        <p:nvSpPr>
          <p:cNvPr id="703" name="Shape 5"/>
          <p:cNvSpPr/>
          <p:nvPr/>
        </p:nvSpPr>
        <p:spPr>
          <a:xfrm>
            <a:off x="341376" y="1316736"/>
            <a:ext cx="2097024" cy="780289"/>
          </a:xfrm>
          <a:prstGeom prst="rect">
            <a:avLst/>
          </a:prstGeom>
          <a:solidFill>
            <a:srgbClr val="1B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4" name="Text 6"/>
          <p:cNvSpPr txBox="1"/>
          <p:nvPr/>
        </p:nvSpPr>
        <p:spPr>
          <a:xfrm>
            <a:off x="341376" y="1586229"/>
            <a:ext cx="2097024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역할 지원</a:t>
            </a:r>
          </a:p>
        </p:txBody>
      </p:sp>
      <p:sp>
        <p:nvSpPr>
          <p:cNvPr id="705" name="Text 7"/>
          <p:cNvSpPr txBox="1"/>
          <p:nvPr/>
        </p:nvSpPr>
        <p:spPr>
          <a:xfrm>
            <a:off x="2438400" y="1586056"/>
            <a:ext cx="219456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B3A6B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06" name="Shape 8"/>
          <p:cNvSpPr/>
          <p:nvPr/>
        </p:nvSpPr>
        <p:spPr>
          <a:xfrm>
            <a:off x="2657855" y="1316736"/>
            <a:ext cx="2097025" cy="780289"/>
          </a:xfrm>
          <a:prstGeom prst="rect">
            <a:avLst/>
          </a:prstGeom>
          <a:solidFill>
            <a:srgbClr val="1B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7" name="Text 9"/>
          <p:cNvSpPr txBox="1"/>
          <p:nvPr/>
        </p:nvSpPr>
        <p:spPr>
          <a:xfrm>
            <a:off x="2657855" y="1490979"/>
            <a:ext cx="2097025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기술 스택</a:t>
            </a:r>
            <a:endParaRPr sz="900"/>
          </a:p>
          <a:p>
            <a:pPr algn="ctr">
              <a:defRPr b="1"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등록</a:t>
            </a:r>
          </a:p>
        </p:txBody>
      </p:sp>
      <p:sp>
        <p:nvSpPr>
          <p:cNvPr id="708" name="Text 10"/>
          <p:cNvSpPr txBox="1"/>
          <p:nvPr/>
        </p:nvSpPr>
        <p:spPr>
          <a:xfrm>
            <a:off x="4754879" y="1586056"/>
            <a:ext cx="219457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B3A6B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09" name="Shape 11"/>
          <p:cNvSpPr/>
          <p:nvPr/>
        </p:nvSpPr>
        <p:spPr>
          <a:xfrm>
            <a:off x="4974335" y="1316736"/>
            <a:ext cx="2097025" cy="780289"/>
          </a:xfrm>
          <a:prstGeom prst="rect">
            <a:avLst/>
          </a:prstGeom>
          <a:solidFill>
            <a:srgbClr val="1B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0" name="Text 12"/>
          <p:cNvSpPr txBox="1"/>
          <p:nvPr/>
        </p:nvSpPr>
        <p:spPr>
          <a:xfrm>
            <a:off x="4974335" y="1490979"/>
            <a:ext cx="2097025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태스크</a:t>
            </a:r>
            <a:endParaRPr sz="900"/>
          </a:p>
          <a:p>
            <a:pPr algn="ctr">
              <a:defRPr b="1"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완료</a:t>
            </a:r>
          </a:p>
        </p:txBody>
      </p:sp>
      <p:sp>
        <p:nvSpPr>
          <p:cNvPr id="711" name="Text 13"/>
          <p:cNvSpPr txBox="1"/>
          <p:nvPr/>
        </p:nvSpPr>
        <p:spPr>
          <a:xfrm>
            <a:off x="7071359" y="1586056"/>
            <a:ext cx="219457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B3A6B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12" name="Shape 14"/>
          <p:cNvSpPr/>
          <p:nvPr/>
        </p:nvSpPr>
        <p:spPr>
          <a:xfrm>
            <a:off x="7290816" y="1316736"/>
            <a:ext cx="2097025" cy="780289"/>
          </a:xfrm>
          <a:prstGeom prst="rect">
            <a:avLst/>
          </a:prstGeom>
          <a:solidFill>
            <a:srgbClr val="1B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3" name="Text 15"/>
          <p:cNvSpPr txBox="1"/>
          <p:nvPr/>
        </p:nvSpPr>
        <p:spPr>
          <a:xfrm>
            <a:off x="7290816" y="1490979"/>
            <a:ext cx="2097025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결과물 링크</a:t>
            </a:r>
            <a:endParaRPr sz="900"/>
          </a:p>
          <a:p>
            <a:pPr algn="ctr">
              <a:defRPr b="1"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등록</a:t>
            </a:r>
          </a:p>
        </p:txBody>
      </p:sp>
      <p:sp>
        <p:nvSpPr>
          <p:cNvPr id="714" name="Text 16"/>
          <p:cNvSpPr txBox="1"/>
          <p:nvPr/>
        </p:nvSpPr>
        <p:spPr>
          <a:xfrm>
            <a:off x="9387840" y="1586056"/>
            <a:ext cx="219457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B3A6B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15" name="Shape 17"/>
          <p:cNvSpPr/>
          <p:nvPr/>
        </p:nvSpPr>
        <p:spPr>
          <a:xfrm>
            <a:off x="9607295" y="1316736"/>
            <a:ext cx="2097025" cy="780289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6" name="Text 18"/>
          <p:cNvSpPr txBox="1"/>
          <p:nvPr/>
        </p:nvSpPr>
        <p:spPr>
          <a:xfrm>
            <a:off x="9607295" y="1474162"/>
            <a:ext cx="2097025" cy="465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포트폴리오</a:t>
            </a:r>
            <a:endParaRPr sz="900"/>
          </a:p>
          <a:p>
            <a:pPr algn="ctr">
              <a:defRPr b="1" sz="12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자동 완성</a:t>
            </a:r>
          </a:p>
        </p:txBody>
      </p:sp>
      <p:sp>
        <p:nvSpPr>
          <p:cNvPr id="717" name="Shape 19"/>
          <p:cNvSpPr/>
          <p:nvPr/>
        </p:nvSpPr>
        <p:spPr>
          <a:xfrm>
            <a:off x="426720" y="2316479"/>
            <a:ext cx="5669280" cy="3925825"/>
          </a:xfrm>
          <a:prstGeom prst="rect">
            <a:avLst/>
          </a:prstGeom>
          <a:solidFill>
            <a:srgbClr val="D1FAE5"/>
          </a:solidFill>
          <a:ln w="16933">
            <a:solidFill>
              <a:srgbClr val="059669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" name="Shape 20"/>
          <p:cNvSpPr/>
          <p:nvPr/>
        </p:nvSpPr>
        <p:spPr>
          <a:xfrm>
            <a:off x="426720" y="2316479"/>
            <a:ext cx="5669280" cy="512065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9" name="Text 21"/>
          <p:cNvSpPr txBox="1"/>
          <p:nvPr/>
        </p:nvSpPr>
        <p:spPr>
          <a:xfrm>
            <a:off x="426720" y="2463559"/>
            <a:ext cx="5669280" cy="21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자동으로 채워지는 항목 </a:t>
            </a:r>
            <a:r>
              <a:t>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사용자 입력 불필요</a:t>
            </a:r>
            <a:r>
              <a:t>)</a:t>
            </a:r>
          </a:p>
        </p:txBody>
      </p:sp>
      <p:sp>
        <p:nvSpPr>
          <p:cNvPr id="720" name="Text 22"/>
          <p:cNvSpPr txBox="1"/>
          <p:nvPr/>
        </p:nvSpPr>
        <p:spPr>
          <a:xfrm>
            <a:off x="646175" y="3086862"/>
            <a:ext cx="521817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●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역할 </a:t>
            </a:r>
            <a:r>
              <a:rPr b="0">
                <a:solidFill>
                  <a:srgbClr val="1E293B"/>
                </a:solidFill>
              </a:rPr>
              <a:t>—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지원 시 선택한 역할 그대로</a:t>
            </a:r>
          </a:p>
        </p:txBody>
      </p:sp>
      <p:sp>
        <p:nvSpPr>
          <p:cNvPr id="721" name="Text 23"/>
          <p:cNvSpPr txBox="1"/>
          <p:nvPr/>
        </p:nvSpPr>
        <p:spPr>
          <a:xfrm>
            <a:off x="646175" y="3598926"/>
            <a:ext cx="521817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●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기술 스택 </a:t>
            </a:r>
            <a:r>
              <a:rPr b="0">
                <a:solidFill>
                  <a:srgbClr val="1E293B"/>
                </a:solidFill>
              </a:rPr>
              <a:t>—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프로필 등록 기술 자동 연동</a:t>
            </a:r>
          </a:p>
        </p:txBody>
      </p:sp>
      <p:sp>
        <p:nvSpPr>
          <p:cNvPr id="722" name="Text 24"/>
          <p:cNvSpPr txBox="1"/>
          <p:nvPr/>
        </p:nvSpPr>
        <p:spPr>
          <a:xfrm>
            <a:off x="646175" y="4110989"/>
            <a:ext cx="521817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●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프로젝트 기간 </a:t>
            </a:r>
            <a:r>
              <a:rPr b="0">
                <a:solidFill>
                  <a:srgbClr val="1E293B"/>
                </a:solidFill>
              </a:rPr>
              <a:t>—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시작일</a:t>
            </a:r>
            <a:r>
              <a:rPr b="0">
                <a:solidFill>
                  <a:srgbClr val="1E293B"/>
                </a:solidFill>
              </a:rPr>
              <a:t>~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완료일 자동</a:t>
            </a:r>
          </a:p>
        </p:txBody>
      </p:sp>
      <p:sp>
        <p:nvSpPr>
          <p:cNvPr id="723" name="Text 25"/>
          <p:cNvSpPr txBox="1"/>
          <p:nvPr/>
        </p:nvSpPr>
        <p:spPr>
          <a:xfrm>
            <a:off x="646175" y="4623053"/>
            <a:ext cx="521817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●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완료 태스크 목록 </a:t>
            </a:r>
            <a:r>
              <a:rPr b="0">
                <a:solidFill>
                  <a:srgbClr val="1E293B"/>
                </a:solidFill>
              </a:rPr>
              <a:t>— DONE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상태 자동 집계</a:t>
            </a:r>
          </a:p>
        </p:txBody>
      </p:sp>
      <p:sp>
        <p:nvSpPr>
          <p:cNvPr id="724" name="Text 26"/>
          <p:cNvSpPr txBox="1"/>
          <p:nvPr/>
        </p:nvSpPr>
        <p:spPr>
          <a:xfrm>
            <a:off x="646175" y="5135117"/>
            <a:ext cx="521817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●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결과물 링크 </a:t>
            </a:r>
            <a:r>
              <a:rPr b="0">
                <a:solidFill>
                  <a:srgbClr val="1E293B"/>
                </a:solidFill>
              </a:rPr>
              <a:t>—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진행 중 등록한 </a:t>
            </a:r>
            <a:r>
              <a:rPr b="0">
                <a:solidFill>
                  <a:srgbClr val="1E293B"/>
                </a:solidFill>
              </a:rPr>
              <a:t>GitHub/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배포 </a:t>
            </a:r>
            <a:r>
              <a:rPr b="0">
                <a:solidFill>
                  <a:srgbClr val="1E293B"/>
                </a:solidFill>
              </a:rPr>
              <a:t>URL</a:t>
            </a:r>
          </a:p>
        </p:txBody>
      </p:sp>
      <p:sp>
        <p:nvSpPr>
          <p:cNvPr id="725" name="Text 27"/>
          <p:cNvSpPr txBox="1"/>
          <p:nvPr/>
        </p:nvSpPr>
        <p:spPr>
          <a:xfrm>
            <a:off x="646175" y="5647182"/>
            <a:ext cx="521817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● 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팀 규모 </a:t>
            </a:r>
            <a:r>
              <a:rPr b="0">
                <a:solidFill>
                  <a:srgbClr val="1E293B"/>
                </a:solidFill>
              </a:rPr>
              <a:t>— </a:t>
            </a:r>
            <a:r>
              <a:rPr b="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승인된 팀원 수 자동</a:t>
            </a:r>
          </a:p>
        </p:txBody>
      </p:sp>
      <p:sp>
        <p:nvSpPr>
          <p:cNvPr id="726" name="Shape 28"/>
          <p:cNvSpPr/>
          <p:nvPr/>
        </p:nvSpPr>
        <p:spPr>
          <a:xfrm>
            <a:off x="6278879" y="2316479"/>
            <a:ext cx="5486401" cy="3925825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" name="Shape 29"/>
          <p:cNvSpPr/>
          <p:nvPr/>
        </p:nvSpPr>
        <p:spPr>
          <a:xfrm>
            <a:off x="6278879" y="2316479"/>
            <a:ext cx="5486401" cy="512065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8" name="Text 30"/>
          <p:cNvSpPr txBox="1"/>
          <p:nvPr/>
        </p:nvSpPr>
        <p:spPr>
          <a:xfrm>
            <a:off x="6278879" y="2465131"/>
            <a:ext cx="5486401" cy="214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✍  사용자가 직접 입력하는 항목 </a:t>
            </a:r>
            <a:r>
              <a:t>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최소화</a:t>
            </a:r>
            <a:r>
              <a:t>)</a:t>
            </a:r>
          </a:p>
        </p:txBody>
      </p:sp>
      <p:sp>
        <p:nvSpPr>
          <p:cNvPr id="729" name="Text 31"/>
          <p:cNvSpPr txBox="1"/>
          <p:nvPr/>
        </p:nvSpPr>
        <p:spPr>
          <a:xfrm>
            <a:off x="6498335" y="3097543"/>
            <a:ext cx="4998721" cy="21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✎  </a:t>
            </a:r>
            <a:r>
              <a:rPr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기여 한 줄 요약 </a:t>
            </a:r>
            <a:r>
              <a:rPr>
                <a:solidFill>
                  <a:srgbClr val="1E293B"/>
                </a:solidFill>
              </a:rPr>
              <a:t>(</a:t>
            </a:r>
            <a:r>
              <a:rPr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필수</a:t>
            </a:r>
            <a:r>
              <a:rPr>
                <a:solidFill>
                  <a:srgbClr val="1E293B"/>
                </a:solidFill>
              </a:rPr>
              <a:t>)</a:t>
            </a:r>
          </a:p>
        </p:txBody>
      </p:sp>
      <p:sp>
        <p:nvSpPr>
          <p:cNvPr id="730" name="Text 32"/>
          <p:cNvSpPr txBox="1"/>
          <p:nvPr/>
        </p:nvSpPr>
        <p:spPr>
          <a:xfrm>
            <a:off x="6742176" y="3545774"/>
            <a:ext cx="475488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1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예</a:t>
            </a:r>
            <a:r>
              <a:t>: 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로그인 </a:t>
            </a:r>
            <a:r>
              <a:t>API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및 </a:t>
            </a:r>
            <a:r>
              <a:t>JWT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인증 구현 담당</a:t>
            </a:r>
            <a:r>
              <a:t>"</a:t>
            </a:r>
          </a:p>
        </p:txBody>
      </p:sp>
      <p:sp>
        <p:nvSpPr>
          <p:cNvPr id="731" name="Text 33"/>
          <p:cNvSpPr txBox="1"/>
          <p:nvPr/>
        </p:nvSpPr>
        <p:spPr>
          <a:xfrm>
            <a:off x="6498335" y="4414279"/>
            <a:ext cx="4998721" cy="21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✎  </a:t>
            </a:r>
            <a:r>
              <a:rPr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프로젝트 회고 </a:t>
            </a:r>
            <a:r>
              <a:rPr>
                <a:solidFill>
                  <a:srgbClr val="1E293B"/>
                </a:solidFill>
              </a:rPr>
              <a:t>(</a:t>
            </a:r>
            <a:r>
              <a:rPr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rPr>
              <a:t>선택</a:t>
            </a:r>
            <a:r>
              <a:rPr>
                <a:solidFill>
                  <a:srgbClr val="1E293B"/>
                </a:solidFill>
              </a:rPr>
              <a:t>)</a:t>
            </a:r>
          </a:p>
        </p:txBody>
      </p:sp>
      <p:sp>
        <p:nvSpPr>
          <p:cNvPr id="732" name="Text 34"/>
          <p:cNvSpPr txBox="1"/>
          <p:nvPr/>
        </p:nvSpPr>
        <p:spPr>
          <a:xfrm>
            <a:off x="6742176" y="4862510"/>
            <a:ext cx="4754880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1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배운 점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어려웠던 점</a:t>
            </a:r>
          </a:p>
        </p:txBody>
      </p:sp>
      <p:sp>
        <p:nvSpPr>
          <p:cNvPr id="733" name="Shape 35"/>
          <p:cNvSpPr/>
          <p:nvPr/>
        </p:nvSpPr>
        <p:spPr>
          <a:xfrm>
            <a:off x="426720" y="6339840"/>
            <a:ext cx="11338560" cy="146305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6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37" name="Text 2"/>
          <p:cNvSpPr txBox="1"/>
          <p:nvPr/>
        </p:nvSpPr>
        <p:spPr>
          <a:xfrm>
            <a:off x="1188719" y="47236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04.  TEAM</a:t>
            </a:r>
          </a:p>
        </p:txBody>
      </p:sp>
      <p:sp>
        <p:nvSpPr>
          <p:cNvPr id="738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11 / 21</a:t>
            </a:r>
          </a:p>
        </p:txBody>
      </p:sp>
      <p:sp>
        <p:nvSpPr>
          <p:cNvPr id="739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팀 구성 — 6명 · 3개 학과</a:t>
            </a:r>
          </a:p>
        </p:txBody>
      </p:sp>
      <p:sp>
        <p:nvSpPr>
          <p:cNvPr id="740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741" name="Shape 6"/>
          <p:cNvSpPr/>
          <p:nvPr/>
        </p:nvSpPr>
        <p:spPr>
          <a:xfrm>
            <a:off x="548639" y="1783079"/>
            <a:ext cx="3566161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2" name="Shape 7"/>
          <p:cNvSpPr/>
          <p:nvPr/>
        </p:nvSpPr>
        <p:spPr>
          <a:xfrm>
            <a:off x="548640" y="1783079"/>
            <a:ext cx="91441" cy="2011680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3" name="Text 8"/>
          <p:cNvSpPr txBox="1"/>
          <p:nvPr/>
        </p:nvSpPr>
        <p:spPr>
          <a:xfrm>
            <a:off x="777240" y="2008632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5B4FE0"/>
                </a:solidFill>
              </a:defRPr>
            </a:lvl1pPr>
          </a:lstStyle>
          <a:p>
            <a:pPr/>
            <a:r>
              <a:t>컴퓨터공학부</a:t>
            </a:r>
          </a:p>
        </p:txBody>
      </p:sp>
      <p:sp>
        <p:nvSpPr>
          <p:cNvPr id="744" name="Text 9"/>
          <p:cNvSpPr txBox="1"/>
          <p:nvPr/>
        </p:nvSpPr>
        <p:spPr>
          <a:xfrm>
            <a:off x="777240" y="2302509"/>
            <a:ext cx="32004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F172A"/>
                </a:solidFill>
              </a:defRPr>
            </a:lvl1pPr>
          </a:lstStyle>
          <a:p>
            <a:pPr/>
            <a:r>
              <a:t>프론트엔드 개발 A</a:t>
            </a:r>
          </a:p>
        </p:txBody>
      </p:sp>
      <p:sp>
        <p:nvSpPr>
          <p:cNvPr id="745" name="Text 10"/>
          <p:cNvSpPr txBox="1"/>
          <p:nvPr/>
        </p:nvSpPr>
        <p:spPr>
          <a:xfrm>
            <a:off x="777240" y="2712720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B4FE0"/>
                </a:solidFill>
              </a:defRPr>
            </a:lvl1pPr>
          </a:lstStyle>
          <a:p>
            <a:pPr/>
            <a:r>
              <a:t>인원  1명</a:t>
            </a:r>
          </a:p>
        </p:txBody>
      </p:sp>
      <p:sp>
        <p:nvSpPr>
          <p:cNvPr id="746" name="Text 11"/>
          <p:cNvSpPr txBox="1"/>
          <p:nvPr/>
        </p:nvSpPr>
        <p:spPr>
          <a:xfrm>
            <a:off x="777240" y="3171145"/>
            <a:ext cx="3200401" cy="37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회원/로그인 화면, 프로필 페이지,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모집글 작성·목록·상세 화면</a:t>
            </a:r>
          </a:p>
        </p:txBody>
      </p:sp>
      <p:sp>
        <p:nvSpPr>
          <p:cNvPr id="747" name="Shape 12"/>
          <p:cNvSpPr/>
          <p:nvPr/>
        </p:nvSpPr>
        <p:spPr>
          <a:xfrm>
            <a:off x="4251959" y="1783079"/>
            <a:ext cx="35661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8" name="Shape 13"/>
          <p:cNvSpPr/>
          <p:nvPr/>
        </p:nvSpPr>
        <p:spPr>
          <a:xfrm>
            <a:off x="4251959" y="1783079"/>
            <a:ext cx="91441" cy="2011680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9" name="Text 14"/>
          <p:cNvSpPr txBox="1"/>
          <p:nvPr/>
        </p:nvSpPr>
        <p:spPr>
          <a:xfrm>
            <a:off x="4480559" y="2008632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5B4FE0"/>
                </a:solidFill>
              </a:defRPr>
            </a:lvl1pPr>
          </a:lstStyle>
          <a:p>
            <a:pPr/>
            <a:r>
              <a:t>컴퓨터공학부</a:t>
            </a:r>
          </a:p>
        </p:txBody>
      </p:sp>
      <p:sp>
        <p:nvSpPr>
          <p:cNvPr id="750" name="Text 15"/>
          <p:cNvSpPr txBox="1"/>
          <p:nvPr/>
        </p:nvSpPr>
        <p:spPr>
          <a:xfrm>
            <a:off x="4480559" y="2302509"/>
            <a:ext cx="32004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F172A"/>
                </a:solidFill>
              </a:defRPr>
            </a:lvl1pPr>
          </a:lstStyle>
          <a:p>
            <a:pPr/>
            <a:r>
              <a:t>프론트엔드 개발 B</a:t>
            </a:r>
          </a:p>
        </p:txBody>
      </p:sp>
      <p:sp>
        <p:nvSpPr>
          <p:cNvPr id="751" name="Text 16"/>
          <p:cNvSpPr txBox="1"/>
          <p:nvPr/>
        </p:nvSpPr>
        <p:spPr>
          <a:xfrm>
            <a:off x="4480559" y="2712720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B4FE0"/>
                </a:solidFill>
              </a:defRPr>
            </a:lvl1pPr>
          </a:lstStyle>
          <a:p>
            <a:pPr/>
            <a:r>
              <a:t>인원  1명</a:t>
            </a:r>
          </a:p>
        </p:txBody>
      </p:sp>
      <p:sp>
        <p:nvSpPr>
          <p:cNvPr id="752" name="Text 17"/>
          <p:cNvSpPr txBox="1"/>
          <p:nvPr/>
        </p:nvSpPr>
        <p:spPr>
          <a:xfrm>
            <a:off x="4480559" y="3171145"/>
            <a:ext cx="3200401" cy="37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지원·관리 화면, 진행 보드,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포트폴리오 페이지, 메인 페이지</a:t>
            </a:r>
          </a:p>
        </p:txBody>
      </p:sp>
      <p:sp>
        <p:nvSpPr>
          <p:cNvPr id="753" name="Shape 18"/>
          <p:cNvSpPr/>
          <p:nvPr/>
        </p:nvSpPr>
        <p:spPr>
          <a:xfrm>
            <a:off x="7955280" y="1783079"/>
            <a:ext cx="35661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4" name="Shape 19"/>
          <p:cNvSpPr/>
          <p:nvPr/>
        </p:nvSpPr>
        <p:spPr>
          <a:xfrm>
            <a:off x="7955280" y="1783079"/>
            <a:ext cx="91441" cy="2011680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5" name="Text 20"/>
          <p:cNvSpPr txBox="1"/>
          <p:nvPr/>
        </p:nvSpPr>
        <p:spPr>
          <a:xfrm>
            <a:off x="8183880" y="2008632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5B4FE0"/>
                </a:solidFill>
              </a:defRPr>
            </a:lvl1pPr>
          </a:lstStyle>
          <a:p>
            <a:pPr/>
            <a:r>
              <a:t>컴퓨터공학부</a:t>
            </a:r>
          </a:p>
        </p:txBody>
      </p:sp>
      <p:sp>
        <p:nvSpPr>
          <p:cNvPr id="756" name="Text 21"/>
          <p:cNvSpPr txBox="1"/>
          <p:nvPr/>
        </p:nvSpPr>
        <p:spPr>
          <a:xfrm>
            <a:off x="8183880" y="2302509"/>
            <a:ext cx="32004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F172A"/>
                </a:solidFill>
              </a:defRPr>
            </a:lvl1pPr>
          </a:lstStyle>
          <a:p>
            <a:pPr/>
            <a:r>
              <a:t>백엔드 개발 A</a:t>
            </a:r>
          </a:p>
        </p:txBody>
      </p:sp>
      <p:sp>
        <p:nvSpPr>
          <p:cNvPr id="757" name="Text 22"/>
          <p:cNvSpPr txBox="1"/>
          <p:nvPr/>
        </p:nvSpPr>
        <p:spPr>
          <a:xfrm>
            <a:off x="8183880" y="2712720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B4FE0"/>
                </a:solidFill>
              </a:defRPr>
            </a:lvl1pPr>
          </a:lstStyle>
          <a:p>
            <a:pPr/>
            <a:r>
              <a:t>인원  1명</a:t>
            </a:r>
          </a:p>
        </p:txBody>
      </p:sp>
      <p:sp>
        <p:nvSpPr>
          <p:cNvPr id="758" name="Text 23"/>
          <p:cNvSpPr txBox="1"/>
          <p:nvPr/>
        </p:nvSpPr>
        <p:spPr>
          <a:xfrm>
            <a:off x="8183880" y="3171145"/>
            <a:ext cx="3200401" cy="37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회원/JWT, 프로필 API,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매칭 점수 계산 로직, ERD 설계</a:t>
            </a:r>
          </a:p>
        </p:txBody>
      </p:sp>
      <p:sp>
        <p:nvSpPr>
          <p:cNvPr id="759" name="Shape 24"/>
          <p:cNvSpPr/>
          <p:nvPr/>
        </p:nvSpPr>
        <p:spPr>
          <a:xfrm>
            <a:off x="548639" y="3977640"/>
            <a:ext cx="3566161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0" name="Shape 25"/>
          <p:cNvSpPr/>
          <p:nvPr/>
        </p:nvSpPr>
        <p:spPr>
          <a:xfrm>
            <a:off x="548640" y="3977640"/>
            <a:ext cx="91441" cy="2011680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1" name="Text 26"/>
          <p:cNvSpPr txBox="1"/>
          <p:nvPr/>
        </p:nvSpPr>
        <p:spPr>
          <a:xfrm>
            <a:off x="777240" y="4203191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5B4FE0"/>
                </a:solidFill>
              </a:defRPr>
            </a:lvl1pPr>
          </a:lstStyle>
          <a:p>
            <a:pPr/>
            <a:r>
              <a:t>컴퓨터공학부</a:t>
            </a:r>
          </a:p>
        </p:txBody>
      </p:sp>
      <p:sp>
        <p:nvSpPr>
          <p:cNvPr id="762" name="Text 27"/>
          <p:cNvSpPr txBox="1"/>
          <p:nvPr/>
        </p:nvSpPr>
        <p:spPr>
          <a:xfrm>
            <a:off x="777240" y="4497070"/>
            <a:ext cx="32004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F172A"/>
                </a:solidFill>
              </a:defRPr>
            </a:lvl1pPr>
          </a:lstStyle>
          <a:p>
            <a:pPr/>
            <a:r>
              <a:t>백엔드 개발 B</a:t>
            </a:r>
          </a:p>
        </p:txBody>
      </p:sp>
      <p:sp>
        <p:nvSpPr>
          <p:cNvPr id="763" name="Text 28"/>
          <p:cNvSpPr txBox="1"/>
          <p:nvPr/>
        </p:nvSpPr>
        <p:spPr>
          <a:xfrm>
            <a:off x="777240" y="4907279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B4FE0"/>
                </a:solidFill>
              </a:defRPr>
            </a:lvl1pPr>
          </a:lstStyle>
          <a:p>
            <a:pPr/>
            <a:r>
              <a:t>인원  1명</a:t>
            </a:r>
          </a:p>
        </p:txBody>
      </p:sp>
      <p:sp>
        <p:nvSpPr>
          <p:cNvPr id="764" name="Text 29"/>
          <p:cNvSpPr txBox="1"/>
          <p:nvPr/>
        </p:nvSpPr>
        <p:spPr>
          <a:xfrm>
            <a:off x="777240" y="5365705"/>
            <a:ext cx="3200401" cy="37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모집글 CRUD, 지원/승인 API,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포트폴리오 생성 API, 서버 배포</a:t>
            </a:r>
          </a:p>
        </p:txBody>
      </p:sp>
      <p:sp>
        <p:nvSpPr>
          <p:cNvPr id="765" name="Shape 30"/>
          <p:cNvSpPr/>
          <p:nvPr/>
        </p:nvSpPr>
        <p:spPr>
          <a:xfrm>
            <a:off x="4251959" y="3977640"/>
            <a:ext cx="35661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6" name="Shape 31"/>
          <p:cNvSpPr/>
          <p:nvPr/>
        </p:nvSpPr>
        <p:spPr>
          <a:xfrm>
            <a:off x="4251959" y="3977640"/>
            <a:ext cx="91441" cy="2011680"/>
          </a:xfrm>
          <a:prstGeom prst="rect">
            <a:avLst/>
          </a:prstGeom>
          <a:solidFill>
            <a:srgbClr val="EC48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7" name="Text 32"/>
          <p:cNvSpPr txBox="1"/>
          <p:nvPr/>
        </p:nvSpPr>
        <p:spPr>
          <a:xfrm>
            <a:off x="4480559" y="4203191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EC4899"/>
                </a:solidFill>
              </a:defRPr>
            </a:lvl1pPr>
          </a:lstStyle>
          <a:p>
            <a:pPr/>
            <a:r>
              <a:t>시각디자인과</a:t>
            </a:r>
          </a:p>
        </p:txBody>
      </p:sp>
      <p:sp>
        <p:nvSpPr>
          <p:cNvPr id="768" name="Text 33"/>
          <p:cNvSpPr txBox="1"/>
          <p:nvPr/>
        </p:nvSpPr>
        <p:spPr>
          <a:xfrm>
            <a:off x="4480559" y="4497070"/>
            <a:ext cx="32004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F172A"/>
                </a:solidFill>
              </a:defRPr>
            </a:lvl1pPr>
          </a:lstStyle>
          <a:p>
            <a:pPr/>
            <a:r>
              <a:t>UI/UX 디자인</a:t>
            </a:r>
          </a:p>
        </p:txBody>
      </p:sp>
      <p:sp>
        <p:nvSpPr>
          <p:cNvPr id="769" name="Text 34"/>
          <p:cNvSpPr txBox="1"/>
          <p:nvPr/>
        </p:nvSpPr>
        <p:spPr>
          <a:xfrm>
            <a:off x="4480559" y="4907279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C4899"/>
                </a:solidFill>
              </a:defRPr>
            </a:lvl1pPr>
          </a:lstStyle>
          <a:p>
            <a:pPr/>
            <a:r>
              <a:t>인원  1명</a:t>
            </a:r>
          </a:p>
        </p:txBody>
      </p:sp>
      <p:sp>
        <p:nvSpPr>
          <p:cNvPr id="770" name="Text 35"/>
          <p:cNvSpPr txBox="1"/>
          <p:nvPr/>
        </p:nvSpPr>
        <p:spPr>
          <a:xfrm>
            <a:off x="4480559" y="5071496"/>
            <a:ext cx="3200401" cy="966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F172A"/>
                </a:solidFill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브랜드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로고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컬러 시스템 설계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전체 화면 </a:t>
            </a:r>
            <a:r>
              <a:t>Figma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와이어프레임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디자인 시스템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컴포넌트 정의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개발팀에 화면 스펙 전달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출시 전 </a:t>
            </a:r>
            <a:r>
              <a:t>UI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품질 검수</a:t>
            </a:r>
          </a:p>
        </p:txBody>
      </p:sp>
      <p:sp>
        <p:nvSpPr>
          <p:cNvPr id="771" name="Shape 36"/>
          <p:cNvSpPr/>
          <p:nvPr/>
        </p:nvSpPr>
        <p:spPr>
          <a:xfrm>
            <a:off x="7955280" y="3977640"/>
            <a:ext cx="35661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2" name="Shape 37"/>
          <p:cNvSpPr/>
          <p:nvPr/>
        </p:nvSpPr>
        <p:spPr>
          <a:xfrm>
            <a:off x="7955280" y="3977640"/>
            <a:ext cx="91441" cy="2011680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3" name="Text 38"/>
          <p:cNvSpPr txBox="1"/>
          <p:nvPr/>
        </p:nvSpPr>
        <p:spPr>
          <a:xfrm>
            <a:off x="8183880" y="4203191"/>
            <a:ext cx="2743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F59E0B"/>
                </a:solidFill>
              </a:defRPr>
            </a:lvl1pPr>
          </a:lstStyle>
          <a:p>
            <a:pPr/>
            <a:r>
              <a:t>경영학과</a:t>
            </a:r>
          </a:p>
        </p:txBody>
      </p:sp>
      <p:sp>
        <p:nvSpPr>
          <p:cNvPr id="774" name="Text 39"/>
          <p:cNvSpPr txBox="1"/>
          <p:nvPr/>
        </p:nvSpPr>
        <p:spPr>
          <a:xfrm>
            <a:off x="8183880" y="4497070"/>
            <a:ext cx="32004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F172A"/>
                </a:solidFill>
              </a:defRPr>
            </a:lvl1pPr>
          </a:lstStyle>
          <a:p>
            <a:pPr/>
            <a:r>
              <a:t>기획 / PM</a:t>
            </a:r>
          </a:p>
        </p:txBody>
      </p:sp>
      <p:sp>
        <p:nvSpPr>
          <p:cNvPr id="775" name="Text 40"/>
          <p:cNvSpPr txBox="1"/>
          <p:nvPr/>
        </p:nvSpPr>
        <p:spPr>
          <a:xfrm>
            <a:off x="8183880" y="4907279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59E0B"/>
                </a:solidFill>
              </a:defRPr>
            </a:lvl1pPr>
          </a:lstStyle>
          <a:p>
            <a:pPr/>
            <a:r>
              <a:t>인원  1명</a:t>
            </a:r>
          </a:p>
        </p:txBody>
      </p:sp>
      <p:sp>
        <p:nvSpPr>
          <p:cNvPr id="776" name="Text 41"/>
          <p:cNvSpPr txBox="1"/>
          <p:nvPr/>
        </p:nvSpPr>
        <p:spPr>
          <a:xfrm>
            <a:off x="8183880" y="5071496"/>
            <a:ext cx="3200401" cy="966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F172A"/>
                </a:solidFill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시장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수요 분석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설문 설계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수익 모델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가격 정책 수립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기능 우선순위 결정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스펙 문서화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팀 일정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마일스톤 관리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발표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투자 자료 작성</a:t>
            </a:r>
          </a:p>
        </p:txBody>
      </p:sp>
      <p:sp>
        <p:nvSpPr>
          <p:cNvPr id="777" name="Shape 42"/>
          <p:cNvSpPr/>
          <p:nvPr/>
        </p:nvSpPr>
        <p:spPr>
          <a:xfrm>
            <a:off x="548639" y="6172200"/>
            <a:ext cx="11064242" cy="502920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8" name="Text 43"/>
          <p:cNvSpPr txBox="1"/>
          <p:nvPr/>
        </p:nvSpPr>
        <p:spPr>
          <a:xfrm>
            <a:off x="777239" y="6303009"/>
            <a:ext cx="1069848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총 </a:t>
            </a:r>
            <a:r>
              <a:rPr b="1" sz="1600">
                <a:solidFill>
                  <a:srgbClr val="5B4FE0"/>
                </a:solidFill>
              </a:rPr>
              <a:t>6명  </a:t>
            </a:r>
            <a:r>
              <a:t>  컴퓨터공학부 4명 (개발 전담) + 시각디자인과 1명 (디자인) + 경영학과 1명 (기획·PM)  </a:t>
            </a:r>
            <a:r>
              <a:rPr>
                <a:solidFill>
                  <a:srgbClr val="64748B"/>
                </a:solidFill>
              </a:rPr>
              <a:t>  ·  </a:t>
            </a:r>
            <a:r>
              <a:rPr b="1">
                <a:solidFill>
                  <a:srgbClr val="0F172A"/>
                </a:solidFill>
              </a:rPr>
              <a:t>협업: GitHub · Notion · Figma · Discord</a:t>
            </a:r>
          </a:p>
        </p:txBody>
      </p:sp>
      <p:sp>
        <p:nvSpPr>
          <p:cNvPr id="779" name="TextBox 45"/>
          <p:cNvSpPr txBox="1"/>
          <p:nvPr/>
        </p:nvSpPr>
        <p:spPr>
          <a:xfrm>
            <a:off x="4606280" y="4660000"/>
            <a:ext cx="3108561" cy="25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000">
                <a:solidFill>
                  <a:srgbClr val="5B4FE0"/>
                </a:solidFill>
              </a:defRPr>
            </a:pP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보이는 것을 만듭니다</a:t>
            </a:r>
            <a:r>
              <a:t>"</a:t>
            </a:r>
          </a:p>
        </p:txBody>
      </p:sp>
      <p:sp>
        <p:nvSpPr>
          <p:cNvPr id="780" name="TextBox 46"/>
          <p:cNvSpPr txBox="1"/>
          <p:nvPr/>
        </p:nvSpPr>
        <p:spPr>
          <a:xfrm>
            <a:off x="8309599" y="4660000"/>
            <a:ext cx="3108561" cy="25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000">
                <a:solidFill>
                  <a:srgbClr val="84CC16"/>
                </a:solidFill>
              </a:defRPr>
            </a:pP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사업을 설계합니다</a:t>
            </a:r>
            <a:r>
              <a:t>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Rectangle 1"/>
          <p:cNvSpPr/>
          <p:nvPr/>
        </p:nvSpPr>
        <p:spPr>
          <a:xfrm>
            <a:off x="457200" y="182879"/>
            <a:ext cx="685800" cy="381026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3" name="TextBox 2"/>
          <p:cNvSpPr txBox="1"/>
          <p:nvPr/>
        </p:nvSpPr>
        <p:spPr>
          <a:xfrm>
            <a:off x="502919" y="182879"/>
            <a:ext cx="59436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84" name="TextBox 3"/>
          <p:cNvSpPr txBox="1"/>
          <p:nvPr/>
        </p:nvSpPr>
        <p:spPr>
          <a:xfrm>
            <a:off x="1264920" y="243840"/>
            <a:ext cx="340856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64748B"/>
                </a:solidFill>
              </a:defRPr>
            </a:lvl1pPr>
          </a:lstStyle>
          <a:p>
            <a:pPr/>
            <a:r>
              <a:t>04.  TEAM</a:t>
            </a:r>
          </a:p>
        </p:txBody>
      </p:sp>
      <p:sp>
        <p:nvSpPr>
          <p:cNvPr id="785" name="TextBox 4"/>
          <p:cNvSpPr txBox="1"/>
          <p:nvPr/>
        </p:nvSpPr>
        <p:spPr>
          <a:xfrm>
            <a:off x="10545719" y="243840"/>
            <a:ext cx="13085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12 / 21</a:t>
            </a:r>
          </a:p>
        </p:txBody>
      </p:sp>
      <p:sp>
        <p:nvSpPr>
          <p:cNvPr id="786" name="Rectangle 5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7" name="TextBox 6"/>
          <p:cNvSpPr txBox="1"/>
          <p:nvPr/>
        </p:nvSpPr>
        <p:spPr>
          <a:xfrm>
            <a:off x="502919" y="6553200"/>
            <a:ext cx="7908561" cy="26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MajorLink  |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전공 기반 대학생 협업 플랫폼</a:t>
            </a:r>
          </a:p>
        </p:txBody>
      </p:sp>
      <p:sp>
        <p:nvSpPr>
          <p:cNvPr id="788" name="TextBox 7"/>
          <p:cNvSpPr txBox="1"/>
          <p:nvPr/>
        </p:nvSpPr>
        <p:spPr>
          <a:xfrm>
            <a:off x="502920" y="680000"/>
            <a:ext cx="10908560" cy="642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0F172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파트별 역할 분담</a:t>
            </a:r>
          </a:p>
        </p:txBody>
      </p:sp>
      <p:sp>
        <p:nvSpPr>
          <p:cNvPr id="789" name="TextBox 8"/>
          <p:cNvSpPr txBox="1"/>
          <p:nvPr/>
        </p:nvSpPr>
        <p:spPr>
          <a:xfrm>
            <a:off x="502920" y="1220000"/>
            <a:ext cx="10908560" cy="30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각 전공의 강점을 그대로 </a:t>
            </a:r>
            <a:r>
              <a:t>MajorLink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에 </a:t>
            </a:r>
            <a:r>
              <a:t>—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모두가 이 프로젝트의 주인공입니다</a:t>
            </a:r>
          </a:p>
        </p:txBody>
      </p:sp>
      <p:sp>
        <p:nvSpPr>
          <p:cNvPr id="790" name="Rectangle 9"/>
          <p:cNvSpPr/>
          <p:nvPr/>
        </p:nvSpPr>
        <p:spPr>
          <a:xfrm>
            <a:off x="457200" y="1530000"/>
            <a:ext cx="5550000" cy="21000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1" name="Rectangle 10"/>
          <p:cNvSpPr/>
          <p:nvPr/>
        </p:nvSpPr>
        <p:spPr>
          <a:xfrm>
            <a:off x="457200" y="1530000"/>
            <a:ext cx="5550000" cy="490000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2" name="TextBox 11"/>
          <p:cNvSpPr txBox="1"/>
          <p:nvPr/>
        </p:nvSpPr>
        <p:spPr>
          <a:xfrm>
            <a:off x="582919" y="1595000"/>
            <a:ext cx="5298561" cy="30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경영학과 </a:t>
            </a:r>
            <a:r>
              <a:t>/ PM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박주영</a:t>
            </a:r>
          </a:p>
        </p:txBody>
      </p:sp>
      <p:sp>
        <p:nvSpPr>
          <p:cNvPr id="793" name="TextBox 12"/>
          <p:cNvSpPr txBox="1"/>
          <p:nvPr/>
        </p:nvSpPr>
        <p:spPr>
          <a:xfrm>
            <a:off x="582919" y="1805000"/>
            <a:ext cx="5298561" cy="26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100">
                <a:solidFill>
                  <a:srgbClr val="FFFFFF"/>
                </a:solidFill>
              </a:defRPr>
            </a:pP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사업을 설계합니다</a:t>
            </a:r>
            <a:r>
              <a:t>"</a:t>
            </a:r>
          </a:p>
        </p:txBody>
      </p:sp>
      <p:sp>
        <p:nvSpPr>
          <p:cNvPr id="794" name="TextBox 13"/>
          <p:cNvSpPr txBox="1"/>
          <p:nvPr/>
        </p:nvSpPr>
        <p:spPr>
          <a:xfrm>
            <a:off x="582919" y="2079999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시장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수요 분석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설문 설계</a:t>
            </a:r>
          </a:p>
        </p:txBody>
      </p:sp>
      <p:sp>
        <p:nvSpPr>
          <p:cNvPr id="795" name="TextBox 14"/>
          <p:cNvSpPr txBox="1"/>
          <p:nvPr/>
        </p:nvSpPr>
        <p:spPr>
          <a:xfrm>
            <a:off x="582919" y="2345000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수익 모델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가격 정책 수립</a:t>
            </a:r>
          </a:p>
        </p:txBody>
      </p:sp>
      <p:sp>
        <p:nvSpPr>
          <p:cNvPr id="796" name="TextBox 15"/>
          <p:cNvSpPr txBox="1"/>
          <p:nvPr/>
        </p:nvSpPr>
        <p:spPr>
          <a:xfrm>
            <a:off x="582919" y="2609999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기능 우선순위 결정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스펙 문서화</a:t>
            </a:r>
          </a:p>
        </p:txBody>
      </p:sp>
      <p:sp>
        <p:nvSpPr>
          <p:cNvPr id="797" name="TextBox 16"/>
          <p:cNvSpPr txBox="1"/>
          <p:nvPr/>
        </p:nvSpPr>
        <p:spPr>
          <a:xfrm>
            <a:off x="582919" y="2875000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팀 일정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마일스톤 관리</a:t>
            </a:r>
          </a:p>
        </p:txBody>
      </p:sp>
      <p:sp>
        <p:nvSpPr>
          <p:cNvPr id="798" name="TextBox 17"/>
          <p:cNvSpPr txBox="1"/>
          <p:nvPr/>
        </p:nvSpPr>
        <p:spPr>
          <a:xfrm>
            <a:off x="582919" y="3140000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발표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투자 자료 작성</a:t>
            </a:r>
          </a:p>
        </p:txBody>
      </p:sp>
      <p:sp>
        <p:nvSpPr>
          <p:cNvPr id="799" name="Rectangle 18"/>
          <p:cNvSpPr/>
          <p:nvPr/>
        </p:nvSpPr>
        <p:spPr>
          <a:xfrm>
            <a:off x="6184999" y="1530000"/>
            <a:ext cx="5550001" cy="2100000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0" name="Rectangle 19"/>
          <p:cNvSpPr/>
          <p:nvPr/>
        </p:nvSpPr>
        <p:spPr>
          <a:xfrm>
            <a:off x="6184999" y="1530000"/>
            <a:ext cx="5550001" cy="490000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1" name="TextBox 20"/>
          <p:cNvSpPr txBox="1"/>
          <p:nvPr/>
        </p:nvSpPr>
        <p:spPr>
          <a:xfrm>
            <a:off x="6310720" y="1595000"/>
            <a:ext cx="5298561" cy="30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시각디자인과 </a:t>
            </a:r>
            <a:r>
              <a:t>/ UI·UX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디자인</a:t>
            </a:r>
          </a:p>
        </p:txBody>
      </p:sp>
      <p:sp>
        <p:nvSpPr>
          <p:cNvPr id="802" name="TextBox 21"/>
          <p:cNvSpPr txBox="1"/>
          <p:nvPr/>
        </p:nvSpPr>
        <p:spPr>
          <a:xfrm>
            <a:off x="6310720" y="1805000"/>
            <a:ext cx="5298561" cy="26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100">
                <a:solidFill>
                  <a:srgbClr val="FFFFFF"/>
                </a:solidFill>
              </a:defRPr>
            </a:pP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보이는 것을 만듭니다</a:t>
            </a:r>
            <a:r>
              <a:t>"</a:t>
            </a:r>
          </a:p>
        </p:txBody>
      </p:sp>
      <p:sp>
        <p:nvSpPr>
          <p:cNvPr id="803" name="TextBox 22"/>
          <p:cNvSpPr txBox="1"/>
          <p:nvPr/>
        </p:nvSpPr>
        <p:spPr>
          <a:xfrm>
            <a:off x="6310720" y="2079999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MajorLink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브랜드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로고 디자인</a:t>
            </a:r>
          </a:p>
        </p:txBody>
      </p:sp>
      <p:sp>
        <p:nvSpPr>
          <p:cNvPr id="804" name="TextBox 23"/>
          <p:cNvSpPr txBox="1"/>
          <p:nvPr/>
        </p:nvSpPr>
        <p:spPr>
          <a:xfrm>
            <a:off x="6310720" y="2345000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전체 화면 </a:t>
            </a:r>
            <a:r>
              <a:t>Figma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와이어프레임</a:t>
            </a:r>
          </a:p>
        </p:txBody>
      </p:sp>
      <p:sp>
        <p:nvSpPr>
          <p:cNvPr id="805" name="TextBox 24"/>
          <p:cNvSpPr txBox="1"/>
          <p:nvPr/>
        </p:nvSpPr>
        <p:spPr>
          <a:xfrm>
            <a:off x="6310720" y="2609999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디자인 시스템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컴포넌트 정의</a:t>
            </a:r>
          </a:p>
        </p:txBody>
      </p:sp>
      <p:sp>
        <p:nvSpPr>
          <p:cNvPr id="806" name="TextBox 25"/>
          <p:cNvSpPr txBox="1"/>
          <p:nvPr/>
        </p:nvSpPr>
        <p:spPr>
          <a:xfrm>
            <a:off x="6310720" y="2875000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개발팀에 화면 스펙 전달</a:t>
            </a:r>
          </a:p>
        </p:txBody>
      </p:sp>
      <p:sp>
        <p:nvSpPr>
          <p:cNvPr id="807" name="TextBox 26"/>
          <p:cNvSpPr txBox="1"/>
          <p:nvPr/>
        </p:nvSpPr>
        <p:spPr>
          <a:xfrm>
            <a:off x="6310720" y="3140000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출시 전 </a:t>
            </a:r>
            <a:r>
              <a:t>UI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품질 검수</a:t>
            </a:r>
          </a:p>
        </p:txBody>
      </p:sp>
      <p:sp>
        <p:nvSpPr>
          <p:cNvPr id="808" name="Rectangle 27"/>
          <p:cNvSpPr/>
          <p:nvPr/>
        </p:nvSpPr>
        <p:spPr>
          <a:xfrm>
            <a:off x="457200" y="3740000"/>
            <a:ext cx="5550000" cy="21000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9" name="Rectangle 28"/>
          <p:cNvSpPr/>
          <p:nvPr/>
        </p:nvSpPr>
        <p:spPr>
          <a:xfrm>
            <a:off x="457200" y="3740000"/>
            <a:ext cx="5550000" cy="490000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0" name="TextBox 29"/>
          <p:cNvSpPr txBox="1"/>
          <p:nvPr/>
        </p:nvSpPr>
        <p:spPr>
          <a:xfrm>
            <a:off x="582919" y="3804999"/>
            <a:ext cx="5298561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컴퓨터공학부 </a:t>
            </a:r>
            <a:r>
              <a:t>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프론트엔드  </a:t>
            </a:r>
            <a:r>
              <a:t>2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명</a:t>
            </a:r>
          </a:p>
        </p:txBody>
      </p:sp>
      <p:sp>
        <p:nvSpPr>
          <p:cNvPr id="811" name="TextBox 30"/>
          <p:cNvSpPr txBox="1"/>
          <p:nvPr/>
        </p:nvSpPr>
        <p:spPr>
          <a:xfrm>
            <a:off x="582919" y="4014999"/>
            <a:ext cx="529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100">
                <a:solidFill>
                  <a:srgbClr val="FFFFFF"/>
                </a:solidFill>
              </a:defRPr>
            </a:pP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화면을 코드로 만듭니다</a:t>
            </a:r>
            <a:r>
              <a:t>"</a:t>
            </a:r>
          </a:p>
        </p:txBody>
      </p:sp>
      <p:sp>
        <p:nvSpPr>
          <p:cNvPr id="812" name="TextBox 31"/>
          <p:cNvSpPr txBox="1"/>
          <p:nvPr/>
        </p:nvSpPr>
        <p:spPr>
          <a:xfrm>
            <a:off x="582919" y="4290000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디자인 </a:t>
            </a: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실제 웹 화면으로 구현</a:t>
            </a:r>
          </a:p>
        </p:txBody>
      </p:sp>
      <p:sp>
        <p:nvSpPr>
          <p:cNvPr id="813" name="TextBox 32"/>
          <p:cNvSpPr txBox="1"/>
          <p:nvPr/>
        </p:nvSpPr>
        <p:spPr>
          <a:xfrm>
            <a:off x="582919" y="4554999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사용자와 서버 데이터 연결</a:t>
            </a:r>
          </a:p>
        </p:txBody>
      </p:sp>
      <p:sp>
        <p:nvSpPr>
          <p:cNvPr id="814" name="TextBox 33"/>
          <p:cNvSpPr txBox="1"/>
          <p:nvPr/>
        </p:nvSpPr>
        <p:spPr>
          <a:xfrm>
            <a:off x="582919" y="4819999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로그인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검색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지원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보드 등 전체 화면</a:t>
            </a:r>
          </a:p>
        </p:txBody>
      </p:sp>
      <p:sp>
        <p:nvSpPr>
          <p:cNvPr id="815" name="TextBox 34"/>
          <p:cNvSpPr txBox="1"/>
          <p:nvPr/>
        </p:nvSpPr>
        <p:spPr>
          <a:xfrm>
            <a:off x="582919" y="5085000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반응형 웹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성능 최적화</a:t>
            </a:r>
          </a:p>
        </p:txBody>
      </p:sp>
      <p:sp>
        <p:nvSpPr>
          <p:cNvPr id="816" name="Rectangle 35"/>
          <p:cNvSpPr/>
          <p:nvPr/>
        </p:nvSpPr>
        <p:spPr>
          <a:xfrm>
            <a:off x="6184999" y="3740000"/>
            <a:ext cx="5550001" cy="21000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7" name="Rectangle 36"/>
          <p:cNvSpPr/>
          <p:nvPr/>
        </p:nvSpPr>
        <p:spPr>
          <a:xfrm>
            <a:off x="6184999" y="3740000"/>
            <a:ext cx="5550001" cy="490000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8" name="TextBox 37"/>
          <p:cNvSpPr txBox="1"/>
          <p:nvPr/>
        </p:nvSpPr>
        <p:spPr>
          <a:xfrm>
            <a:off x="6310720" y="3804999"/>
            <a:ext cx="5298561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컴퓨터공학부 </a:t>
            </a:r>
            <a:r>
              <a:t>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백엔드  </a:t>
            </a:r>
            <a:r>
              <a:t>2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명</a:t>
            </a:r>
          </a:p>
        </p:txBody>
      </p:sp>
      <p:sp>
        <p:nvSpPr>
          <p:cNvPr id="819" name="TextBox 38"/>
          <p:cNvSpPr txBox="1"/>
          <p:nvPr/>
        </p:nvSpPr>
        <p:spPr>
          <a:xfrm>
            <a:off x="6310720" y="4014999"/>
            <a:ext cx="529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100">
                <a:solidFill>
                  <a:srgbClr val="FFFFFF"/>
                </a:solidFill>
              </a:defRPr>
            </a:pP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보이지 않는 곳을 만듭니다</a:t>
            </a:r>
            <a:r>
              <a:t>"</a:t>
            </a:r>
          </a:p>
        </p:txBody>
      </p:sp>
      <p:sp>
        <p:nvSpPr>
          <p:cNvPr id="820" name="TextBox 39"/>
          <p:cNvSpPr txBox="1"/>
          <p:nvPr/>
        </p:nvSpPr>
        <p:spPr>
          <a:xfrm>
            <a:off x="6310720" y="4290000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데이터 저장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처리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보안</a:t>
            </a:r>
          </a:p>
        </p:txBody>
      </p:sp>
      <p:sp>
        <p:nvSpPr>
          <p:cNvPr id="821" name="TextBox 40"/>
          <p:cNvSpPr txBox="1"/>
          <p:nvPr/>
        </p:nvSpPr>
        <p:spPr>
          <a:xfrm>
            <a:off x="6310720" y="4554999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매칭 알고리즘 설계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구현</a:t>
            </a:r>
          </a:p>
        </p:txBody>
      </p:sp>
      <p:sp>
        <p:nvSpPr>
          <p:cNvPr id="822" name="TextBox 41"/>
          <p:cNvSpPr txBox="1"/>
          <p:nvPr/>
        </p:nvSpPr>
        <p:spPr>
          <a:xfrm>
            <a:off x="6310720" y="4819999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API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설계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서버 구축</a:t>
            </a:r>
          </a:p>
        </p:txBody>
      </p:sp>
      <p:sp>
        <p:nvSpPr>
          <p:cNvPr id="823" name="TextBox 42"/>
          <p:cNvSpPr txBox="1"/>
          <p:nvPr/>
        </p:nvSpPr>
        <p:spPr>
          <a:xfrm>
            <a:off x="6310720" y="5085000"/>
            <a:ext cx="529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·  AWS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배포 </a:t>
            </a:r>
            <a:r>
              <a:t>&amp; 24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시간 운영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6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827" name="Text 2"/>
          <p:cNvSpPr txBox="1"/>
          <p:nvPr/>
        </p:nvSpPr>
        <p:spPr>
          <a:xfrm>
            <a:off x="1188719" y="47236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04.  TIMELINE</a:t>
            </a:r>
          </a:p>
        </p:txBody>
      </p:sp>
      <p:sp>
        <p:nvSpPr>
          <p:cNvPr id="828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13 / 21</a:t>
            </a:r>
          </a:p>
        </p:txBody>
      </p:sp>
      <p:sp>
        <p:nvSpPr>
          <p:cNvPr id="829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개발 일정 — 5/19 킥오프 · 10주</a:t>
            </a:r>
          </a:p>
        </p:txBody>
      </p:sp>
      <p:sp>
        <p:nvSpPr>
          <p:cNvPr id="830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831" name="Shape 6"/>
          <p:cNvSpPr/>
          <p:nvPr/>
        </p:nvSpPr>
        <p:spPr>
          <a:xfrm>
            <a:off x="548639" y="1691639"/>
            <a:ext cx="11064242" cy="457201"/>
          </a:xfrm>
          <a:prstGeom prst="rect">
            <a:avLst/>
          </a:prstGeom>
          <a:solidFill>
            <a:srgbClr val="ECFCC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2" name="Text 7"/>
          <p:cNvSpPr txBox="1"/>
          <p:nvPr/>
        </p:nvSpPr>
        <p:spPr>
          <a:xfrm>
            <a:off x="777240" y="1824989"/>
            <a:ext cx="109728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84CC16"/>
                </a:solidFill>
              </a:defRPr>
            </a:pPr>
            <a:r>
              <a:t>5월 19일 (월) 킥오프  </a:t>
            </a:r>
            <a:r>
              <a:rPr b="0">
                <a:solidFill>
                  <a:srgbClr val="334155"/>
                </a:solidFill>
              </a:rPr>
              <a:t>팀원 자기소개  +  PPT로 프로젝트 소개  +  역할 분담 확정</a:t>
            </a:r>
          </a:p>
        </p:txBody>
      </p:sp>
      <p:sp>
        <p:nvSpPr>
          <p:cNvPr id="833" name="Shape 8"/>
          <p:cNvSpPr/>
          <p:nvPr/>
        </p:nvSpPr>
        <p:spPr>
          <a:xfrm>
            <a:off x="548640" y="2377439"/>
            <a:ext cx="2011679" cy="411481"/>
          </a:xfrm>
          <a:prstGeom prst="rect">
            <a:avLst/>
          </a:prstGeom>
          <a:solidFill>
            <a:srgbClr val="2D2B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4" name="Text 9"/>
          <p:cNvSpPr txBox="1"/>
          <p:nvPr/>
        </p:nvSpPr>
        <p:spPr>
          <a:xfrm>
            <a:off x="548640" y="2506979"/>
            <a:ext cx="201167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단계 / 담당</a:t>
            </a:r>
          </a:p>
        </p:txBody>
      </p:sp>
      <p:sp>
        <p:nvSpPr>
          <p:cNvPr id="835" name="Shape 10"/>
          <p:cNvSpPr/>
          <p:nvPr/>
        </p:nvSpPr>
        <p:spPr>
          <a:xfrm>
            <a:off x="2560320" y="2377439"/>
            <a:ext cx="908275" cy="411481"/>
          </a:xfrm>
          <a:prstGeom prst="rect">
            <a:avLst/>
          </a:prstGeom>
          <a:solidFill>
            <a:srgbClr val="2D2B55"/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6" name="Text 11"/>
          <p:cNvSpPr txBox="1"/>
          <p:nvPr/>
        </p:nvSpPr>
        <p:spPr>
          <a:xfrm>
            <a:off x="2560320" y="2478690"/>
            <a:ext cx="908275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700">
                <a:solidFill>
                  <a:srgbClr val="FFFFFF"/>
                </a:solidFill>
              </a:defRPr>
            </a:pPr>
            <a:r>
              <a:t>W1</a:t>
            </a:r>
          </a:p>
          <a:p>
            <a:pPr algn="ctr">
              <a:defRPr b="1" sz="700">
                <a:solidFill>
                  <a:srgbClr val="FFFFFF"/>
                </a:solidFill>
              </a:defRPr>
            </a:pPr>
            <a:r>
              <a:t>5/19~25</a:t>
            </a:r>
          </a:p>
        </p:txBody>
      </p:sp>
      <p:sp>
        <p:nvSpPr>
          <p:cNvPr id="837" name="Shape 12"/>
          <p:cNvSpPr/>
          <p:nvPr/>
        </p:nvSpPr>
        <p:spPr>
          <a:xfrm>
            <a:off x="3468594" y="2377439"/>
            <a:ext cx="908275" cy="411481"/>
          </a:xfrm>
          <a:prstGeom prst="rect">
            <a:avLst/>
          </a:prstGeom>
          <a:solidFill>
            <a:srgbClr val="2D2B55"/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8" name="Text 13"/>
          <p:cNvSpPr txBox="1"/>
          <p:nvPr/>
        </p:nvSpPr>
        <p:spPr>
          <a:xfrm>
            <a:off x="3468594" y="2478690"/>
            <a:ext cx="908275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700">
                <a:solidFill>
                  <a:srgbClr val="FFFFFF"/>
                </a:solidFill>
              </a:defRPr>
            </a:pPr>
            <a:r>
              <a:t>W2</a:t>
            </a:r>
          </a:p>
          <a:p>
            <a:pPr algn="ctr">
              <a:defRPr b="1" sz="700">
                <a:solidFill>
                  <a:srgbClr val="FFFFFF"/>
                </a:solidFill>
              </a:defRPr>
            </a:pPr>
            <a:r>
              <a:t>5/26~6/1</a:t>
            </a:r>
          </a:p>
        </p:txBody>
      </p:sp>
      <p:sp>
        <p:nvSpPr>
          <p:cNvPr id="839" name="Shape 14"/>
          <p:cNvSpPr/>
          <p:nvPr/>
        </p:nvSpPr>
        <p:spPr>
          <a:xfrm>
            <a:off x="4376866" y="2377439"/>
            <a:ext cx="908275" cy="411481"/>
          </a:xfrm>
          <a:prstGeom prst="rect">
            <a:avLst/>
          </a:prstGeom>
          <a:solidFill>
            <a:srgbClr val="2D2B55"/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0" name="Text 15"/>
          <p:cNvSpPr txBox="1"/>
          <p:nvPr/>
        </p:nvSpPr>
        <p:spPr>
          <a:xfrm>
            <a:off x="4376866" y="2478690"/>
            <a:ext cx="908275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700">
                <a:solidFill>
                  <a:srgbClr val="FFFFFF"/>
                </a:solidFill>
              </a:defRPr>
            </a:pPr>
            <a:r>
              <a:t>W3</a:t>
            </a:r>
          </a:p>
          <a:p>
            <a:pPr algn="ctr">
              <a:defRPr b="1" sz="700">
                <a:solidFill>
                  <a:srgbClr val="FFFFFF"/>
                </a:solidFill>
              </a:defRPr>
            </a:pPr>
            <a:r>
              <a:t>6/2~8</a:t>
            </a:r>
          </a:p>
        </p:txBody>
      </p:sp>
      <p:sp>
        <p:nvSpPr>
          <p:cNvPr id="841" name="Shape 16"/>
          <p:cNvSpPr/>
          <p:nvPr/>
        </p:nvSpPr>
        <p:spPr>
          <a:xfrm>
            <a:off x="5285140" y="2377439"/>
            <a:ext cx="908275" cy="411481"/>
          </a:xfrm>
          <a:prstGeom prst="rect">
            <a:avLst/>
          </a:prstGeom>
          <a:solidFill>
            <a:srgbClr val="2D2B55"/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2" name="Text 17"/>
          <p:cNvSpPr txBox="1"/>
          <p:nvPr/>
        </p:nvSpPr>
        <p:spPr>
          <a:xfrm>
            <a:off x="5285140" y="2478690"/>
            <a:ext cx="908275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700">
                <a:solidFill>
                  <a:srgbClr val="FFFFFF"/>
                </a:solidFill>
              </a:defRPr>
            </a:pPr>
            <a:r>
              <a:t>W4</a:t>
            </a:r>
          </a:p>
          <a:p>
            <a:pPr algn="ctr">
              <a:defRPr b="1" sz="700">
                <a:solidFill>
                  <a:srgbClr val="FFFFFF"/>
                </a:solidFill>
              </a:defRPr>
            </a:pPr>
            <a:r>
              <a:t>6/9~15</a:t>
            </a:r>
          </a:p>
        </p:txBody>
      </p:sp>
      <p:sp>
        <p:nvSpPr>
          <p:cNvPr id="843" name="Shape 18"/>
          <p:cNvSpPr/>
          <p:nvPr/>
        </p:nvSpPr>
        <p:spPr>
          <a:xfrm>
            <a:off x="6193413" y="2377439"/>
            <a:ext cx="908275" cy="411481"/>
          </a:xfrm>
          <a:prstGeom prst="rect">
            <a:avLst/>
          </a:prstGeom>
          <a:solidFill>
            <a:srgbClr val="2D2B55"/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4" name="Text 19"/>
          <p:cNvSpPr txBox="1"/>
          <p:nvPr/>
        </p:nvSpPr>
        <p:spPr>
          <a:xfrm>
            <a:off x="6193413" y="2478690"/>
            <a:ext cx="908275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700">
                <a:solidFill>
                  <a:srgbClr val="FFFFFF"/>
                </a:solidFill>
              </a:defRPr>
            </a:pPr>
            <a:r>
              <a:t>W5</a:t>
            </a:r>
          </a:p>
          <a:p>
            <a:pPr algn="ctr">
              <a:defRPr b="1" sz="700">
                <a:solidFill>
                  <a:srgbClr val="FFFFFF"/>
                </a:solidFill>
              </a:defRPr>
            </a:pPr>
            <a:r>
              <a:t>6/16~22</a:t>
            </a:r>
          </a:p>
        </p:txBody>
      </p:sp>
      <p:sp>
        <p:nvSpPr>
          <p:cNvPr id="845" name="Shape 20"/>
          <p:cNvSpPr/>
          <p:nvPr/>
        </p:nvSpPr>
        <p:spPr>
          <a:xfrm>
            <a:off x="7101688" y="2377439"/>
            <a:ext cx="908275" cy="411481"/>
          </a:xfrm>
          <a:prstGeom prst="rect">
            <a:avLst/>
          </a:prstGeom>
          <a:solidFill>
            <a:srgbClr val="2D2B55"/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6" name="Text 21"/>
          <p:cNvSpPr txBox="1"/>
          <p:nvPr/>
        </p:nvSpPr>
        <p:spPr>
          <a:xfrm>
            <a:off x="7101688" y="2478690"/>
            <a:ext cx="908275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700">
                <a:solidFill>
                  <a:srgbClr val="FFFFFF"/>
                </a:solidFill>
              </a:defRPr>
            </a:pPr>
            <a:r>
              <a:t>W6</a:t>
            </a:r>
          </a:p>
          <a:p>
            <a:pPr algn="ctr">
              <a:defRPr b="1" sz="700">
                <a:solidFill>
                  <a:srgbClr val="FFFFFF"/>
                </a:solidFill>
              </a:defRPr>
            </a:pPr>
            <a:r>
              <a:t>6/23~29</a:t>
            </a:r>
          </a:p>
        </p:txBody>
      </p:sp>
      <p:sp>
        <p:nvSpPr>
          <p:cNvPr id="847" name="Shape 22"/>
          <p:cNvSpPr/>
          <p:nvPr/>
        </p:nvSpPr>
        <p:spPr>
          <a:xfrm>
            <a:off x="8009960" y="2377439"/>
            <a:ext cx="908275" cy="411481"/>
          </a:xfrm>
          <a:prstGeom prst="rect">
            <a:avLst/>
          </a:prstGeom>
          <a:solidFill>
            <a:srgbClr val="2D2B55"/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8" name="Text 23"/>
          <p:cNvSpPr txBox="1"/>
          <p:nvPr/>
        </p:nvSpPr>
        <p:spPr>
          <a:xfrm>
            <a:off x="8009960" y="2478690"/>
            <a:ext cx="908275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700">
                <a:solidFill>
                  <a:srgbClr val="FFFFFF"/>
                </a:solidFill>
              </a:defRPr>
            </a:pPr>
            <a:r>
              <a:t>W7</a:t>
            </a:r>
          </a:p>
          <a:p>
            <a:pPr algn="ctr">
              <a:defRPr b="1" sz="700">
                <a:solidFill>
                  <a:srgbClr val="FFFFFF"/>
                </a:solidFill>
              </a:defRPr>
            </a:pPr>
            <a:r>
              <a:t>6/30~7/6</a:t>
            </a:r>
          </a:p>
        </p:txBody>
      </p:sp>
      <p:sp>
        <p:nvSpPr>
          <p:cNvPr id="849" name="Shape 24"/>
          <p:cNvSpPr/>
          <p:nvPr/>
        </p:nvSpPr>
        <p:spPr>
          <a:xfrm>
            <a:off x="8918234" y="2377439"/>
            <a:ext cx="908275" cy="411481"/>
          </a:xfrm>
          <a:prstGeom prst="rect">
            <a:avLst/>
          </a:prstGeom>
          <a:solidFill>
            <a:srgbClr val="2D2B55"/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0" name="Text 25"/>
          <p:cNvSpPr txBox="1"/>
          <p:nvPr/>
        </p:nvSpPr>
        <p:spPr>
          <a:xfrm>
            <a:off x="8918234" y="2478690"/>
            <a:ext cx="908275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700">
                <a:solidFill>
                  <a:srgbClr val="FFFFFF"/>
                </a:solidFill>
              </a:defRPr>
            </a:pPr>
            <a:r>
              <a:t>W8</a:t>
            </a:r>
          </a:p>
          <a:p>
            <a:pPr algn="ctr">
              <a:defRPr b="1" sz="700">
                <a:solidFill>
                  <a:srgbClr val="FFFFFF"/>
                </a:solidFill>
              </a:defRPr>
            </a:pPr>
            <a:r>
              <a:t>7/7~13</a:t>
            </a:r>
          </a:p>
        </p:txBody>
      </p:sp>
      <p:sp>
        <p:nvSpPr>
          <p:cNvPr id="851" name="Shape 26"/>
          <p:cNvSpPr/>
          <p:nvPr/>
        </p:nvSpPr>
        <p:spPr>
          <a:xfrm>
            <a:off x="9826507" y="2377439"/>
            <a:ext cx="908275" cy="411481"/>
          </a:xfrm>
          <a:prstGeom prst="rect">
            <a:avLst/>
          </a:prstGeom>
          <a:solidFill>
            <a:srgbClr val="2D2B55"/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2" name="Text 27"/>
          <p:cNvSpPr txBox="1"/>
          <p:nvPr/>
        </p:nvSpPr>
        <p:spPr>
          <a:xfrm>
            <a:off x="9826507" y="2478690"/>
            <a:ext cx="908275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700">
                <a:solidFill>
                  <a:srgbClr val="FFFFFF"/>
                </a:solidFill>
              </a:defRPr>
            </a:pPr>
            <a:r>
              <a:t>W9</a:t>
            </a:r>
          </a:p>
          <a:p>
            <a:pPr algn="ctr">
              <a:defRPr b="1" sz="700">
                <a:solidFill>
                  <a:srgbClr val="FFFFFF"/>
                </a:solidFill>
              </a:defRPr>
            </a:pPr>
            <a:r>
              <a:t>7/14~20</a:t>
            </a:r>
          </a:p>
        </p:txBody>
      </p:sp>
      <p:sp>
        <p:nvSpPr>
          <p:cNvPr id="853" name="Shape 28"/>
          <p:cNvSpPr/>
          <p:nvPr/>
        </p:nvSpPr>
        <p:spPr>
          <a:xfrm>
            <a:off x="10734781" y="2377439"/>
            <a:ext cx="908275" cy="411481"/>
          </a:xfrm>
          <a:prstGeom prst="rect">
            <a:avLst/>
          </a:prstGeom>
          <a:solidFill>
            <a:srgbClr val="2D2B55"/>
          </a:solidFill>
          <a:ln w="63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4" name="Text 29"/>
          <p:cNvSpPr txBox="1"/>
          <p:nvPr/>
        </p:nvSpPr>
        <p:spPr>
          <a:xfrm>
            <a:off x="10734781" y="2478690"/>
            <a:ext cx="908275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700">
                <a:solidFill>
                  <a:srgbClr val="FFFFFF"/>
                </a:solidFill>
              </a:defRPr>
            </a:pPr>
            <a:r>
              <a:t>W10</a:t>
            </a:r>
          </a:p>
          <a:p>
            <a:pPr algn="ctr">
              <a:defRPr b="1" sz="700">
                <a:solidFill>
                  <a:srgbClr val="FFFFFF"/>
                </a:solidFill>
              </a:defRPr>
            </a:pPr>
            <a:r>
              <a:t>7/21~25</a:t>
            </a:r>
          </a:p>
        </p:txBody>
      </p:sp>
      <p:sp>
        <p:nvSpPr>
          <p:cNvPr id="855" name="Shape 30"/>
          <p:cNvSpPr/>
          <p:nvPr/>
        </p:nvSpPr>
        <p:spPr>
          <a:xfrm>
            <a:off x="548640" y="2788920"/>
            <a:ext cx="2011679" cy="38404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6" name="Text 31"/>
          <p:cNvSpPr txBox="1"/>
          <p:nvPr/>
        </p:nvSpPr>
        <p:spPr>
          <a:xfrm>
            <a:off x="640079" y="2911094"/>
            <a:ext cx="18745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기획·설계</a:t>
            </a:r>
          </a:p>
        </p:txBody>
      </p:sp>
      <p:sp>
        <p:nvSpPr>
          <p:cNvPr id="857" name="Shape 32"/>
          <p:cNvSpPr/>
          <p:nvPr/>
        </p:nvSpPr>
        <p:spPr>
          <a:xfrm>
            <a:off x="2560320" y="2788920"/>
            <a:ext cx="908275" cy="384049"/>
          </a:xfrm>
          <a:prstGeom prst="rect">
            <a:avLst/>
          </a:prstGeom>
          <a:solidFill>
            <a:srgbClr val="64748B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8" name="Text 33"/>
          <p:cNvSpPr txBox="1"/>
          <p:nvPr/>
        </p:nvSpPr>
        <p:spPr>
          <a:xfrm>
            <a:off x="2560320" y="2902511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859" name="Shape 34"/>
          <p:cNvSpPr/>
          <p:nvPr/>
        </p:nvSpPr>
        <p:spPr>
          <a:xfrm>
            <a:off x="3468594" y="2788920"/>
            <a:ext cx="908275" cy="384049"/>
          </a:xfrm>
          <a:prstGeom prst="rect">
            <a:avLst/>
          </a:prstGeom>
          <a:solidFill>
            <a:srgbClr val="64748B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0" name="Text 35"/>
          <p:cNvSpPr txBox="1"/>
          <p:nvPr/>
        </p:nvSpPr>
        <p:spPr>
          <a:xfrm>
            <a:off x="3468594" y="2902511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861" name="Shape 36"/>
          <p:cNvSpPr/>
          <p:nvPr/>
        </p:nvSpPr>
        <p:spPr>
          <a:xfrm>
            <a:off x="4376866" y="2788920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2" name="Shape 37"/>
          <p:cNvSpPr/>
          <p:nvPr/>
        </p:nvSpPr>
        <p:spPr>
          <a:xfrm>
            <a:off x="5285140" y="2788920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3" name="Shape 38"/>
          <p:cNvSpPr/>
          <p:nvPr/>
        </p:nvSpPr>
        <p:spPr>
          <a:xfrm>
            <a:off x="6193413" y="2788920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4" name="Shape 39"/>
          <p:cNvSpPr/>
          <p:nvPr/>
        </p:nvSpPr>
        <p:spPr>
          <a:xfrm>
            <a:off x="7101688" y="2788920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5" name="Shape 40"/>
          <p:cNvSpPr/>
          <p:nvPr/>
        </p:nvSpPr>
        <p:spPr>
          <a:xfrm>
            <a:off x="8009960" y="2788920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6" name="Shape 41"/>
          <p:cNvSpPr/>
          <p:nvPr/>
        </p:nvSpPr>
        <p:spPr>
          <a:xfrm>
            <a:off x="8918234" y="2788920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7" name="Shape 42"/>
          <p:cNvSpPr/>
          <p:nvPr/>
        </p:nvSpPr>
        <p:spPr>
          <a:xfrm>
            <a:off x="9826507" y="2788920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8" name="Shape 43"/>
          <p:cNvSpPr/>
          <p:nvPr/>
        </p:nvSpPr>
        <p:spPr>
          <a:xfrm>
            <a:off x="10734781" y="2788920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9" name="Shape 44"/>
          <p:cNvSpPr/>
          <p:nvPr/>
        </p:nvSpPr>
        <p:spPr>
          <a:xfrm>
            <a:off x="548640" y="3172967"/>
            <a:ext cx="2011679" cy="38404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0" name="Text 45"/>
          <p:cNvSpPr txBox="1"/>
          <p:nvPr/>
        </p:nvSpPr>
        <p:spPr>
          <a:xfrm>
            <a:off x="640079" y="3295141"/>
            <a:ext cx="18745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5B4FE0"/>
                </a:solidFill>
              </a:defRPr>
            </a:lvl1pPr>
          </a:lstStyle>
          <a:p>
            <a:pPr/>
            <a:r>
              <a:t>프로필 (F01~F03)</a:t>
            </a:r>
          </a:p>
        </p:txBody>
      </p:sp>
      <p:sp>
        <p:nvSpPr>
          <p:cNvPr id="871" name="Shape 46"/>
          <p:cNvSpPr/>
          <p:nvPr/>
        </p:nvSpPr>
        <p:spPr>
          <a:xfrm>
            <a:off x="2560320" y="3172967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2" name="Shape 47"/>
          <p:cNvSpPr/>
          <p:nvPr/>
        </p:nvSpPr>
        <p:spPr>
          <a:xfrm>
            <a:off x="3468594" y="3172967"/>
            <a:ext cx="908275" cy="384049"/>
          </a:xfrm>
          <a:prstGeom prst="rect">
            <a:avLst/>
          </a:prstGeom>
          <a:solidFill>
            <a:srgbClr val="5B4FE0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3" name="Text 48"/>
          <p:cNvSpPr txBox="1"/>
          <p:nvPr/>
        </p:nvSpPr>
        <p:spPr>
          <a:xfrm>
            <a:off x="3468594" y="3286559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874" name="Shape 49"/>
          <p:cNvSpPr/>
          <p:nvPr/>
        </p:nvSpPr>
        <p:spPr>
          <a:xfrm>
            <a:off x="4376866" y="3172967"/>
            <a:ext cx="908275" cy="384049"/>
          </a:xfrm>
          <a:prstGeom prst="rect">
            <a:avLst/>
          </a:prstGeom>
          <a:solidFill>
            <a:srgbClr val="5B4FE0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5" name="Text 50"/>
          <p:cNvSpPr txBox="1"/>
          <p:nvPr/>
        </p:nvSpPr>
        <p:spPr>
          <a:xfrm>
            <a:off x="4376866" y="3286559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876" name="Shape 51"/>
          <p:cNvSpPr/>
          <p:nvPr/>
        </p:nvSpPr>
        <p:spPr>
          <a:xfrm>
            <a:off x="5285140" y="3172967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7" name="Shape 52"/>
          <p:cNvSpPr/>
          <p:nvPr/>
        </p:nvSpPr>
        <p:spPr>
          <a:xfrm>
            <a:off x="6193413" y="3172967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8" name="Shape 53"/>
          <p:cNvSpPr/>
          <p:nvPr/>
        </p:nvSpPr>
        <p:spPr>
          <a:xfrm>
            <a:off x="7101688" y="3172967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9" name="Shape 54"/>
          <p:cNvSpPr/>
          <p:nvPr/>
        </p:nvSpPr>
        <p:spPr>
          <a:xfrm>
            <a:off x="8009960" y="3172967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0" name="Shape 55"/>
          <p:cNvSpPr/>
          <p:nvPr/>
        </p:nvSpPr>
        <p:spPr>
          <a:xfrm>
            <a:off x="8918234" y="3172967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1" name="Shape 56"/>
          <p:cNvSpPr/>
          <p:nvPr/>
        </p:nvSpPr>
        <p:spPr>
          <a:xfrm>
            <a:off x="9826507" y="3172967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2" name="Shape 57"/>
          <p:cNvSpPr/>
          <p:nvPr/>
        </p:nvSpPr>
        <p:spPr>
          <a:xfrm>
            <a:off x="10734781" y="3172967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3" name="Shape 58"/>
          <p:cNvSpPr/>
          <p:nvPr/>
        </p:nvSpPr>
        <p:spPr>
          <a:xfrm>
            <a:off x="548640" y="3557015"/>
            <a:ext cx="2011679" cy="38404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4" name="Text 59"/>
          <p:cNvSpPr txBox="1"/>
          <p:nvPr/>
        </p:nvSpPr>
        <p:spPr>
          <a:xfrm>
            <a:off x="640079" y="3679189"/>
            <a:ext cx="18745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5B4FE0"/>
                </a:solidFill>
              </a:defRPr>
            </a:lvl1pPr>
          </a:lstStyle>
          <a:p>
            <a:pPr/>
            <a:r>
              <a:t>모집글 (F04~F06)</a:t>
            </a:r>
          </a:p>
        </p:txBody>
      </p:sp>
      <p:sp>
        <p:nvSpPr>
          <p:cNvPr id="885" name="Shape 60"/>
          <p:cNvSpPr/>
          <p:nvPr/>
        </p:nvSpPr>
        <p:spPr>
          <a:xfrm>
            <a:off x="2560320" y="355701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6" name="Shape 61"/>
          <p:cNvSpPr/>
          <p:nvPr/>
        </p:nvSpPr>
        <p:spPr>
          <a:xfrm>
            <a:off x="3468594" y="355701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7" name="Shape 62"/>
          <p:cNvSpPr/>
          <p:nvPr/>
        </p:nvSpPr>
        <p:spPr>
          <a:xfrm>
            <a:off x="4376866" y="3557015"/>
            <a:ext cx="908275" cy="384049"/>
          </a:xfrm>
          <a:prstGeom prst="rect">
            <a:avLst/>
          </a:prstGeom>
          <a:solidFill>
            <a:srgbClr val="5B4FE0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8" name="Text 63"/>
          <p:cNvSpPr txBox="1"/>
          <p:nvPr/>
        </p:nvSpPr>
        <p:spPr>
          <a:xfrm>
            <a:off x="4376866" y="3670607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889" name="Shape 64"/>
          <p:cNvSpPr/>
          <p:nvPr/>
        </p:nvSpPr>
        <p:spPr>
          <a:xfrm>
            <a:off x="5285140" y="3557015"/>
            <a:ext cx="908275" cy="384049"/>
          </a:xfrm>
          <a:prstGeom prst="rect">
            <a:avLst/>
          </a:prstGeom>
          <a:solidFill>
            <a:srgbClr val="5B4FE0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0" name="Text 65"/>
          <p:cNvSpPr txBox="1"/>
          <p:nvPr/>
        </p:nvSpPr>
        <p:spPr>
          <a:xfrm>
            <a:off x="5285140" y="3670607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891" name="Shape 66"/>
          <p:cNvSpPr/>
          <p:nvPr/>
        </p:nvSpPr>
        <p:spPr>
          <a:xfrm>
            <a:off x="6193413" y="355701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2" name="Shape 67"/>
          <p:cNvSpPr/>
          <p:nvPr/>
        </p:nvSpPr>
        <p:spPr>
          <a:xfrm>
            <a:off x="7101688" y="355701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3" name="Shape 68"/>
          <p:cNvSpPr/>
          <p:nvPr/>
        </p:nvSpPr>
        <p:spPr>
          <a:xfrm>
            <a:off x="8009960" y="355701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4" name="Shape 69"/>
          <p:cNvSpPr/>
          <p:nvPr/>
        </p:nvSpPr>
        <p:spPr>
          <a:xfrm>
            <a:off x="8918234" y="355701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5" name="Shape 70"/>
          <p:cNvSpPr/>
          <p:nvPr/>
        </p:nvSpPr>
        <p:spPr>
          <a:xfrm>
            <a:off x="9826507" y="355701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6" name="Shape 71"/>
          <p:cNvSpPr/>
          <p:nvPr/>
        </p:nvSpPr>
        <p:spPr>
          <a:xfrm>
            <a:off x="10734781" y="355701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7" name="Shape 72"/>
          <p:cNvSpPr/>
          <p:nvPr/>
        </p:nvSpPr>
        <p:spPr>
          <a:xfrm>
            <a:off x="548640" y="3941064"/>
            <a:ext cx="2011679" cy="38404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8" name="Text 73"/>
          <p:cNvSpPr txBox="1"/>
          <p:nvPr/>
        </p:nvSpPr>
        <p:spPr>
          <a:xfrm>
            <a:off x="640079" y="4063238"/>
            <a:ext cx="18745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5B4FE0"/>
                </a:solidFill>
              </a:defRPr>
            </a:lvl1pPr>
          </a:lstStyle>
          <a:p>
            <a:pPr/>
            <a:r>
              <a:t>지원·승인 (F07~F09)</a:t>
            </a:r>
          </a:p>
        </p:txBody>
      </p:sp>
      <p:sp>
        <p:nvSpPr>
          <p:cNvPr id="899" name="Shape 74"/>
          <p:cNvSpPr/>
          <p:nvPr/>
        </p:nvSpPr>
        <p:spPr>
          <a:xfrm>
            <a:off x="2560320" y="3941064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0" name="Shape 75"/>
          <p:cNvSpPr/>
          <p:nvPr/>
        </p:nvSpPr>
        <p:spPr>
          <a:xfrm>
            <a:off x="3468594" y="3941064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1" name="Shape 76"/>
          <p:cNvSpPr/>
          <p:nvPr/>
        </p:nvSpPr>
        <p:spPr>
          <a:xfrm>
            <a:off x="4376866" y="3941064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2" name="Shape 77"/>
          <p:cNvSpPr/>
          <p:nvPr/>
        </p:nvSpPr>
        <p:spPr>
          <a:xfrm>
            <a:off x="5285140" y="3941064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3" name="Shape 78"/>
          <p:cNvSpPr/>
          <p:nvPr/>
        </p:nvSpPr>
        <p:spPr>
          <a:xfrm>
            <a:off x="6193413" y="3941064"/>
            <a:ext cx="908275" cy="384049"/>
          </a:xfrm>
          <a:prstGeom prst="rect">
            <a:avLst/>
          </a:prstGeom>
          <a:solidFill>
            <a:srgbClr val="5B4FE0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4" name="Text 79"/>
          <p:cNvSpPr txBox="1"/>
          <p:nvPr/>
        </p:nvSpPr>
        <p:spPr>
          <a:xfrm>
            <a:off x="6193413" y="4054655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905" name="Shape 80"/>
          <p:cNvSpPr/>
          <p:nvPr/>
        </p:nvSpPr>
        <p:spPr>
          <a:xfrm>
            <a:off x="7101688" y="3941064"/>
            <a:ext cx="908275" cy="384049"/>
          </a:xfrm>
          <a:prstGeom prst="rect">
            <a:avLst/>
          </a:prstGeom>
          <a:solidFill>
            <a:srgbClr val="5B4FE0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6" name="Text 81"/>
          <p:cNvSpPr txBox="1"/>
          <p:nvPr/>
        </p:nvSpPr>
        <p:spPr>
          <a:xfrm>
            <a:off x="7101688" y="4054655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907" name="Shape 82"/>
          <p:cNvSpPr/>
          <p:nvPr/>
        </p:nvSpPr>
        <p:spPr>
          <a:xfrm>
            <a:off x="8009960" y="3941064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8" name="Shape 83"/>
          <p:cNvSpPr/>
          <p:nvPr/>
        </p:nvSpPr>
        <p:spPr>
          <a:xfrm>
            <a:off x="8918234" y="3941064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9" name="Shape 84"/>
          <p:cNvSpPr/>
          <p:nvPr/>
        </p:nvSpPr>
        <p:spPr>
          <a:xfrm>
            <a:off x="9826507" y="3941064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0" name="Shape 85"/>
          <p:cNvSpPr/>
          <p:nvPr/>
        </p:nvSpPr>
        <p:spPr>
          <a:xfrm>
            <a:off x="10734781" y="3941064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1" name="Shape 86"/>
          <p:cNvSpPr/>
          <p:nvPr/>
        </p:nvSpPr>
        <p:spPr>
          <a:xfrm>
            <a:off x="548640" y="4325111"/>
            <a:ext cx="2011679" cy="38404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2" name="Text 87"/>
          <p:cNvSpPr txBox="1"/>
          <p:nvPr/>
        </p:nvSpPr>
        <p:spPr>
          <a:xfrm>
            <a:off x="640079" y="4447285"/>
            <a:ext cx="18745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84CC16"/>
                </a:solidFill>
              </a:defRPr>
            </a:lvl1pPr>
          </a:lstStyle>
          <a:p>
            <a:pPr/>
            <a:r>
              <a:t>★ 매칭 점수 (F10·F11)</a:t>
            </a:r>
          </a:p>
        </p:txBody>
      </p:sp>
      <p:sp>
        <p:nvSpPr>
          <p:cNvPr id="913" name="Shape 88"/>
          <p:cNvSpPr/>
          <p:nvPr/>
        </p:nvSpPr>
        <p:spPr>
          <a:xfrm>
            <a:off x="2560320" y="4325111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4" name="Shape 89"/>
          <p:cNvSpPr/>
          <p:nvPr/>
        </p:nvSpPr>
        <p:spPr>
          <a:xfrm>
            <a:off x="3468594" y="4325111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5" name="Shape 90"/>
          <p:cNvSpPr/>
          <p:nvPr/>
        </p:nvSpPr>
        <p:spPr>
          <a:xfrm>
            <a:off x="4376866" y="4325111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6" name="Shape 91"/>
          <p:cNvSpPr/>
          <p:nvPr/>
        </p:nvSpPr>
        <p:spPr>
          <a:xfrm>
            <a:off x="5285140" y="4325111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7" name="Shape 92"/>
          <p:cNvSpPr/>
          <p:nvPr/>
        </p:nvSpPr>
        <p:spPr>
          <a:xfrm>
            <a:off x="6193413" y="4325111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8" name="Shape 93"/>
          <p:cNvSpPr/>
          <p:nvPr/>
        </p:nvSpPr>
        <p:spPr>
          <a:xfrm>
            <a:off x="7101688" y="4325111"/>
            <a:ext cx="908275" cy="384049"/>
          </a:xfrm>
          <a:prstGeom prst="rect">
            <a:avLst/>
          </a:prstGeom>
          <a:solidFill>
            <a:srgbClr val="84CC16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9" name="Text 94"/>
          <p:cNvSpPr txBox="1"/>
          <p:nvPr/>
        </p:nvSpPr>
        <p:spPr>
          <a:xfrm>
            <a:off x="7101688" y="4438703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920" name="Shape 95"/>
          <p:cNvSpPr/>
          <p:nvPr/>
        </p:nvSpPr>
        <p:spPr>
          <a:xfrm>
            <a:off x="8009960" y="4325111"/>
            <a:ext cx="908275" cy="384049"/>
          </a:xfrm>
          <a:prstGeom prst="rect">
            <a:avLst/>
          </a:prstGeom>
          <a:solidFill>
            <a:srgbClr val="84CC16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1" name="Text 96"/>
          <p:cNvSpPr txBox="1"/>
          <p:nvPr/>
        </p:nvSpPr>
        <p:spPr>
          <a:xfrm>
            <a:off x="8009960" y="4438703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922" name="Shape 97"/>
          <p:cNvSpPr/>
          <p:nvPr/>
        </p:nvSpPr>
        <p:spPr>
          <a:xfrm>
            <a:off x="8918234" y="4325111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3" name="Shape 98"/>
          <p:cNvSpPr/>
          <p:nvPr/>
        </p:nvSpPr>
        <p:spPr>
          <a:xfrm>
            <a:off x="9826507" y="4325111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4" name="Shape 99"/>
          <p:cNvSpPr/>
          <p:nvPr/>
        </p:nvSpPr>
        <p:spPr>
          <a:xfrm>
            <a:off x="10734781" y="4325111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5" name="Shape 100"/>
          <p:cNvSpPr/>
          <p:nvPr/>
        </p:nvSpPr>
        <p:spPr>
          <a:xfrm>
            <a:off x="548640" y="4709159"/>
            <a:ext cx="2011679" cy="38404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6" name="Text 101"/>
          <p:cNvSpPr txBox="1"/>
          <p:nvPr/>
        </p:nvSpPr>
        <p:spPr>
          <a:xfrm>
            <a:off x="640079" y="4831333"/>
            <a:ext cx="18745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5B4FE0"/>
                </a:solidFill>
              </a:defRPr>
            </a:lvl1pPr>
          </a:lstStyle>
          <a:p>
            <a:pPr/>
            <a:r>
              <a:t>진행 관리 (F12·F13)</a:t>
            </a:r>
          </a:p>
        </p:txBody>
      </p:sp>
      <p:sp>
        <p:nvSpPr>
          <p:cNvPr id="927" name="Shape 102"/>
          <p:cNvSpPr/>
          <p:nvPr/>
        </p:nvSpPr>
        <p:spPr>
          <a:xfrm>
            <a:off x="2560320" y="4709159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8" name="Shape 103"/>
          <p:cNvSpPr/>
          <p:nvPr/>
        </p:nvSpPr>
        <p:spPr>
          <a:xfrm>
            <a:off x="3468594" y="4709159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9" name="Shape 104"/>
          <p:cNvSpPr/>
          <p:nvPr/>
        </p:nvSpPr>
        <p:spPr>
          <a:xfrm>
            <a:off x="4376866" y="4709159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0" name="Shape 105"/>
          <p:cNvSpPr/>
          <p:nvPr/>
        </p:nvSpPr>
        <p:spPr>
          <a:xfrm>
            <a:off x="5285140" y="4709159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1" name="Shape 106"/>
          <p:cNvSpPr/>
          <p:nvPr/>
        </p:nvSpPr>
        <p:spPr>
          <a:xfrm>
            <a:off x="6193413" y="4709159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2" name="Shape 107"/>
          <p:cNvSpPr/>
          <p:nvPr/>
        </p:nvSpPr>
        <p:spPr>
          <a:xfrm>
            <a:off x="7101688" y="4709159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3" name="Shape 108"/>
          <p:cNvSpPr/>
          <p:nvPr/>
        </p:nvSpPr>
        <p:spPr>
          <a:xfrm>
            <a:off x="8009960" y="4709159"/>
            <a:ext cx="908275" cy="384049"/>
          </a:xfrm>
          <a:prstGeom prst="rect">
            <a:avLst/>
          </a:prstGeom>
          <a:solidFill>
            <a:srgbClr val="5B4FE0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4" name="Text 109"/>
          <p:cNvSpPr txBox="1"/>
          <p:nvPr/>
        </p:nvSpPr>
        <p:spPr>
          <a:xfrm>
            <a:off x="8009960" y="4822751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935" name="Shape 110"/>
          <p:cNvSpPr/>
          <p:nvPr/>
        </p:nvSpPr>
        <p:spPr>
          <a:xfrm>
            <a:off x="8918234" y="4709159"/>
            <a:ext cx="908275" cy="384049"/>
          </a:xfrm>
          <a:prstGeom prst="rect">
            <a:avLst/>
          </a:prstGeom>
          <a:solidFill>
            <a:srgbClr val="5B4FE0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6" name="Text 111"/>
          <p:cNvSpPr txBox="1"/>
          <p:nvPr/>
        </p:nvSpPr>
        <p:spPr>
          <a:xfrm>
            <a:off x="8918234" y="4822751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937" name="Shape 112"/>
          <p:cNvSpPr/>
          <p:nvPr/>
        </p:nvSpPr>
        <p:spPr>
          <a:xfrm>
            <a:off x="9826507" y="4709159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8" name="Shape 113"/>
          <p:cNvSpPr/>
          <p:nvPr/>
        </p:nvSpPr>
        <p:spPr>
          <a:xfrm>
            <a:off x="10734781" y="4709159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9" name="Shape 114"/>
          <p:cNvSpPr/>
          <p:nvPr/>
        </p:nvSpPr>
        <p:spPr>
          <a:xfrm>
            <a:off x="548640" y="5093208"/>
            <a:ext cx="2011679" cy="38404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0" name="Text 115"/>
          <p:cNvSpPr txBox="1"/>
          <p:nvPr/>
        </p:nvSpPr>
        <p:spPr>
          <a:xfrm>
            <a:off x="640079" y="5215382"/>
            <a:ext cx="18745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5B4FE0"/>
                </a:solidFill>
              </a:defRPr>
            </a:lvl1pPr>
          </a:lstStyle>
          <a:p>
            <a:pPr/>
            <a:r>
              <a:t>포트폴리오 (F14·F15)</a:t>
            </a:r>
          </a:p>
        </p:txBody>
      </p:sp>
      <p:sp>
        <p:nvSpPr>
          <p:cNvPr id="941" name="Shape 116"/>
          <p:cNvSpPr/>
          <p:nvPr/>
        </p:nvSpPr>
        <p:spPr>
          <a:xfrm>
            <a:off x="2560320" y="5093208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2" name="Shape 117"/>
          <p:cNvSpPr/>
          <p:nvPr/>
        </p:nvSpPr>
        <p:spPr>
          <a:xfrm>
            <a:off x="3468594" y="5093208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3" name="Shape 118"/>
          <p:cNvSpPr/>
          <p:nvPr/>
        </p:nvSpPr>
        <p:spPr>
          <a:xfrm>
            <a:off x="4376866" y="5093208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4" name="Shape 119"/>
          <p:cNvSpPr/>
          <p:nvPr/>
        </p:nvSpPr>
        <p:spPr>
          <a:xfrm>
            <a:off x="5285140" y="5093208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5" name="Shape 120"/>
          <p:cNvSpPr/>
          <p:nvPr/>
        </p:nvSpPr>
        <p:spPr>
          <a:xfrm>
            <a:off x="6193413" y="5093208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6" name="Shape 121"/>
          <p:cNvSpPr/>
          <p:nvPr/>
        </p:nvSpPr>
        <p:spPr>
          <a:xfrm>
            <a:off x="7101688" y="5093208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7" name="Shape 122"/>
          <p:cNvSpPr/>
          <p:nvPr/>
        </p:nvSpPr>
        <p:spPr>
          <a:xfrm>
            <a:off x="8009960" y="5093208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8" name="Shape 123"/>
          <p:cNvSpPr/>
          <p:nvPr/>
        </p:nvSpPr>
        <p:spPr>
          <a:xfrm>
            <a:off x="8918234" y="5093208"/>
            <a:ext cx="908275" cy="384049"/>
          </a:xfrm>
          <a:prstGeom prst="rect">
            <a:avLst/>
          </a:prstGeom>
          <a:solidFill>
            <a:srgbClr val="5B4FE0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9" name="Text 124"/>
          <p:cNvSpPr txBox="1"/>
          <p:nvPr/>
        </p:nvSpPr>
        <p:spPr>
          <a:xfrm>
            <a:off x="8918234" y="5206799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950" name="Shape 125"/>
          <p:cNvSpPr/>
          <p:nvPr/>
        </p:nvSpPr>
        <p:spPr>
          <a:xfrm>
            <a:off x="9826507" y="5093208"/>
            <a:ext cx="908275" cy="384049"/>
          </a:xfrm>
          <a:prstGeom prst="rect">
            <a:avLst/>
          </a:prstGeom>
          <a:solidFill>
            <a:srgbClr val="5B4FE0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1" name="Text 126"/>
          <p:cNvSpPr txBox="1"/>
          <p:nvPr/>
        </p:nvSpPr>
        <p:spPr>
          <a:xfrm>
            <a:off x="9826507" y="5206799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952" name="Shape 127"/>
          <p:cNvSpPr/>
          <p:nvPr/>
        </p:nvSpPr>
        <p:spPr>
          <a:xfrm>
            <a:off x="10734781" y="5093208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3" name="Shape 128"/>
          <p:cNvSpPr/>
          <p:nvPr/>
        </p:nvSpPr>
        <p:spPr>
          <a:xfrm>
            <a:off x="548640" y="5477255"/>
            <a:ext cx="2011679" cy="38404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4" name="Text 129"/>
          <p:cNvSpPr txBox="1"/>
          <p:nvPr/>
        </p:nvSpPr>
        <p:spPr>
          <a:xfrm>
            <a:off x="640079" y="5599429"/>
            <a:ext cx="18745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EC4899"/>
                </a:solidFill>
              </a:defRPr>
            </a:lvl1pPr>
          </a:lstStyle>
          <a:p>
            <a:pPr/>
            <a:r>
              <a:t>통합·배포·발표</a:t>
            </a:r>
          </a:p>
        </p:txBody>
      </p:sp>
      <p:sp>
        <p:nvSpPr>
          <p:cNvPr id="955" name="Shape 130"/>
          <p:cNvSpPr/>
          <p:nvPr/>
        </p:nvSpPr>
        <p:spPr>
          <a:xfrm>
            <a:off x="2560320" y="547725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6" name="Shape 131"/>
          <p:cNvSpPr/>
          <p:nvPr/>
        </p:nvSpPr>
        <p:spPr>
          <a:xfrm>
            <a:off x="3468594" y="547725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7" name="Shape 132"/>
          <p:cNvSpPr/>
          <p:nvPr/>
        </p:nvSpPr>
        <p:spPr>
          <a:xfrm>
            <a:off x="4376866" y="547725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8" name="Shape 133"/>
          <p:cNvSpPr/>
          <p:nvPr/>
        </p:nvSpPr>
        <p:spPr>
          <a:xfrm>
            <a:off x="5285140" y="547725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9" name="Shape 134"/>
          <p:cNvSpPr/>
          <p:nvPr/>
        </p:nvSpPr>
        <p:spPr>
          <a:xfrm>
            <a:off x="6193413" y="547725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0" name="Shape 135"/>
          <p:cNvSpPr/>
          <p:nvPr/>
        </p:nvSpPr>
        <p:spPr>
          <a:xfrm>
            <a:off x="7101688" y="547725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1" name="Shape 136"/>
          <p:cNvSpPr/>
          <p:nvPr/>
        </p:nvSpPr>
        <p:spPr>
          <a:xfrm>
            <a:off x="8009960" y="547725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2" name="Shape 137"/>
          <p:cNvSpPr/>
          <p:nvPr/>
        </p:nvSpPr>
        <p:spPr>
          <a:xfrm>
            <a:off x="8918234" y="547725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3" name="Shape 138"/>
          <p:cNvSpPr/>
          <p:nvPr/>
        </p:nvSpPr>
        <p:spPr>
          <a:xfrm>
            <a:off x="9826507" y="5477255"/>
            <a:ext cx="908275" cy="38404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4" name="Shape 139"/>
          <p:cNvSpPr/>
          <p:nvPr/>
        </p:nvSpPr>
        <p:spPr>
          <a:xfrm>
            <a:off x="10734781" y="5477255"/>
            <a:ext cx="908275" cy="384049"/>
          </a:xfrm>
          <a:prstGeom prst="rect">
            <a:avLst/>
          </a:prstGeom>
          <a:solidFill>
            <a:srgbClr val="EC4899"/>
          </a:solidFill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5" name="Text 140"/>
          <p:cNvSpPr txBox="1"/>
          <p:nvPr/>
        </p:nvSpPr>
        <p:spPr>
          <a:xfrm>
            <a:off x="10734781" y="5590847"/>
            <a:ext cx="90827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966" name="Text 141"/>
          <p:cNvSpPr txBox="1"/>
          <p:nvPr/>
        </p:nvSpPr>
        <p:spPr>
          <a:xfrm>
            <a:off x="594359" y="6372668"/>
            <a:ext cx="1097280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64748B"/>
                </a:solidFill>
              </a:defRPr>
            </a:lvl1pPr>
          </a:lstStyle>
          <a:p>
            <a:pPr/>
            <a:r>
              <a:t>※ 매주 금요일 정기 회의  ·  W5(중간고사 가능 구간)·W10(마무리)에 버퍼 포함  ·  1인 주 25~30시간 가정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9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970" name="Text 2"/>
          <p:cNvSpPr txBox="1"/>
          <p:nvPr/>
        </p:nvSpPr>
        <p:spPr>
          <a:xfrm>
            <a:off x="1188719" y="47236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04.  TECH STACK</a:t>
            </a:r>
          </a:p>
        </p:txBody>
      </p:sp>
      <p:sp>
        <p:nvSpPr>
          <p:cNvPr id="971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14 / 21</a:t>
            </a:r>
          </a:p>
        </p:txBody>
      </p:sp>
      <p:sp>
        <p:nvSpPr>
          <p:cNvPr id="972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기술 스택</a:t>
            </a:r>
          </a:p>
        </p:txBody>
      </p:sp>
      <p:sp>
        <p:nvSpPr>
          <p:cNvPr id="973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974" name="Shape 6"/>
          <p:cNvSpPr/>
          <p:nvPr/>
        </p:nvSpPr>
        <p:spPr>
          <a:xfrm>
            <a:off x="548639" y="1783079"/>
            <a:ext cx="3566161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5" name="Shape 7"/>
          <p:cNvSpPr/>
          <p:nvPr/>
        </p:nvSpPr>
        <p:spPr>
          <a:xfrm>
            <a:off x="548639" y="1783079"/>
            <a:ext cx="3566161" cy="45720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6" name="Text 8"/>
          <p:cNvSpPr txBox="1"/>
          <p:nvPr/>
        </p:nvSpPr>
        <p:spPr>
          <a:xfrm>
            <a:off x="731520" y="1917000"/>
            <a:ext cx="33832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977" name="Text 9"/>
          <p:cNvSpPr txBox="1"/>
          <p:nvPr/>
        </p:nvSpPr>
        <p:spPr>
          <a:xfrm>
            <a:off x="822960" y="2545065"/>
            <a:ext cx="3246121" cy="1036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React 18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Next.js 14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TypeScript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Tailwind CSS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React Query</a:t>
            </a:r>
          </a:p>
        </p:txBody>
      </p:sp>
      <p:sp>
        <p:nvSpPr>
          <p:cNvPr id="978" name="Shape 10"/>
          <p:cNvSpPr/>
          <p:nvPr/>
        </p:nvSpPr>
        <p:spPr>
          <a:xfrm>
            <a:off x="4251959" y="1783079"/>
            <a:ext cx="35661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9" name="Shape 11"/>
          <p:cNvSpPr/>
          <p:nvPr/>
        </p:nvSpPr>
        <p:spPr>
          <a:xfrm>
            <a:off x="4251959" y="1783079"/>
            <a:ext cx="3566160" cy="45720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0" name="Text 12"/>
          <p:cNvSpPr txBox="1"/>
          <p:nvPr/>
        </p:nvSpPr>
        <p:spPr>
          <a:xfrm>
            <a:off x="4434840" y="1917000"/>
            <a:ext cx="33832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981" name="Text 13"/>
          <p:cNvSpPr txBox="1"/>
          <p:nvPr/>
        </p:nvSpPr>
        <p:spPr>
          <a:xfrm>
            <a:off x="4526279" y="2545065"/>
            <a:ext cx="3246121" cy="1036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Java 17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Spring Boot 3.x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Spring Security + JWT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JPA / Hibernate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Swagger / OpenAPI</a:t>
            </a:r>
          </a:p>
        </p:txBody>
      </p:sp>
      <p:sp>
        <p:nvSpPr>
          <p:cNvPr id="982" name="Shape 14"/>
          <p:cNvSpPr/>
          <p:nvPr/>
        </p:nvSpPr>
        <p:spPr>
          <a:xfrm>
            <a:off x="7955280" y="1783079"/>
            <a:ext cx="35661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3" name="Shape 15"/>
          <p:cNvSpPr/>
          <p:nvPr/>
        </p:nvSpPr>
        <p:spPr>
          <a:xfrm>
            <a:off x="7955280" y="1783079"/>
            <a:ext cx="3566160" cy="45720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4" name="Text 16"/>
          <p:cNvSpPr txBox="1"/>
          <p:nvPr/>
        </p:nvSpPr>
        <p:spPr>
          <a:xfrm>
            <a:off x="8138159" y="1917000"/>
            <a:ext cx="33832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Database</a:t>
            </a:r>
          </a:p>
        </p:txBody>
      </p:sp>
      <p:sp>
        <p:nvSpPr>
          <p:cNvPr id="985" name="Text 17"/>
          <p:cNvSpPr txBox="1"/>
          <p:nvPr/>
        </p:nvSpPr>
        <p:spPr>
          <a:xfrm>
            <a:off x="8229600" y="2732816"/>
            <a:ext cx="3246121" cy="660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MySQL 8.x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Flyway 마이그레이션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Redis (선택, 캐시)</a:t>
            </a:r>
          </a:p>
        </p:txBody>
      </p:sp>
      <p:sp>
        <p:nvSpPr>
          <p:cNvPr id="986" name="Shape 18"/>
          <p:cNvSpPr/>
          <p:nvPr/>
        </p:nvSpPr>
        <p:spPr>
          <a:xfrm>
            <a:off x="548639" y="3977640"/>
            <a:ext cx="3566161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7" name="Shape 19"/>
          <p:cNvSpPr/>
          <p:nvPr/>
        </p:nvSpPr>
        <p:spPr>
          <a:xfrm>
            <a:off x="548639" y="3977640"/>
            <a:ext cx="3566161" cy="457201"/>
          </a:xfrm>
          <a:prstGeom prst="rect">
            <a:avLst/>
          </a:prstGeom>
          <a:solidFill>
            <a:srgbClr val="EC48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8" name="Text 20"/>
          <p:cNvSpPr txBox="1"/>
          <p:nvPr/>
        </p:nvSpPr>
        <p:spPr>
          <a:xfrm>
            <a:off x="731520" y="4111560"/>
            <a:ext cx="33832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Design</a:t>
            </a:r>
          </a:p>
        </p:txBody>
      </p:sp>
      <p:sp>
        <p:nvSpPr>
          <p:cNvPr id="989" name="Text 21"/>
          <p:cNvSpPr txBox="1"/>
          <p:nvPr/>
        </p:nvSpPr>
        <p:spPr>
          <a:xfrm>
            <a:off x="822960" y="4905022"/>
            <a:ext cx="3246121" cy="705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Figma (와이어프레임·시스템)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Adobe Illustrator (로고)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디자인 토큰 정의</a:t>
            </a:r>
          </a:p>
        </p:txBody>
      </p:sp>
      <p:sp>
        <p:nvSpPr>
          <p:cNvPr id="990" name="Shape 22"/>
          <p:cNvSpPr/>
          <p:nvPr/>
        </p:nvSpPr>
        <p:spPr>
          <a:xfrm>
            <a:off x="4251959" y="3977640"/>
            <a:ext cx="35661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1" name="Shape 23"/>
          <p:cNvSpPr/>
          <p:nvPr/>
        </p:nvSpPr>
        <p:spPr>
          <a:xfrm>
            <a:off x="4251959" y="3977640"/>
            <a:ext cx="3566160" cy="457201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2" name="Text 24"/>
          <p:cNvSpPr txBox="1"/>
          <p:nvPr/>
        </p:nvSpPr>
        <p:spPr>
          <a:xfrm>
            <a:off x="4434840" y="4111560"/>
            <a:ext cx="33832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Infra / Deploy</a:t>
            </a:r>
          </a:p>
        </p:txBody>
      </p:sp>
      <p:sp>
        <p:nvSpPr>
          <p:cNvPr id="993" name="Text 25"/>
          <p:cNvSpPr txBox="1"/>
          <p:nvPr/>
        </p:nvSpPr>
        <p:spPr>
          <a:xfrm>
            <a:off x="4526279" y="4830031"/>
            <a:ext cx="3246121" cy="855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AWS EC2 t3.micro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AWS RDS MySQL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Vercel (프론트)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GitHub Actions CI</a:t>
            </a:r>
          </a:p>
        </p:txBody>
      </p:sp>
      <p:sp>
        <p:nvSpPr>
          <p:cNvPr id="994" name="Shape 26"/>
          <p:cNvSpPr/>
          <p:nvPr/>
        </p:nvSpPr>
        <p:spPr>
          <a:xfrm>
            <a:off x="7955280" y="3977640"/>
            <a:ext cx="35661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5" name="Shape 27"/>
          <p:cNvSpPr/>
          <p:nvPr/>
        </p:nvSpPr>
        <p:spPr>
          <a:xfrm>
            <a:off x="7955280" y="3977640"/>
            <a:ext cx="3566160" cy="457201"/>
          </a:xfrm>
          <a:prstGeom prst="rect">
            <a:avLst/>
          </a:prstGeom>
          <a:solidFill>
            <a:srgbClr val="14B8A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6" name="Text 28"/>
          <p:cNvSpPr txBox="1"/>
          <p:nvPr/>
        </p:nvSpPr>
        <p:spPr>
          <a:xfrm>
            <a:off x="8138159" y="4111560"/>
            <a:ext cx="33832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Collaboration</a:t>
            </a:r>
          </a:p>
        </p:txBody>
      </p:sp>
      <p:sp>
        <p:nvSpPr>
          <p:cNvPr id="997" name="Text 29"/>
          <p:cNvSpPr txBox="1"/>
          <p:nvPr/>
        </p:nvSpPr>
        <p:spPr>
          <a:xfrm>
            <a:off x="8229600" y="4769909"/>
            <a:ext cx="3246121" cy="97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GitHub (PR 리뷰)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Notion (문서·기획)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Figma (디자인 공유)</a:t>
            </a:r>
          </a:p>
          <a:p>
            <a:pPr>
              <a:lnSpc>
                <a:spcPct val="145000"/>
              </a:lnSpc>
              <a:defRPr sz="1100">
                <a:solidFill>
                  <a:srgbClr val="334155"/>
                </a:solidFill>
              </a:defRPr>
            </a:pPr>
            <a:r>
              <a:t>• Discord (실시간)</a:t>
            </a:r>
          </a:p>
        </p:txBody>
      </p:sp>
      <p:sp>
        <p:nvSpPr>
          <p:cNvPr id="998" name="Shape 30"/>
          <p:cNvSpPr/>
          <p:nvPr/>
        </p:nvSpPr>
        <p:spPr>
          <a:xfrm>
            <a:off x="548639" y="6309359"/>
            <a:ext cx="11064242" cy="32004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9" name="Text 31"/>
          <p:cNvSpPr txBox="1"/>
          <p:nvPr/>
        </p:nvSpPr>
        <p:spPr>
          <a:xfrm>
            <a:off x="640080" y="6386829"/>
            <a:ext cx="109728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5B4FE0"/>
                </a:solidFill>
              </a:defRPr>
            </a:pPr>
            <a:r>
              <a:t>선택 이유  </a:t>
            </a:r>
            <a:r>
              <a:rPr b="0">
                <a:solidFill>
                  <a:srgbClr val="334155"/>
                </a:solidFill>
              </a:rPr>
              <a:t>백엔드/프론트 신입 채용 1순위 스택  ·  팀 내 컴공 4명에게 익숙  ·  AWS 프리티어로 비용 ₩0 운영 가능</a:t>
            </a:r>
          </a:p>
        </p:txBody>
      </p:sp>
      <p:sp>
        <p:nvSpPr>
          <p:cNvPr id="1000" name="TextBox 33"/>
          <p:cNvSpPr txBox="1"/>
          <p:nvPr/>
        </p:nvSpPr>
        <p:spPr>
          <a:xfrm>
            <a:off x="857239" y="2099999"/>
            <a:ext cx="3208562" cy="25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000">
                <a:solidFill>
                  <a:srgbClr val="7C3AED"/>
                </a:solidFill>
              </a:defRPr>
            </a:pP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사용자가 보고 클릭하는 모든 화면을 구현합니다</a:t>
            </a:r>
          </a:p>
        </p:txBody>
      </p:sp>
      <p:sp>
        <p:nvSpPr>
          <p:cNvPr id="1001" name="TextBox 34"/>
          <p:cNvSpPr txBox="1"/>
          <p:nvPr/>
        </p:nvSpPr>
        <p:spPr>
          <a:xfrm>
            <a:off x="4560560" y="2099999"/>
            <a:ext cx="3208561" cy="25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000">
                <a:solidFill>
                  <a:srgbClr val="7C3AED"/>
                </a:solidFill>
              </a:defRPr>
            </a:pP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데이터를 처리하고 저장하는 서버 로직을 담당합니다</a:t>
            </a:r>
          </a:p>
        </p:txBody>
      </p:sp>
      <p:sp>
        <p:nvSpPr>
          <p:cNvPr id="1002" name="TextBox 35"/>
          <p:cNvSpPr txBox="1"/>
          <p:nvPr/>
        </p:nvSpPr>
        <p:spPr>
          <a:xfrm>
            <a:off x="8263879" y="2099999"/>
            <a:ext cx="3208561" cy="25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000">
                <a:solidFill>
                  <a:srgbClr val="7C3AED"/>
                </a:solidFill>
              </a:defRPr>
            </a:pP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모든 정보를 안전하게 저장하는 창고 역할을 합니다</a:t>
            </a:r>
          </a:p>
        </p:txBody>
      </p:sp>
      <p:sp>
        <p:nvSpPr>
          <p:cNvPr id="1003" name="TextBox 36"/>
          <p:cNvSpPr txBox="1"/>
          <p:nvPr/>
        </p:nvSpPr>
        <p:spPr>
          <a:xfrm>
            <a:off x="857239" y="4294999"/>
            <a:ext cx="3208562" cy="25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000">
                <a:solidFill>
                  <a:srgbClr val="7C3AED"/>
                </a:solidFill>
              </a:defRPr>
            </a:pP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서비스의 시각적 경험 전체를 설계합니다</a:t>
            </a:r>
          </a:p>
        </p:txBody>
      </p:sp>
      <p:sp>
        <p:nvSpPr>
          <p:cNvPr id="1004" name="TextBox 37"/>
          <p:cNvSpPr txBox="1"/>
          <p:nvPr/>
        </p:nvSpPr>
        <p:spPr>
          <a:xfrm>
            <a:off x="4560560" y="4294999"/>
            <a:ext cx="3208561" cy="25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000">
                <a:solidFill>
                  <a:srgbClr val="7C3AED"/>
                </a:solidFill>
              </a:defRPr>
            </a:pP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만든 서비스를 실제 인터넷에 </a:t>
            </a:r>
            <a:r>
              <a:t>24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시간 배포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운영합니다</a:t>
            </a:r>
          </a:p>
        </p:txBody>
      </p:sp>
      <p:sp>
        <p:nvSpPr>
          <p:cNvPr id="1005" name="TextBox 38"/>
          <p:cNvSpPr txBox="1"/>
          <p:nvPr/>
        </p:nvSpPr>
        <p:spPr>
          <a:xfrm>
            <a:off x="8263879" y="4294999"/>
            <a:ext cx="3208561" cy="25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000">
                <a:solidFill>
                  <a:srgbClr val="7C3AED"/>
                </a:solidFill>
              </a:defRPr>
            </a:pPr>
            <a:r>
              <a:t>→ 6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명이 함께 소통하고 협업하는 도구 모음입니다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8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1009" name="Text 2"/>
          <p:cNvSpPr txBox="1"/>
          <p:nvPr/>
        </p:nvSpPr>
        <p:spPr>
          <a:xfrm>
            <a:off x="1188719" y="47236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05.  REVENUE</a:t>
            </a:r>
          </a:p>
        </p:txBody>
      </p:sp>
      <p:sp>
        <p:nvSpPr>
          <p:cNvPr id="1010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15 / 21</a:t>
            </a:r>
          </a:p>
        </p:txBody>
      </p:sp>
      <p:sp>
        <p:nvSpPr>
          <p:cNvPr id="1011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수익 모델 — 단계적 수익화</a:t>
            </a:r>
          </a:p>
        </p:txBody>
      </p:sp>
      <p:sp>
        <p:nvSpPr>
          <p:cNvPr id="1012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1013" name="Text 6"/>
          <p:cNvSpPr txBox="1"/>
          <p:nvPr/>
        </p:nvSpPr>
        <p:spPr>
          <a:xfrm>
            <a:off x="594359" y="1795780"/>
            <a:ext cx="53949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5B4FE0"/>
                </a:solidFill>
              </a:defRPr>
            </a:lvl1pPr>
          </a:lstStyle>
          <a:p>
            <a:pPr/>
            <a:r>
              <a:t>수익화 4단계</a:t>
            </a:r>
          </a:p>
        </p:txBody>
      </p:sp>
      <p:sp>
        <p:nvSpPr>
          <p:cNvPr id="1014" name="Shape 7"/>
          <p:cNvSpPr/>
          <p:nvPr/>
        </p:nvSpPr>
        <p:spPr>
          <a:xfrm>
            <a:off x="548640" y="2240279"/>
            <a:ext cx="6675119" cy="77724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5" name="Shape 8"/>
          <p:cNvSpPr/>
          <p:nvPr/>
        </p:nvSpPr>
        <p:spPr>
          <a:xfrm>
            <a:off x="548640" y="2240279"/>
            <a:ext cx="822961" cy="777241"/>
          </a:xfrm>
          <a:prstGeom prst="rect">
            <a:avLst/>
          </a:prstGeom>
          <a:solidFill>
            <a:srgbClr val="64748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6" name="Text 9"/>
          <p:cNvSpPr txBox="1"/>
          <p:nvPr/>
        </p:nvSpPr>
        <p:spPr>
          <a:xfrm>
            <a:off x="548640" y="2552699"/>
            <a:ext cx="8229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1단계</a:t>
            </a:r>
          </a:p>
        </p:txBody>
      </p:sp>
      <p:sp>
        <p:nvSpPr>
          <p:cNvPr id="1017" name="Text 10"/>
          <p:cNvSpPr txBox="1"/>
          <p:nvPr/>
        </p:nvSpPr>
        <p:spPr>
          <a:xfrm>
            <a:off x="1554480" y="2394711"/>
            <a:ext cx="36576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F172A"/>
                </a:solidFill>
              </a:defRPr>
            </a:lvl1pPr>
          </a:lstStyle>
          <a:p>
            <a:pPr/>
            <a:r>
              <a:t>무료 (사용자 확보)</a:t>
            </a:r>
          </a:p>
        </p:txBody>
      </p:sp>
      <p:sp>
        <p:nvSpPr>
          <p:cNvPr id="1018" name="Text 11"/>
          <p:cNvSpPr txBox="1"/>
          <p:nvPr/>
        </p:nvSpPr>
        <p:spPr>
          <a:xfrm>
            <a:off x="1554480" y="2712720"/>
            <a:ext cx="3657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전체 대학생</a:t>
            </a:r>
          </a:p>
        </p:txBody>
      </p:sp>
      <p:sp>
        <p:nvSpPr>
          <p:cNvPr id="1019" name="Text 12"/>
          <p:cNvSpPr txBox="1"/>
          <p:nvPr/>
        </p:nvSpPr>
        <p:spPr>
          <a:xfrm>
            <a:off x="5029200" y="2546349"/>
            <a:ext cx="21031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64748B"/>
                </a:solidFill>
              </a:defRPr>
            </a:lvl1pPr>
          </a:lstStyle>
          <a:p>
            <a:pPr/>
            <a:r>
              <a:t>무료</a:t>
            </a:r>
          </a:p>
        </p:txBody>
      </p:sp>
      <p:sp>
        <p:nvSpPr>
          <p:cNvPr id="1020" name="Shape 13"/>
          <p:cNvSpPr/>
          <p:nvPr/>
        </p:nvSpPr>
        <p:spPr>
          <a:xfrm>
            <a:off x="548640" y="3108960"/>
            <a:ext cx="6675119" cy="77724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1" name="Shape 14"/>
          <p:cNvSpPr/>
          <p:nvPr/>
        </p:nvSpPr>
        <p:spPr>
          <a:xfrm>
            <a:off x="548640" y="3108960"/>
            <a:ext cx="822961" cy="77724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2" name="Text 15"/>
          <p:cNvSpPr txBox="1"/>
          <p:nvPr/>
        </p:nvSpPr>
        <p:spPr>
          <a:xfrm>
            <a:off x="548640" y="3421379"/>
            <a:ext cx="8229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2단계</a:t>
            </a:r>
          </a:p>
        </p:txBody>
      </p:sp>
      <p:sp>
        <p:nvSpPr>
          <p:cNvPr id="1023" name="Text 16"/>
          <p:cNvSpPr txBox="1"/>
          <p:nvPr/>
        </p:nvSpPr>
        <p:spPr>
          <a:xfrm>
            <a:off x="1554480" y="3263391"/>
            <a:ext cx="36576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F172A"/>
                </a:solidFill>
              </a:defRPr>
            </a:lvl1pPr>
          </a:lstStyle>
          <a:p>
            <a:pPr/>
            <a:r>
              <a:t>프리미엄 포트폴리오</a:t>
            </a:r>
          </a:p>
        </p:txBody>
      </p:sp>
      <p:sp>
        <p:nvSpPr>
          <p:cNvPr id="1024" name="Text 17"/>
          <p:cNvSpPr txBox="1"/>
          <p:nvPr/>
        </p:nvSpPr>
        <p:spPr>
          <a:xfrm>
            <a:off x="1554480" y="3581400"/>
            <a:ext cx="3657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취업 준비 학생</a:t>
            </a:r>
          </a:p>
        </p:txBody>
      </p:sp>
      <p:sp>
        <p:nvSpPr>
          <p:cNvPr id="1025" name="Text 18"/>
          <p:cNvSpPr txBox="1"/>
          <p:nvPr/>
        </p:nvSpPr>
        <p:spPr>
          <a:xfrm>
            <a:off x="5029200" y="3415029"/>
            <a:ext cx="21031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5B4FE0"/>
                </a:solidFill>
              </a:defRPr>
            </a:lvl1pPr>
          </a:lstStyle>
          <a:p>
            <a:pPr/>
            <a:r>
              <a:t>월 1,000~3,000원</a:t>
            </a:r>
          </a:p>
        </p:txBody>
      </p:sp>
      <p:sp>
        <p:nvSpPr>
          <p:cNvPr id="1026" name="Shape 19"/>
          <p:cNvSpPr/>
          <p:nvPr/>
        </p:nvSpPr>
        <p:spPr>
          <a:xfrm>
            <a:off x="548640" y="3977640"/>
            <a:ext cx="6675119" cy="77724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7" name="Shape 20"/>
          <p:cNvSpPr/>
          <p:nvPr/>
        </p:nvSpPr>
        <p:spPr>
          <a:xfrm>
            <a:off x="548640" y="3977640"/>
            <a:ext cx="822961" cy="77724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8" name="Text 21"/>
          <p:cNvSpPr txBox="1"/>
          <p:nvPr/>
        </p:nvSpPr>
        <p:spPr>
          <a:xfrm>
            <a:off x="548640" y="4290060"/>
            <a:ext cx="8229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2단계</a:t>
            </a:r>
          </a:p>
        </p:txBody>
      </p:sp>
      <p:sp>
        <p:nvSpPr>
          <p:cNvPr id="1029" name="Text 22"/>
          <p:cNvSpPr txBox="1"/>
          <p:nvPr/>
        </p:nvSpPr>
        <p:spPr>
          <a:xfrm>
            <a:off x="1554480" y="4132071"/>
            <a:ext cx="36576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F172A"/>
                </a:solidFill>
              </a:defRPr>
            </a:lvl1pPr>
          </a:lstStyle>
          <a:p>
            <a:pPr/>
            <a:r>
              <a:t>모집글 상단 노출</a:t>
            </a:r>
          </a:p>
        </p:txBody>
      </p:sp>
      <p:sp>
        <p:nvSpPr>
          <p:cNvPr id="1030" name="Text 23"/>
          <p:cNvSpPr txBox="1"/>
          <p:nvPr/>
        </p:nvSpPr>
        <p:spPr>
          <a:xfrm>
            <a:off x="1554480" y="4450079"/>
            <a:ext cx="3657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팀장·동아리</a:t>
            </a:r>
          </a:p>
        </p:txBody>
      </p:sp>
      <p:sp>
        <p:nvSpPr>
          <p:cNvPr id="1031" name="Text 24"/>
          <p:cNvSpPr txBox="1"/>
          <p:nvPr/>
        </p:nvSpPr>
        <p:spPr>
          <a:xfrm>
            <a:off x="5029200" y="4283710"/>
            <a:ext cx="21031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5B4FE0"/>
                </a:solidFill>
              </a:defRPr>
            </a:lvl1pPr>
          </a:lstStyle>
          <a:p>
            <a:pPr/>
            <a:r>
              <a:t>건당 3,000~5,000원</a:t>
            </a:r>
          </a:p>
        </p:txBody>
      </p:sp>
      <p:sp>
        <p:nvSpPr>
          <p:cNvPr id="1032" name="Shape 25"/>
          <p:cNvSpPr/>
          <p:nvPr/>
        </p:nvSpPr>
        <p:spPr>
          <a:xfrm>
            <a:off x="548640" y="4846320"/>
            <a:ext cx="6675119" cy="77724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3" name="Shape 26"/>
          <p:cNvSpPr/>
          <p:nvPr/>
        </p:nvSpPr>
        <p:spPr>
          <a:xfrm>
            <a:off x="548640" y="4846320"/>
            <a:ext cx="822961" cy="777241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4" name="Text 27"/>
          <p:cNvSpPr txBox="1"/>
          <p:nvPr/>
        </p:nvSpPr>
        <p:spPr>
          <a:xfrm>
            <a:off x="548640" y="5158740"/>
            <a:ext cx="8229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3단계</a:t>
            </a:r>
          </a:p>
        </p:txBody>
      </p:sp>
      <p:sp>
        <p:nvSpPr>
          <p:cNvPr id="1035" name="Text 28"/>
          <p:cNvSpPr txBox="1"/>
          <p:nvPr/>
        </p:nvSpPr>
        <p:spPr>
          <a:xfrm>
            <a:off x="1554480" y="5000751"/>
            <a:ext cx="36576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F172A"/>
                </a:solidFill>
              </a:defRPr>
            </a:lvl1pPr>
          </a:lstStyle>
          <a:p>
            <a:pPr/>
            <a:r>
              <a:t>학교·학과 제휴 (B2B)</a:t>
            </a:r>
          </a:p>
        </p:txBody>
      </p:sp>
      <p:sp>
        <p:nvSpPr>
          <p:cNvPr id="1036" name="Text 29"/>
          <p:cNvSpPr txBox="1"/>
          <p:nvPr/>
        </p:nvSpPr>
        <p:spPr>
          <a:xfrm>
            <a:off x="1554480" y="5318759"/>
            <a:ext cx="3657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대학·학과·동아리</a:t>
            </a:r>
          </a:p>
        </p:txBody>
      </p:sp>
      <p:sp>
        <p:nvSpPr>
          <p:cNvPr id="1037" name="Text 30"/>
          <p:cNvSpPr txBox="1"/>
          <p:nvPr/>
        </p:nvSpPr>
        <p:spPr>
          <a:xfrm>
            <a:off x="5029200" y="5152390"/>
            <a:ext cx="21031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84CC16"/>
                </a:solidFill>
              </a:defRPr>
            </a:lvl1pPr>
          </a:lstStyle>
          <a:p>
            <a:pPr/>
            <a:r>
              <a:t>협의 (연 단위)</a:t>
            </a:r>
          </a:p>
        </p:txBody>
      </p:sp>
      <p:sp>
        <p:nvSpPr>
          <p:cNvPr id="1038" name="Text 31"/>
          <p:cNvSpPr txBox="1"/>
          <p:nvPr/>
        </p:nvSpPr>
        <p:spPr>
          <a:xfrm>
            <a:off x="7543800" y="1802129"/>
            <a:ext cx="402336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5B4FE0"/>
                </a:solidFill>
              </a:defRPr>
            </a:lvl1pPr>
          </a:lstStyle>
          <a:p>
            <a:pPr/>
            <a:r>
              <a:t>Q13. 프리미엄 이용 의향 (52명)</a:t>
            </a:r>
          </a:p>
        </p:txBody>
      </p:sp>
      <p:sp>
        <p:nvSpPr>
          <p:cNvPr id="1039" name="Shape 32"/>
          <p:cNvSpPr/>
          <p:nvPr/>
        </p:nvSpPr>
        <p:spPr>
          <a:xfrm>
            <a:off x="7315200" y="5440679"/>
            <a:ext cx="4297680" cy="914401"/>
          </a:xfrm>
          <a:prstGeom prst="rect">
            <a:avLst/>
          </a:prstGeom>
          <a:solidFill>
            <a:srgbClr val="ECFCC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0" name="Text 33"/>
          <p:cNvSpPr txBox="1"/>
          <p:nvPr/>
        </p:nvSpPr>
        <p:spPr>
          <a:xfrm>
            <a:off x="7452359" y="5615235"/>
            <a:ext cx="4114801" cy="611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34155"/>
                </a:solidFill>
              </a:defRPr>
            </a:pPr>
            <a:r>
              <a:t>유료 의향 </a:t>
            </a:r>
            <a:r>
              <a:rPr b="1" sz="2400">
                <a:solidFill>
                  <a:srgbClr val="84CC16"/>
                </a:solidFill>
              </a:rPr>
              <a:t>46.1%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어느 가격대든 유료 사용 의향  ·  월 1~3천원 구간이 현실적 (추정)</a:t>
            </a:r>
          </a:p>
        </p:txBody>
      </p:sp>
      <p:sp>
        <p:nvSpPr>
          <p:cNvPr id="1041" name="Text 34"/>
          <p:cNvSpPr txBox="1"/>
          <p:nvPr/>
        </p:nvSpPr>
        <p:spPr>
          <a:xfrm>
            <a:off x="594359" y="6418388"/>
            <a:ext cx="1097280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64748B"/>
                </a:solidFill>
              </a:defRPr>
            </a:lvl1pPr>
          </a:lstStyle>
          <a:p>
            <a:pPr/>
            <a:r>
              <a:t>※ 모든 가격·전환율·매출 수치는 추정 기반. 베타 테스트 이후 실제 데이터로 재검증 필요.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Shape 0"/>
          <p:cNvSpPr/>
          <p:nvPr/>
        </p:nvSpPr>
        <p:spPr>
          <a:xfrm>
            <a:off x="548640" y="411480"/>
            <a:ext cx="548641" cy="256033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4" name="Text 1"/>
          <p:cNvSpPr txBox="1"/>
          <p:nvPr/>
        </p:nvSpPr>
        <p:spPr>
          <a:xfrm>
            <a:off x="548640" y="472362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045" name="Text 2"/>
          <p:cNvSpPr txBox="1"/>
          <p:nvPr/>
        </p:nvSpPr>
        <p:spPr>
          <a:xfrm>
            <a:off x="1188719" y="472362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64748B"/>
                </a:solidFill>
              </a:defRPr>
            </a:lvl1pPr>
          </a:lstStyle>
          <a:p>
            <a:pPr/>
            <a:r>
              <a:t>05.  IMPACT</a:t>
            </a:r>
          </a:p>
        </p:txBody>
      </p:sp>
      <p:sp>
        <p:nvSpPr>
          <p:cNvPr id="1046" name="Text 3"/>
          <p:cNvSpPr txBox="1"/>
          <p:nvPr/>
        </p:nvSpPr>
        <p:spPr>
          <a:xfrm>
            <a:off x="10865815" y="425240"/>
            <a:ext cx="7315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16 / 21</a:t>
            </a:r>
          </a:p>
        </p:txBody>
      </p:sp>
      <p:sp>
        <p:nvSpPr>
          <p:cNvPr id="1047" name="Text 4"/>
          <p:cNvSpPr txBox="1"/>
          <p:nvPr/>
        </p:nvSpPr>
        <p:spPr>
          <a:xfrm>
            <a:off x="548639" y="868680"/>
            <a:ext cx="1109441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기대 효과 &amp; 시장 신호</a:t>
            </a:r>
          </a:p>
        </p:txBody>
      </p:sp>
      <p:sp>
        <p:nvSpPr>
          <p:cNvPr id="1048" name="Text 5"/>
          <p:cNvSpPr txBox="1"/>
          <p:nvPr/>
        </p:nvSpPr>
        <p:spPr>
          <a:xfrm>
            <a:off x="594359" y="6490970"/>
            <a:ext cx="72237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MajorLink  |  전공 기반 대학생 협업 플랫폼</a:t>
            </a:r>
          </a:p>
        </p:txBody>
      </p:sp>
      <p:sp>
        <p:nvSpPr>
          <p:cNvPr id="1049" name="Shape 6"/>
          <p:cNvSpPr/>
          <p:nvPr/>
        </p:nvSpPr>
        <p:spPr>
          <a:xfrm>
            <a:off x="548639" y="1783079"/>
            <a:ext cx="3566161" cy="228600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0" name="Shape 7"/>
          <p:cNvSpPr/>
          <p:nvPr/>
        </p:nvSpPr>
        <p:spPr>
          <a:xfrm>
            <a:off x="548640" y="1783079"/>
            <a:ext cx="91441" cy="228600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1" name="Text 8"/>
          <p:cNvSpPr txBox="1"/>
          <p:nvPr/>
        </p:nvSpPr>
        <p:spPr>
          <a:xfrm>
            <a:off x="777239" y="1974850"/>
            <a:ext cx="324612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5B4FE0"/>
                </a:solidFill>
              </a:defRPr>
            </a:lvl1pPr>
          </a:lstStyle>
          <a:p>
            <a:pPr/>
            <a:r>
              <a:t>사용 의향 (4점+)</a:t>
            </a:r>
          </a:p>
        </p:txBody>
      </p:sp>
      <p:sp>
        <p:nvSpPr>
          <p:cNvPr id="1052" name="Text 9"/>
          <p:cNvSpPr txBox="1"/>
          <p:nvPr/>
        </p:nvSpPr>
        <p:spPr>
          <a:xfrm>
            <a:off x="777239" y="2305273"/>
            <a:ext cx="3246122" cy="647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000">
                <a:solidFill>
                  <a:srgbClr val="0F172A"/>
                </a:solidFill>
              </a:defRPr>
            </a:lvl1pPr>
          </a:lstStyle>
          <a:p>
            <a:pPr/>
            <a:r>
              <a:t>67.3%</a:t>
            </a:r>
          </a:p>
        </p:txBody>
      </p:sp>
      <p:sp>
        <p:nvSpPr>
          <p:cNvPr id="1053" name="Text 10"/>
          <p:cNvSpPr txBox="1"/>
          <p:nvPr/>
        </p:nvSpPr>
        <p:spPr>
          <a:xfrm>
            <a:off x="777239" y="3132278"/>
            <a:ext cx="3246122" cy="410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34155"/>
                </a:solidFill>
              </a:defRPr>
            </a:pPr>
            <a:r>
              <a:t>이런 웹서비스가 있다면</a:t>
            </a:r>
          </a:p>
          <a:p>
            <a:pPr>
              <a:lnSpc>
                <a:spcPct val="130000"/>
              </a:lnSpc>
              <a:defRPr sz="1100">
                <a:solidFill>
                  <a:srgbClr val="334155"/>
                </a:solidFill>
              </a:defRPr>
            </a:pPr>
            <a:r>
              <a:t>사용할 것 같다</a:t>
            </a:r>
          </a:p>
        </p:txBody>
      </p:sp>
      <p:sp>
        <p:nvSpPr>
          <p:cNvPr id="1054" name="Text 11"/>
          <p:cNvSpPr txBox="1"/>
          <p:nvPr/>
        </p:nvSpPr>
        <p:spPr>
          <a:xfrm>
            <a:off x="777239" y="3793490"/>
            <a:ext cx="32461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64748B"/>
                </a:solidFill>
              </a:defRPr>
            </a:lvl1pPr>
          </a:lstStyle>
          <a:p>
            <a:pPr/>
            <a:r>
              <a:t>Q8. 사용 의향</a:t>
            </a:r>
          </a:p>
        </p:txBody>
      </p:sp>
      <p:sp>
        <p:nvSpPr>
          <p:cNvPr id="1055" name="Shape 12"/>
          <p:cNvSpPr/>
          <p:nvPr/>
        </p:nvSpPr>
        <p:spPr>
          <a:xfrm>
            <a:off x="4251959" y="1783079"/>
            <a:ext cx="3566160" cy="228600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6" name="Shape 13"/>
          <p:cNvSpPr/>
          <p:nvPr/>
        </p:nvSpPr>
        <p:spPr>
          <a:xfrm>
            <a:off x="4251959" y="1783079"/>
            <a:ext cx="91441" cy="2286001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7" name="Text 14"/>
          <p:cNvSpPr txBox="1"/>
          <p:nvPr/>
        </p:nvSpPr>
        <p:spPr>
          <a:xfrm>
            <a:off x="4480559" y="1974850"/>
            <a:ext cx="32461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84CC16"/>
                </a:solidFill>
              </a:defRPr>
            </a:lvl1pPr>
          </a:lstStyle>
          <a:p>
            <a:pPr/>
            <a:r>
              <a:t>다전공 협업 의향 (4점+)</a:t>
            </a:r>
          </a:p>
        </p:txBody>
      </p:sp>
      <p:sp>
        <p:nvSpPr>
          <p:cNvPr id="1058" name="Text 15"/>
          <p:cNvSpPr txBox="1"/>
          <p:nvPr/>
        </p:nvSpPr>
        <p:spPr>
          <a:xfrm>
            <a:off x="4480559" y="2305273"/>
            <a:ext cx="3246121" cy="647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000">
                <a:solidFill>
                  <a:srgbClr val="0F172A"/>
                </a:solidFill>
              </a:defRPr>
            </a:lvl1pPr>
          </a:lstStyle>
          <a:p>
            <a:pPr/>
            <a:r>
              <a:t>51.9%</a:t>
            </a:r>
          </a:p>
        </p:txBody>
      </p:sp>
      <p:sp>
        <p:nvSpPr>
          <p:cNvPr id="1059" name="Text 16"/>
          <p:cNvSpPr txBox="1"/>
          <p:nvPr/>
        </p:nvSpPr>
        <p:spPr>
          <a:xfrm>
            <a:off x="4480559" y="3132278"/>
            <a:ext cx="3246121" cy="410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34155"/>
                </a:solidFill>
              </a:defRPr>
            </a:pPr>
            <a:r>
              <a:t>다른 전공 학생과</a:t>
            </a:r>
          </a:p>
          <a:p>
            <a:pPr>
              <a:lnSpc>
                <a:spcPct val="130000"/>
              </a:lnSpc>
              <a:defRPr sz="1100">
                <a:solidFill>
                  <a:srgbClr val="334155"/>
                </a:solidFill>
              </a:defRPr>
            </a:pPr>
            <a:r>
              <a:t>협업 의향 있음</a:t>
            </a:r>
          </a:p>
        </p:txBody>
      </p:sp>
      <p:sp>
        <p:nvSpPr>
          <p:cNvPr id="1060" name="Text 17"/>
          <p:cNvSpPr txBox="1"/>
          <p:nvPr/>
        </p:nvSpPr>
        <p:spPr>
          <a:xfrm>
            <a:off x="4480559" y="3793490"/>
            <a:ext cx="32461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64748B"/>
                </a:solidFill>
              </a:defRPr>
            </a:lvl1pPr>
          </a:lstStyle>
          <a:p>
            <a:pPr/>
            <a:r>
              <a:t>Q7. 협업 의향</a:t>
            </a:r>
          </a:p>
        </p:txBody>
      </p:sp>
      <p:sp>
        <p:nvSpPr>
          <p:cNvPr id="1061" name="Shape 18"/>
          <p:cNvSpPr/>
          <p:nvPr/>
        </p:nvSpPr>
        <p:spPr>
          <a:xfrm>
            <a:off x="7955280" y="1783079"/>
            <a:ext cx="3566160" cy="228600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2" name="Shape 19"/>
          <p:cNvSpPr/>
          <p:nvPr/>
        </p:nvSpPr>
        <p:spPr>
          <a:xfrm>
            <a:off x="7955280" y="1783079"/>
            <a:ext cx="91441" cy="2286001"/>
          </a:xfrm>
          <a:prstGeom prst="rect">
            <a:avLst/>
          </a:prstGeom>
          <a:solidFill>
            <a:srgbClr val="EC48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63" name="Text 20"/>
          <p:cNvSpPr txBox="1"/>
          <p:nvPr/>
        </p:nvSpPr>
        <p:spPr>
          <a:xfrm>
            <a:off x="8183880" y="1974850"/>
            <a:ext cx="32461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EC4899"/>
                </a:solidFill>
              </a:defRPr>
            </a:lvl1pPr>
          </a:lstStyle>
          <a:p>
            <a:pPr/>
            <a:r>
              <a:t>수시 사용 의사</a:t>
            </a:r>
          </a:p>
        </p:txBody>
      </p:sp>
      <p:sp>
        <p:nvSpPr>
          <p:cNvPr id="1064" name="Text 21"/>
          <p:cNvSpPr txBox="1"/>
          <p:nvPr/>
        </p:nvSpPr>
        <p:spPr>
          <a:xfrm>
            <a:off x="8183880" y="2305273"/>
            <a:ext cx="3246121" cy="647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000">
                <a:solidFill>
                  <a:srgbClr val="0F172A"/>
                </a:solidFill>
              </a:defRPr>
            </a:lvl1pPr>
          </a:lstStyle>
          <a:p>
            <a:pPr/>
            <a:r>
              <a:t>44.2%</a:t>
            </a:r>
          </a:p>
        </p:txBody>
      </p:sp>
      <p:sp>
        <p:nvSpPr>
          <p:cNvPr id="1065" name="Text 22"/>
          <p:cNvSpPr txBox="1"/>
          <p:nvPr/>
        </p:nvSpPr>
        <p:spPr>
          <a:xfrm>
            <a:off x="8183880" y="3147694"/>
            <a:ext cx="3246121" cy="379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34155"/>
                </a:solidFill>
              </a:defRPr>
            </a:pPr>
            <a:r>
              <a:t>프로젝트를</a:t>
            </a:r>
          </a:p>
          <a:p>
            <a:pPr>
              <a:lnSpc>
                <a:spcPct val="130000"/>
              </a:lnSpc>
              <a:defRPr sz="1100">
                <a:solidFill>
                  <a:srgbClr val="334155"/>
                </a:solidFill>
              </a:defRPr>
            </a:pPr>
            <a:r>
              <a:t>찾을 때마다 사용</a:t>
            </a:r>
          </a:p>
        </p:txBody>
      </p:sp>
      <p:sp>
        <p:nvSpPr>
          <p:cNvPr id="1066" name="Text 23"/>
          <p:cNvSpPr txBox="1"/>
          <p:nvPr/>
        </p:nvSpPr>
        <p:spPr>
          <a:xfrm>
            <a:off x="8183880" y="3793490"/>
            <a:ext cx="32461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64748B"/>
                </a:solidFill>
              </a:defRPr>
            </a:lvl1pPr>
          </a:lstStyle>
          <a:p>
            <a:pPr/>
            <a:r>
              <a:t>Q11. 사용 빈도</a:t>
            </a:r>
          </a:p>
        </p:txBody>
      </p:sp>
      <p:sp>
        <p:nvSpPr>
          <p:cNvPr id="1067" name="Text 24"/>
          <p:cNvSpPr txBox="1"/>
          <p:nvPr/>
        </p:nvSpPr>
        <p:spPr>
          <a:xfrm>
            <a:off x="594359" y="4310380"/>
            <a:ext cx="53949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5B4FE0"/>
                </a:solidFill>
              </a:defRPr>
            </a:lvl1pPr>
          </a:lstStyle>
          <a:p>
            <a:pPr/>
            <a:r>
              <a:t>기대 효과</a:t>
            </a:r>
          </a:p>
        </p:txBody>
      </p:sp>
      <p:sp>
        <p:nvSpPr>
          <p:cNvPr id="1068" name="Shape 25"/>
          <p:cNvSpPr/>
          <p:nvPr/>
        </p:nvSpPr>
        <p:spPr>
          <a:xfrm>
            <a:off x="548639" y="4754879"/>
            <a:ext cx="3566161" cy="146304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69" name="Text 26"/>
          <p:cNvSpPr txBox="1"/>
          <p:nvPr/>
        </p:nvSpPr>
        <p:spPr>
          <a:xfrm>
            <a:off x="731519" y="4960664"/>
            <a:ext cx="640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5B4FE0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070" name="Text 27"/>
          <p:cNvSpPr txBox="1"/>
          <p:nvPr/>
        </p:nvSpPr>
        <p:spPr>
          <a:xfrm>
            <a:off x="731519" y="5218429"/>
            <a:ext cx="3200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학생 측</a:t>
            </a:r>
          </a:p>
        </p:txBody>
      </p:sp>
      <p:sp>
        <p:nvSpPr>
          <p:cNvPr id="1071" name="Text 28"/>
          <p:cNvSpPr txBox="1"/>
          <p:nvPr/>
        </p:nvSpPr>
        <p:spPr>
          <a:xfrm>
            <a:off x="731519" y="5662885"/>
            <a:ext cx="3200401" cy="37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전공이 다른 학생들이 한곳에서 만나고,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팀 검증·진행 관리·포트폴리오까지 한 흐름</a:t>
            </a:r>
          </a:p>
        </p:txBody>
      </p:sp>
      <p:sp>
        <p:nvSpPr>
          <p:cNvPr id="1072" name="Shape 29"/>
          <p:cNvSpPr/>
          <p:nvPr/>
        </p:nvSpPr>
        <p:spPr>
          <a:xfrm>
            <a:off x="4251959" y="4754879"/>
            <a:ext cx="3566160" cy="146304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3" name="Text 30"/>
          <p:cNvSpPr txBox="1"/>
          <p:nvPr/>
        </p:nvSpPr>
        <p:spPr>
          <a:xfrm>
            <a:off x="4434840" y="4960664"/>
            <a:ext cx="640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5B4FE0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074" name="Text 31"/>
          <p:cNvSpPr txBox="1"/>
          <p:nvPr/>
        </p:nvSpPr>
        <p:spPr>
          <a:xfrm>
            <a:off x="4434840" y="5218429"/>
            <a:ext cx="3200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학교 측</a:t>
            </a:r>
          </a:p>
        </p:txBody>
      </p:sp>
      <p:sp>
        <p:nvSpPr>
          <p:cNvPr id="1075" name="Text 32"/>
          <p:cNvSpPr txBox="1"/>
          <p:nvPr/>
        </p:nvSpPr>
        <p:spPr>
          <a:xfrm>
            <a:off x="4434840" y="5662885"/>
            <a:ext cx="3200401" cy="37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캡스톤·졸업작품 팀 매칭 효율 개선,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학생 활동 데이터 축적 (B2B 모델)</a:t>
            </a:r>
          </a:p>
        </p:txBody>
      </p:sp>
      <p:sp>
        <p:nvSpPr>
          <p:cNvPr id="1076" name="Shape 33"/>
          <p:cNvSpPr/>
          <p:nvPr/>
        </p:nvSpPr>
        <p:spPr>
          <a:xfrm>
            <a:off x="7955280" y="4754879"/>
            <a:ext cx="3566160" cy="1463041"/>
          </a:xfrm>
          <a:prstGeom prst="rect">
            <a:avLst/>
          </a:prstGeom>
          <a:solidFill>
            <a:srgbClr val="EE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7" name="Text 34"/>
          <p:cNvSpPr txBox="1"/>
          <p:nvPr/>
        </p:nvSpPr>
        <p:spPr>
          <a:xfrm>
            <a:off x="8138159" y="4960664"/>
            <a:ext cx="6400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5B4FE0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078" name="Text 35"/>
          <p:cNvSpPr txBox="1"/>
          <p:nvPr/>
        </p:nvSpPr>
        <p:spPr>
          <a:xfrm>
            <a:off x="8138159" y="5218429"/>
            <a:ext cx="3200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취업 측</a:t>
            </a:r>
          </a:p>
        </p:txBody>
      </p:sp>
      <p:sp>
        <p:nvSpPr>
          <p:cNvPr id="1079" name="Text 36"/>
          <p:cNvSpPr txBox="1"/>
          <p:nvPr/>
        </p:nvSpPr>
        <p:spPr>
          <a:xfrm>
            <a:off x="8138159" y="5662885"/>
            <a:ext cx="3200401" cy="37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프로젝트 활동이 즉시 포트폴리오로 정리,</a:t>
            </a:r>
          </a:p>
          <a:p>
            <a:pPr>
              <a:lnSpc>
                <a:spcPct val="130000"/>
              </a:lnSpc>
              <a:defRPr sz="1000">
                <a:solidFill>
                  <a:srgbClr val="334155"/>
                </a:solidFill>
              </a:defRPr>
            </a:pPr>
            <a:r>
              <a:t>역할·기여·기술이 객관적으로 가시화</a:t>
            </a:r>
          </a:p>
        </p:txBody>
      </p:sp>
      <p:sp>
        <p:nvSpPr>
          <p:cNvPr id="1080" name="Text 37"/>
          <p:cNvSpPr txBox="1"/>
          <p:nvPr/>
        </p:nvSpPr>
        <p:spPr>
          <a:xfrm>
            <a:off x="594359" y="6418388"/>
            <a:ext cx="1097280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900">
                <a:solidFill>
                  <a:srgbClr val="64748B"/>
                </a:solidFill>
              </a:defRPr>
            </a:lvl1pPr>
          </a:lstStyle>
          <a:p>
            <a:pPr/>
            <a:r>
              <a:t>※ 모든 % 수치는 자체 설문 52명 기반. 통계적 대표성은 제한적이며 베타 단계에서 재검증 필요.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Rectangle 1"/>
          <p:cNvSpPr/>
          <p:nvPr/>
        </p:nvSpPr>
        <p:spPr>
          <a:xfrm>
            <a:off x="457200" y="182879"/>
            <a:ext cx="685800" cy="381026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3" name="TextBox 2"/>
          <p:cNvSpPr txBox="1"/>
          <p:nvPr/>
        </p:nvSpPr>
        <p:spPr>
          <a:xfrm>
            <a:off x="677225" y="182879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1084" name="TextBox 3"/>
          <p:cNvSpPr txBox="1"/>
          <p:nvPr/>
        </p:nvSpPr>
        <p:spPr>
          <a:xfrm>
            <a:off x="1264919" y="243840"/>
            <a:ext cx="29085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64748B"/>
                </a:solidFill>
              </a:defRPr>
            </a:lvl1pPr>
          </a:lstStyle>
          <a:p>
            <a:pPr/>
            <a:r>
              <a:t>05.  IMPACT</a:t>
            </a:r>
          </a:p>
        </p:txBody>
      </p:sp>
      <p:sp>
        <p:nvSpPr>
          <p:cNvPr id="1085" name="TextBox 4"/>
          <p:cNvSpPr txBox="1"/>
          <p:nvPr/>
        </p:nvSpPr>
        <p:spPr>
          <a:xfrm>
            <a:off x="10545719" y="243840"/>
            <a:ext cx="13085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17 / 21</a:t>
            </a:r>
          </a:p>
        </p:txBody>
      </p:sp>
      <p:sp>
        <p:nvSpPr>
          <p:cNvPr id="1086" name="Rectangle 5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7" name="TextBox 6"/>
          <p:cNvSpPr txBox="1"/>
          <p:nvPr/>
        </p:nvSpPr>
        <p:spPr>
          <a:xfrm>
            <a:off x="502919" y="6553200"/>
            <a:ext cx="590856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MajorLink  |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전공 기반 대학생 협업 플랫폼</a:t>
            </a:r>
          </a:p>
        </p:txBody>
      </p:sp>
      <p:sp>
        <p:nvSpPr>
          <p:cNvPr id="1088" name="TextBox 7"/>
          <p:cNvSpPr txBox="1"/>
          <p:nvPr/>
        </p:nvSpPr>
        <p:spPr>
          <a:xfrm>
            <a:off x="502920" y="685800"/>
            <a:ext cx="10908560" cy="575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KPI /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성공 지표</a:t>
            </a:r>
          </a:p>
        </p:txBody>
      </p:sp>
      <p:sp>
        <p:nvSpPr>
          <p:cNvPr id="1089" name="TextBox 8"/>
          <p:cNvSpPr txBox="1"/>
          <p:nvPr/>
        </p:nvSpPr>
        <p:spPr>
          <a:xfrm>
            <a:off x="502920" y="1295400"/>
            <a:ext cx="10908560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MajorLink MVP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출시 후 핵심 성과 지표  </a:t>
            </a:r>
            <a:r>
              <a:t>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출시 </a:t>
            </a:r>
            <a:r>
              <a:t>3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개월 기준</a:t>
            </a:r>
            <a:r>
              <a:t>)</a:t>
            </a:r>
          </a:p>
        </p:txBody>
      </p:sp>
      <p:sp>
        <p:nvSpPr>
          <p:cNvPr id="1090" name="Rectangle 9"/>
          <p:cNvSpPr/>
          <p:nvPr/>
        </p:nvSpPr>
        <p:spPr>
          <a:xfrm>
            <a:off x="457200" y="1699999"/>
            <a:ext cx="3600001" cy="1700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1" name="Rectangle 10"/>
          <p:cNvSpPr/>
          <p:nvPr/>
        </p:nvSpPr>
        <p:spPr>
          <a:xfrm>
            <a:off x="457200" y="1699999"/>
            <a:ext cx="40000" cy="1700000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TextBox 11"/>
          <p:cNvSpPr txBox="1"/>
          <p:nvPr/>
        </p:nvSpPr>
        <p:spPr>
          <a:xfrm>
            <a:off x="602920" y="1780000"/>
            <a:ext cx="3358560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5B4FE0"/>
                </a:solidFill>
              </a:defRPr>
            </a:pPr>
            <a:r>
              <a:t>300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명</a:t>
            </a:r>
            <a:r>
              <a:t>+</a:t>
            </a:r>
          </a:p>
        </p:txBody>
      </p:sp>
      <p:sp>
        <p:nvSpPr>
          <p:cNvPr id="1093" name="TextBox 12"/>
          <p:cNvSpPr txBox="1"/>
          <p:nvPr/>
        </p:nvSpPr>
        <p:spPr>
          <a:xfrm>
            <a:off x="602920" y="2479999"/>
            <a:ext cx="335856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DAU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일일 활성 사용자</a:t>
            </a:r>
            <a:r>
              <a:t>)</a:t>
            </a:r>
          </a:p>
        </p:txBody>
      </p:sp>
      <p:sp>
        <p:nvSpPr>
          <p:cNvPr id="1094" name="TextBox 13"/>
          <p:cNvSpPr txBox="1"/>
          <p:nvPr/>
        </p:nvSpPr>
        <p:spPr>
          <a:xfrm>
            <a:off x="602920" y="2800000"/>
            <a:ext cx="3358560" cy="25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일 </a:t>
            </a:r>
            <a:r>
              <a:t>300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명 이상 방문</a:t>
            </a:r>
          </a:p>
        </p:txBody>
      </p:sp>
      <p:sp>
        <p:nvSpPr>
          <p:cNvPr id="1095" name="Rectangle 14"/>
          <p:cNvSpPr/>
          <p:nvPr/>
        </p:nvSpPr>
        <p:spPr>
          <a:xfrm>
            <a:off x="4257199" y="1699999"/>
            <a:ext cx="3600001" cy="1700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6" name="Rectangle 15"/>
          <p:cNvSpPr/>
          <p:nvPr/>
        </p:nvSpPr>
        <p:spPr>
          <a:xfrm>
            <a:off x="4257199" y="1699999"/>
            <a:ext cx="40001" cy="1700000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TextBox 16"/>
          <p:cNvSpPr txBox="1"/>
          <p:nvPr/>
        </p:nvSpPr>
        <p:spPr>
          <a:xfrm>
            <a:off x="4402920" y="1780000"/>
            <a:ext cx="3358560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5B4FE0"/>
                </a:solidFill>
              </a:defRPr>
            </a:pPr>
            <a:r>
              <a:t>1,000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명</a:t>
            </a:r>
            <a:r>
              <a:t>+</a:t>
            </a:r>
          </a:p>
        </p:txBody>
      </p:sp>
      <p:sp>
        <p:nvSpPr>
          <p:cNvPr id="1098" name="TextBox 17"/>
          <p:cNvSpPr txBox="1"/>
          <p:nvPr/>
        </p:nvSpPr>
        <p:spPr>
          <a:xfrm>
            <a:off x="4402920" y="2479999"/>
            <a:ext cx="335856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0F172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누적 가입자 수</a:t>
            </a:r>
          </a:p>
        </p:txBody>
      </p:sp>
      <p:sp>
        <p:nvSpPr>
          <p:cNvPr id="1099" name="TextBox 18"/>
          <p:cNvSpPr txBox="1"/>
          <p:nvPr/>
        </p:nvSpPr>
        <p:spPr>
          <a:xfrm>
            <a:off x="4402920" y="2800000"/>
            <a:ext cx="3358560" cy="25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출시 </a:t>
            </a:r>
            <a:r>
              <a:t>3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개월 내 달성</a:t>
            </a:r>
          </a:p>
        </p:txBody>
      </p:sp>
      <p:sp>
        <p:nvSpPr>
          <p:cNvPr id="1100" name="Rectangle 19"/>
          <p:cNvSpPr/>
          <p:nvPr/>
        </p:nvSpPr>
        <p:spPr>
          <a:xfrm>
            <a:off x="8057199" y="1699999"/>
            <a:ext cx="3600001" cy="1700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1" name="Rectangle 20"/>
          <p:cNvSpPr/>
          <p:nvPr/>
        </p:nvSpPr>
        <p:spPr>
          <a:xfrm>
            <a:off x="8057199" y="1699999"/>
            <a:ext cx="40001" cy="1700000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2" name="TextBox 21"/>
          <p:cNvSpPr txBox="1"/>
          <p:nvPr/>
        </p:nvSpPr>
        <p:spPr>
          <a:xfrm>
            <a:off x="8202919" y="1780000"/>
            <a:ext cx="335856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10B981"/>
                </a:solidFill>
              </a:defRPr>
            </a:pPr>
            <a:r>
              <a:t>150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건</a:t>
            </a:r>
            <a:r>
              <a:t>+</a:t>
            </a:r>
          </a:p>
        </p:txBody>
      </p:sp>
      <p:sp>
        <p:nvSpPr>
          <p:cNvPr id="1103" name="TextBox 22"/>
          <p:cNvSpPr txBox="1"/>
          <p:nvPr/>
        </p:nvSpPr>
        <p:spPr>
          <a:xfrm>
            <a:off x="8202919" y="2479999"/>
            <a:ext cx="335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0F172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프로젝트 등록 수</a:t>
            </a:r>
          </a:p>
        </p:txBody>
      </p:sp>
      <p:sp>
        <p:nvSpPr>
          <p:cNvPr id="1104" name="TextBox 23"/>
          <p:cNvSpPr txBox="1"/>
          <p:nvPr/>
        </p:nvSpPr>
        <p:spPr>
          <a:xfrm>
            <a:off x="8202919" y="2800000"/>
            <a:ext cx="3358561" cy="25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월 </a:t>
            </a:r>
            <a:r>
              <a:t>50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건 신규 등록</a:t>
            </a:r>
          </a:p>
        </p:txBody>
      </p:sp>
      <p:sp>
        <p:nvSpPr>
          <p:cNvPr id="1105" name="Rectangle 24"/>
          <p:cNvSpPr/>
          <p:nvPr/>
        </p:nvSpPr>
        <p:spPr>
          <a:xfrm>
            <a:off x="457200" y="3600000"/>
            <a:ext cx="3600001" cy="1699999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6" name="Rectangle 25"/>
          <p:cNvSpPr/>
          <p:nvPr/>
        </p:nvSpPr>
        <p:spPr>
          <a:xfrm>
            <a:off x="457200" y="3600000"/>
            <a:ext cx="40000" cy="1699999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TextBox 26"/>
          <p:cNvSpPr txBox="1"/>
          <p:nvPr/>
        </p:nvSpPr>
        <p:spPr>
          <a:xfrm>
            <a:off x="602920" y="3680000"/>
            <a:ext cx="3358560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10B981"/>
                </a:solidFill>
              </a:defRPr>
            </a:lvl1pPr>
          </a:lstStyle>
          <a:p>
            <a:pPr/>
            <a:r>
              <a:t>60%+</a:t>
            </a:r>
          </a:p>
        </p:txBody>
      </p:sp>
      <p:sp>
        <p:nvSpPr>
          <p:cNvPr id="1108" name="TextBox 27"/>
          <p:cNvSpPr txBox="1"/>
          <p:nvPr/>
        </p:nvSpPr>
        <p:spPr>
          <a:xfrm>
            <a:off x="602920" y="4380000"/>
            <a:ext cx="335856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0F172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팀 매칭 성공률</a:t>
            </a:r>
          </a:p>
        </p:txBody>
      </p:sp>
      <p:sp>
        <p:nvSpPr>
          <p:cNvPr id="1109" name="TextBox 28"/>
          <p:cNvSpPr txBox="1"/>
          <p:nvPr/>
        </p:nvSpPr>
        <p:spPr>
          <a:xfrm>
            <a:off x="602920" y="4699999"/>
            <a:ext cx="3358560" cy="25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지원 후 합류 비율</a:t>
            </a:r>
          </a:p>
        </p:txBody>
      </p:sp>
      <p:sp>
        <p:nvSpPr>
          <p:cNvPr id="1110" name="Rectangle 29"/>
          <p:cNvSpPr/>
          <p:nvPr/>
        </p:nvSpPr>
        <p:spPr>
          <a:xfrm>
            <a:off x="4257199" y="3600000"/>
            <a:ext cx="3600001" cy="1699999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1" name="Rectangle 30"/>
          <p:cNvSpPr/>
          <p:nvPr/>
        </p:nvSpPr>
        <p:spPr>
          <a:xfrm>
            <a:off x="4257199" y="3600000"/>
            <a:ext cx="40001" cy="1699999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TextBox 31"/>
          <p:cNvSpPr txBox="1"/>
          <p:nvPr/>
        </p:nvSpPr>
        <p:spPr>
          <a:xfrm>
            <a:off x="4402920" y="3680000"/>
            <a:ext cx="3358560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84CC16"/>
                </a:solidFill>
              </a:defRPr>
            </a:lvl1pPr>
          </a:lstStyle>
          <a:p>
            <a:pPr/>
            <a:r>
              <a:t>40%+</a:t>
            </a:r>
          </a:p>
        </p:txBody>
      </p:sp>
      <p:sp>
        <p:nvSpPr>
          <p:cNvPr id="1113" name="TextBox 32"/>
          <p:cNvSpPr txBox="1"/>
          <p:nvPr/>
        </p:nvSpPr>
        <p:spPr>
          <a:xfrm>
            <a:off x="4402920" y="4380000"/>
            <a:ext cx="335856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0F172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프로젝트 완료율</a:t>
            </a:r>
          </a:p>
        </p:txBody>
      </p:sp>
      <p:sp>
        <p:nvSpPr>
          <p:cNvPr id="1114" name="TextBox 33"/>
          <p:cNvSpPr txBox="1"/>
          <p:nvPr/>
        </p:nvSpPr>
        <p:spPr>
          <a:xfrm>
            <a:off x="4402920" y="4699999"/>
            <a:ext cx="3358560" cy="25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등록 프로젝트 완료 비율</a:t>
            </a:r>
          </a:p>
        </p:txBody>
      </p:sp>
      <p:sp>
        <p:nvSpPr>
          <p:cNvPr id="1115" name="Rectangle 34"/>
          <p:cNvSpPr/>
          <p:nvPr/>
        </p:nvSpPr>
        <p:spPr>
          <a:xfrm>
            <a:off x="8057199" y="3600000"/>
            <a:ext cx="3600001" cy="1699999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6" name="Rectangle 35"/>
          <p:cNvSpPr/>
          <p:nvPr/>
        </p:nvSpPr>
        <p:spPr>
          <a:xfrm>
            <a:off x="8057199" y="3600000"/>
            <a:ext cx="40001" cy="1699999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TextBox 36"/>
          <p:cNvSpPr txBox="1"/>
          <p:nvPr/>
        </p:nvSpPr>
        <p:spPr>
          <a:xfrm>
            <a:off x="8202919" y="3680000"/>
            <a:ext cx="335856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84CC16"/>
                </a:solidFill>
              </a:defRPr>
            </a:pPr>
            <a:r>
              <a:t>200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건</a:t>
            </a:r>
            <a:r>
              <a:t>+</a:t>
            </a:r>
          </a:p>
        </p:txBody>
      </p:sp>
      <p:sp>
        <p:nvSpPr>
          <p:cNvPr id="1118" name="TextBox 37"/>
          <p:cNvSpPr txBox="1"/>
          <p:nvPr/>
        </p:nvSpPr>
        <p:spPr>
          <a:xfrm>
            <a:off x="8202919" y="4380000"/>
            <a:ext cx="33585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0F172A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포트폴리오 생성 수</a:t>
            </a:r>
          </a:p>
        </p:txBody>
      </p:sp>
      <p:sp>
        <p:nvSpPr>
          <p:cNvPr id="1119" name="TextBox 38"/>
          <p:cNvSpPr txBox="1"/>
          <p:nvPr/>
        </p:nvSpPr>
        <p:spPr>
          <a:xfrm>
            <a:off x="8202919" y="4699999"/>
            <a:ext cx="3358561" cy="25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완료 후 자동 생성</a:t>
            </a:r>
          </a:p>
        </p:txBody>
      </p:sp>
      <p:sp>
        <p:nvSpPr>
          <p:cNvPr id="1120" name="TextBox 39"/>
          <p:cNvSpPr txBox="1"/>
          <p:nvPr/>
        </p:nvSpPr>
        <p:spPr>
          <a:xfrm>
            <a:off x="502920" y="5899999"/>
            <a:ext cx="10908560" cy="25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10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측정 도구</a:t>
            </a:r>
            <a:r>
              <a:t>: Google Analytics,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자체 </a:t>
            </a:r>
            <a:r>
              <a:t>Admin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대시보드  </a:t>
            </a:r>
            <a:r>
              <a:t>|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매주 지표 리뷰 후 기능 우선순위 조정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Rectangle 1"/>
          <p:cNvSpPr/>
          <p:nvPr/>
        </p:nvSpPr>
        <p:spPr>
          <a:xfrm>
            <a:off x="457200" y="182879"/>
            <a:ext cx="685800" cy="381026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3" name="TextBox 2"/>
          <p:cNvSpPr txBox="1"/>
          <p:nvPr/>
        </p:nvSpPr>
        <p:spPr>
          <a:xfrm>
            <a:off x="677225" y="182879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1124" name="TextBox 3"/>
          <p:cNvSpPr txBox="1"/>
          <p:nvPr/>
        </p:nvSpPr>
        <p:spPr>
          <a:xfrm>
            <a:off x="1264919" y="243840"/>
            <a:ext cx="29085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64748B"/>
                </a:solidFill>
              </a:defRPr>
            </a:lvl1pPr>
          </a:lstStyle>
          <a:p>
            <a:pPr/>
            <a:r>
              <a:t>05.  ROADMAP</a:t>
            </a:r>
          </a:p>
        </p:txBody>
      </p:sp>
      <p:sp>
        <p:nvSpPr>
          <p:cNvPr id="1125" name="TextBox 4"/>
          <p:cNvSpPr txBox="1"/>
          <p:nvPr/>
        </p:nvSpPr>
        <p:spPr>
          <a:xfrm>
            <a:off x="10545719" y="243840"/>
            <a:ext cx="13085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18 / 21</a:t>
            </a:r>
          </a:p>
        </p:txBody>
      </p:sp>
      <p:sp>
        <p:nvSpPr>
          <p:cNvPr id="1126" name="Rectangle 5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TextBox 6"/>
          <p:cNvSpPr txBox="1"/>
          <p:nvPr/>
        </p:nvSpPr>
        <p:spPr>
          <a:xfrm>
            <a:off x="502919" y="6553200"/>
            <a:ext cx="590856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MajorLink  |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전공 기반 대학생 협업 플랫폼</a:t>
            </a:r>
          </a:p>
        </p:txBody>
      </p:sp>
      <p:sp>
        <p:nvSpPr>
          <p:cNvPr id="1128" name="TextBox 7"/>
          <p:cNvSpPr txBox="1"/>
          <p:nvPr/>
        </p:nvSpPr>
        <p:spPr>
          <a:xfrm>
            <a:off x="502920" y="685800"/>
            <a:ext cx="10908560" cy="575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MVP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이후 로드맵</a:t>
            </a:r>
          </a:p>
        </p:txBody>
      </p:sp>
      <p:sp>
        <p:nvSpPr>
          <p:cNvPr id="1129" name="TextBox 8"/>
          <p:cNvSpPr txBox="1"/>
          <p:nvPr/>
        </p:nvSpPr>
        <p:spPr>
          <a:xfrm>
            <a:off x="502920" y="1295400"/>
            <a:ext cx="10908560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MVP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출시 이후 단계별 기능 확장 및 사업 방향</a:t>
            </a:r>
          </a:p>
        </p:txBody>
      </p:sp>
      <p:sp>
        <p:nvSpPr>
          <p:cNvPr id="1130" name="Rectangle 9"/>
          <p:cNvSpPr/>
          <p:nvPr/>
        </p:nvSpPr>
        <p:spPr>
          <a:xfrm>
            <a:off x="457200" y="1699999"/>
            <a:ext cx="3600001" cy="4000001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1" name="Rectangle 10"/>
          <p:cNvSpPr/>
          <p:nvPr/>
        </p:nvSpPr>
        <p:spPr>
          <a:xfrm>
            <a:off x="457200" y="1699999"/>
            <a:ext cx="3600001" cy="660001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2" name="TextBox 11"/>
          <p:cNvSpPr txBox="1"/>
          <p:nvPr/>
        </p:nvSpPr>
        <p:spPr>
          <a:xfrm>
            <a:off x="582919" y="1759999"/>
            <a:ext cx="33485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Phase 1</a:t>
            </a:r>
          </a:p>
        </p:txBody>
      </p:sp>
      <p:sp>
        <p:nvSpPr>
          <p:cNvPr id="1133" name="TextBox 12"/>
          <p:cNvSpPr txBox="1"/>
          <p:nvPr/>
        </p:nvSpPr>
        <p:spPr>
          <a:xfrm>
            <a:off x="582919" y="2089999"/>
            <a:ext cx="3348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2026 Q3  (7~9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월</a:t>
            </a:r>
            <a:r>
              <a:t>)</a:t>
            </a:r>
          </a:p>
        </p:txBody>
      </p:sp>
      <p:sp>
        <p:nvSpPr>
          <p:cNvPr id="1134" name="TextBox 13"/>
          <p:cNvSpPr txBox="1"/>
          <p:nvPr/>
        </p:nvSpPr>
        <p:spPr>
          <a:xfrm>
            <a:off x="582919" y="2299999"/>
            <a:ext cx="3348561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MVP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런칭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검증</a:t>
            </a:r>
          </a:p>
        </p:txBody>
      </p:sp>
      <p:sp>
        <p:nvSpPr>
          <p:cNvPr id="1135" name="TextBox 14"/>
          <p:cNvSpPr txBox="1"/>
          <p:nvPr/>
        </p:nvSpPr>
        <p:spPr>
          <a:xfrm>
            <a:off x="582919" y="2749999"/>
            <a:ext cx="334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핵심 </a:t>
            </a:r>
            <a:r>
              <a:t>6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가지 기능 출시</a:t>
            </a:r>
          </a:p>
        </p:txBody>
      </p:sp>
      <p:sp>
        <p:nvSpPr>
          <p:cNvPr id="1136" name="TextBox 15"/>
          <p:cNvSpPr txBox="1"/>
          <p:nvPr/>
        </p:nvSpPr>
        <p:spPr>
          <a:xfrm>
            <a:off x="582919" y="3429999"/>
            <a:ext cx="334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초기 사용자 </a:t>
            </a:r>
            <a:r>
              <a:t>100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명 확보</a:t>
            </a:r>
          </a:p>
        </p:txBody>
      </p:sp>
      <p:sp>
        <p:nvSpPr>
          <p:cNvPr id="1137" name="TextBox 16"/>
          <p:cNvSpPr txBox="1"/>
          <p:nvPr/>
        </p:nvSpPr>
        <p:spPr>
          <a:xfrm>
            <a:off x="582919" y="4109999"/>
            <a:ext cx="334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·  A/B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테스트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피드백 수집</a:t>
            </a:r>
          </a:p>
        </p:txBody>
      </p:sp>
      <p:sp>
        <p:nvSpPr>
          <p:cNvPr id="1138" name="TextBox 17"/>
          <p:cNvSpPr txBox="1"/>
          <p:nvPr/>
        </p:nvSpPr>
        <p:spPr>
          <a:xfrm>
            <a:off x="582919" y="4789999"/>
            <a:ext cx="334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버그 수정 </a:t>
            </a:r>
            <a:r>
              <a:t>&amp; UX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개선</a:t>
            </a:r>
          </a:p>
        </p:txBody>
      </p:sp>
      <p:sp>
        <p:nvSpPr>
          <p:cNvPr id="1139" name="TextBox 18"/>
          <p:cNvSpPr txBox="1"/>
          <p:nvPr/>
        </p:nvSpPr>
        <p:spPr>
          <a:xfrm>
            <a:off x="4132920" y="3549999"/>
            <a:ext cx="77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64748B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1140" name="Rectangle 19"/>
          <p:cNvSpPr/>
          <p:nvPr/>
        </p:nvSpPr>
        <p:spPr>
          <a:xfrm>
            <a:off x="4285800" y="1699999"/>
            <a:ext cx="3600001" cy="4000001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1" name="Rectangle 20"/>
          <p:cNvSpPr/>
          <p:nvPr/>
        </p:nvSpPr>
        <p:spPr>
          <a:xfrm>
            <a:off x="4285800" y="1699999"/>
            <a:ext cx="3600001" cy="660001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2" name="TextBox 21"/>
          <p:cNvSpPr txBox="1"/>
          <p:nvPr/>
        </p:nvSpPr>
        <p:spPr>
          <a:xfrm>
            <a:off x="4411520" y="1759999"/>
            <a:ext cx="33485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Phase 2</a:t>
            </a:r>
          </a:p>
        </p:txBody>
      </p:sp>
      <p:sp>
        <p:nvSpPr>
          <p:cNvPr id="1143" name="TextBox 22"/>
          <p:cNvSpPr txBox="1"/>
          <p:nvPr/>
        </p:nvSpPr>
        <p:spPr>
          <a:xfrm>
            <a:off x="4411520" y="2089999"/>
            <a:ext cx="3348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2026 Q4  (10~12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월</a:t>
            </a:r>
            <a:r>
              <a:t>)</a:t>
            </a:r>
          </a:p>
        </p:txBody>
      </p:sp>
      <p:sp>
        <p:nvSpPr>
          <p:cNvPr id="1144" name="TextBox 23"/>
          <p:cNvSpPr txBox="1"/>
          <p:nvPr/>
        </p:nvSpPr>
        <p:spPr>
          <a:xfrm>
            <a:off x="4411520" y="2299999"/>
            <a:ext cx="3348561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기능 고도화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성장</a:t>
            </a:r>
          </a:p>
        </p:txBody>
      </p:sp>
      <p:sp>
        <p:nvSpPr>
          <p:cNvPr id="1145" name="TextBox 24"/>
          <p:cNvSpPr txBox="1"/>
          <p:nvPr/>
        </p:nvSpPr>
        <p:spPr>
          <a:xfrm>
            <a:off x="4411520" y="2749999"/>
            <a:ext cx="334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실시간 채팅 기능 추가</a:t>
            </a:r>
          </a:p>
        </p:txBody>
      </p:sp>
      <p:sp>
        <p:nvSpPr>
          <p:cNvPr id="1146" name="TextBox 25"/>
          <p:cNvSpPr txBox="1"/>
          <p:nvPr/>
        </p:nvSpPr>
        <p:spPr>
          <a:xfrm>
            <a:off x="4411520" y="3429999"/>
            <a:ext cx="334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·  AI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기반 매칭 점수 고도화</a:t>
            </a:r>
          </a:p>
        </p:txBody>
      </p:sp>
      <p:sp>
        <p:nvSpPr>
          <p:cNvPr id="1147" name="TextBox 26"/>
          <p:cNvSpPr txBox="1"/>
          <p:nvPr/>
        </p:nvSpPr>
        <p:spPr>
          <a:xfrm>
            <a:off x="4411520" y="4109999"/>
            <a:ext cx="334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모바일 반응형 완성도 향상</a:t>
            </a:r>
          </a:p>
        </p:txBody>
      </p:sp>
      <p:sp>
        <p:nvSpPr>
          <p:cNvPr id="1148" name="TextBox 27"/>
          <p:cNvSpPr txBox="1"/>
          <p:nvPr/>
        </p:nvSpPr>
        <p:spPr>
          <a:xfrm>
            <a:off x="4411520" y="4789999"/>
            <a:ext cx="334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학교 </a:t>
            </a:r>
            <a:r>
              <a:t>B2B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파일럿 </a:t>
            </a:r>
            <a:r>
              <a:t>1~2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곳 시작</a:t>
            </a:r>
          </a:p>
        </p:txBody>
      </p:sp>
      <p:sp>
        <p:nvSpPr>
          <p:cNvPr id="1149" name="TextBox 28"/>
          <p:cNvSpPr txBox="1"/>
          <p:nvPr/>
        </p:nvSpPr>
        <p:spPr>
          <a:xfrm>
            <a:off x="7961519" y="3549999"/>
            <a:ext cx="771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64748B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1150" name="Rectangle 29"/>
          <p:cNvSpPr/>
          <p:nvPr/>
        </p:nvSpPr>
        <p:spPr>
          <a:xfrm>
            <a:off x="8114400" y="1699999"/>
            <a:ext cx="3600001" cy="4000001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1" name="Rectangle 30"/>
          <p:cNvSpPr/>
          <p:nvPr/>
        </p:nvSpPr>
        <p:spPr>
          <a:xfrm>
            <a:off x="8114400" y="1699999"/>
            <a:ext cx="3600001" cy="660001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TextBox 31"/>
          <p:cNvSpPr txBox="1"/>
          <p:nvPr/>
        </p:nvSpPr>
        <p:spPr>
          <a:xfrm>
            <a:off x="8240119" y="1759999"/>
            <a:ext cx="33485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Phase 3</a:t>
            </a:r>
          </a:p>
        </p:txBody>
      </p:sp>
      <p:sp>
        <p:nvSpPr>
          <p:cNvPr id="1153" name="TextBox 32"/>
          <p:cNvSpPr txBox="1"/>
          <p:nvPr/>
        </p:nvSpPr>
        <p:spPr>
          <a:xfrm>
            <a:off x="8240119" y="2089999"/>
            <a:ext cx="3348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2027 Q1~  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내년</a:t>
            </a:r>
            <a:r>
              <a:t>~)</a:t>
            </a:r>
          </a:p>
        </p:txBody>
      </p:sp>
      <p:sp>
        <p:nvSpPr>
          <p:cNvPr id="1154" name="TextBox 33"/>
          <p:cNvSpPr txBox="1"/>
          <p:nvPr/>
        </p:nvSpPr>
        <p:spPr>
          <a:xfrm>
            <a:off x="8240119" y="2299999"/>
            <a:ext cx="3348561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플랫폼 확장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수익화</a:t>
            </a:r>
          </a:p>
        </p:txBody>
      </p:sp>
      <p:sp>
        <p:nvSpPr>
          <p:cNvPr id="1155" name="TextBox 34"/>
          <p:cNvSpPr txBox="1"/>
          <p:nvPr/>
        </p:nvSpPr>
        <p:spPr>
          <a:xfrm>
            <a:off x="8240119" y="2749999"/>
            <a:ext cx="334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프리미엄 구독 모델 런칭</a:t>
            </a:r>
          </a:p>
        </p:txBody>
      </p:sp>
      <p:sp>
        <p:nvSpPr>
          <p:cNvPr id="1156" name="TextBox 35"/>
          <p:cNvSpPr txBox="1"/>
          <p:nvPr/>
        </p:nvSpPr>
        <p:spPr>
          <a:xfrm>
            <a:off x="8240119" y="3429999"/>
            <a:ext cx="334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공모전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산학협력 파트너십</a:t>
            </a:r>
          </a:p>
        </p:txBody>
      </p:sp>
      <p:sp>
        <p:nvSpPr>
          <p:cNvPr id="1157" name="TextBox 36"/>
          <p:cNvSpPr txBox="1"/>
          <p:nvPr/>
        </p:nvSpPr>
        <p:spPr>
          <a:xfrm>
            <a:off x="8240119" y="4109999"/>
            <a:ext cx="334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포트폴리오 취업 연계 기능</a:t>
            </a:r>
          </a:p>
        </p:txBody>
      </p:sp>
      <p:sp>
        <p:nvSpPr>
          <p:cNvPr id="1158" name="TextBox 37"/>
          <p:cNvSpPr txBox="1"/>
          <p:nvPr/>
        </p:nvSpPr>
        <p:spPr>
          <a:xfrm>
            <a:off x="8240119" y="4789999"/>
            <a:ext cx="3348561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·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학교 전국 단위 </a:t>
            </a:r>
            <a:r>
              <a:t>B2B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확장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Rectangle 1"/>
          <p:cNvSpPr/>
          <p:nvPr/>
        </p:nvSpPr>
        <p:spPr>
          <a:xfrm>
            <a:off x="457200" y="182879"/>
            <a:ext cx="685800" cy="381026"/>
          </a:xfrm>
          <a:prstGeom prst="rect">
            <a:avLst/>
          </a:prstGeom>
          <a:solidFill>
            <a:srgbClr val="5B4FE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1" name="TextBox 2"/>
          <p:cNvSpPr txBox="1"/>
          <p:nvPr/>
        </p:nvSpPr>
        <p:spPr>
          <a:xfrm>
            <a:off x="677225" y="182879"/>
            <a:ext cx="2457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1162" name="TextBox 3"/>
          <p:cNvSpPr txBox="1"/>
          <p:nvPr/>
        </p:nvSpPr>
        <p:spPr>
          <a:xfrm>
            <a:off x="1264919" y="243840"/>
            <a:ext cx="29085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64748B"/>
                </a:solidFill>
              </a:defRPr>
            </a:lvl1pPr>
          </a:lstStyle>
          <a:p>
            <a:pPr/>
            <a:r>
              <a:t>05.  RISK</a:t>
            </a:r>
          </a:p>
        </p:txBody>
      </p:sp>
      <p:sp>
        <p:nvSpPr>
          <p:cNvPr id="1163" name="TextBox 4"/>
          <p:cNvSpPr txBox="1"/>
          <p:nvPr/>
        </p:nvSpPr>
        <p:spPr>
          <a:xfrm>
            <a:off x="10545719" y="243840"/>
            <a:ext cx="13085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19 / 21</a:t>
            </a:r>
          </a:p>
        </p:txBody>
      </p:sp>
      <p:sp>
        <p:nvSpPr>
          <p:cNvPr id="1164" name="Rectangle 5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5" name="TextBox 6"/>
          <p:cNvSpPr txBox="1"/>
          <p:nvPr/>
        </p:nvSpPr>
        <p:spPr>
          <a:xfrm>
            <a:off x="502919" y="6553200"/>
            <a:ext cx="590856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MajorLink  |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전공 기반 대학생 협업 플랫폼</a:t>
            </a:r>
          </a:p>
        </p:txBody>
      </p:sp>
      <p:sp>
        <p:nvSpPr>
          <p:cNvPr id="1166" name="TextBox 7"/>
          <p:cNvSpPr txBox="1"/>
          <p:nvPr/>
        </p:nvSpPr>
        <p:spPr>
          <a:xfrm>
            <a:off x="502920" y="685800"/>
            <a:ext cx="10908560" cy="575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리스크 </a:t>
            </a:r>
            <a:r>
              <a:t>&amp;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대응 방안</a:t>
            </a:r>
          </a:p>
        </p:txBody>
      </p:sp>
      <p:sp>
        <p:nvSpPr>
          <p:cNvPr id="1167" name="TextBox 8"/>
          <p:cNvSpPr txBox="1"/>
          <p:nvPr/>
        </p:nvSpPr>
        <p:spPr>
          <a:xfrm>
            <a:off x="502920" y="1295400"/>
            <a:ext cx="10908560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MVP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개발 및 서비스 운영 과정에서 예상되는 주요 리스크와 사전 대응 전략</a:t>
            </a:r>
          </a:p>
        </p:txBody>
      </p:sp>
      <p:graphicFrame>
        <p:nvGraphicFramePr>
          <p:cNvPr id="1168" name="Table 9"/>
          <p:cNvGraphicFramePr/>
          <p:nvPr/>
        </p:nvGraphicFramePr>
        <p:xfrm>
          <a:off x="457200" y="1699999"/>
          <a:ext cx="10400001" cy="450000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00000"/>
                <a:gridCol w="1800000"/>
                <a:gridCol w="3200000"/>
                <a:gridCol w="3799999"/>
                <a:gridCol w="1200000"/>
              </a:tblGrid>
              <a:tr h="642857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5B4F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리스크 항목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5B4F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내용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5B4F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대응 방안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5B4F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심각도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5B4FE0"/>
                    </a:solidFill>
                  </a:tcPr>
                </a:tc>
              </a:tr>
              <a:tr h="64285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64748B"/>
                          </a:solidFill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사용자 모집 부진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초기 가입자 확보 속도 느림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학교 동아리</a:t>
                      </a:r>
                      <a:r>
                        <a:t>·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학생회 협력</a:t>
                      </a:r>
                      <a:r>
                        <a:t>, SNS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바이럴 이벤트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EF4444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높음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</a:tr>
              <a:tr h="64285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64748B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팀원 이탈</a:t>
                      </a:r>
                      <a:r>
                        <a:t>·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무응답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팀원이 응답 없이 이탈하는 경우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미응답 알림 자동화</a:t>
                      </a:r>
                      <a:r>
                        <a:t>,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팀원 책임도 평가 시스템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59E0B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중간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</a:tr>
              <a:tr h="64285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64748B"/>
                          </a:solidFill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매칭 점수 정확도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알고리즘이 실제와 괴리될 경우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사용자 피드백으로 가중치 조정</a:t>
                      </a:r>
                      <a:r>
                        <a:t>, A/B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테스트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59E0B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중간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</a:tr>
              <a:tr h="64285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64748B"/>
                          </a:solidFill>
                        </a:rPr>
                        <a:t>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보안</a:t>
                      </a:r>
                      <a:r>
                        <a:t>·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개인정보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사용자 정보 유출 및 보안 위협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JWT + Spring Security, HTTPS,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정기 보안 점검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EF4444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높음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</a:tr>
              <a:tr h="64285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64748B"/>
                          </a:solidFill>
                        </a:rPr>
                        <a:t>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서버 비용 초과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사용자 급증 시 </a:t>
                      </a:r>
                      <a:r>
                        <a:t>AWS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비용 초과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EC2 Auto Scaling, Redis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캐싱</a:t>
                      </a:r>
                      <a:r>
                        <a:t>,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사용량 모니터링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10B981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낮음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</a:tr>
              <a:tr h="6428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64748B"/>
                          </a:solidFill>
                        </a:rPr>
                        <a:t>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Scope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팽창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기능 추가로 일정 지연 발생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MVP 6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가지 고정</a:t>
                      </a:r>
                      <a:r>
                        <a:t>, 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추가 기능은 </a:t>
                      </a:r>
                      <a:r>
                        <a:t>Phase 2</a:t>
                      </a: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로 이관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59E0B"/>
                          </a:solidFill>
                        </a:defRPr>
                      </a:pPr>
                      <a:r>
                        <a:rPr>
                          <a:latin typeface="+mj-lt"/>
                          <a:ea typeface="+mj-ea"/>
                          <a:cs typeface="+mj-cs"/>
                          <a:sym typeface="Helvetica"/>
                        </a:rPr>
                        <a:t>중간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B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1" name="Text 1"/>
          <p:cNvSpPr txBox="1"/>
          <p:nvPr/>
        </p:nvSpPr>
        <p:spPr>
          <a:xfrm>
            <a:off x="463295" y="206117"/>
            <a:ext cx="8778242" cy="41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운영 리스크와 대응 방안</a:t>
            </a:r>
          </a:p>
        </p:txBody>
      </p:sp>
      <p:sp>
        <p:nvSpPr>
          <p:cNvPr id="1172" name="Text 2"/>
          <p:cNvSpPr txBox="1"/>
          <p:nvPr/>
        </p:nvSpPr>
        <p:spPr>
          <a:xfrm>
            <a:off x="8778240" y="319277"/>
            <a:ext cx="31699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200">
                <a:solidFill>
                  <a:srgbClr val="AACC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보완 슬라이드 </a:t>
            </a:r>
            <a:r>
              <a:t>06 / 06  |  MajorLink</a:t>
            </a:r>
          </a:p>
        </p:txBody>
      </p:sp>
      <p:sp>
        <p:nvSpPr>
          <p:cNvPr id="1173" name="Text 3"/>
          <p:cNvSpPr txBox="1"/>
          <p:nvPr/>
        </p:nvSpPr>
        <p:spPr>
          <a:xfrm>
            <a:off x="463295" y="1007489"/>
            <a:ext cx="11265410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2563E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실제 협업에서 발생하는 문제를 어떻게 다루는가</a:t>
            </a:r>
          </a:p>
        </p:txBody>
      </p:sp>
      <p:sp>
        <p:nvSpPr>
          <p:cNvPr id="1174" name="Text 4"/>
          <p:cNvSpPr txBox="1"/>
          <p:nvPr/>
        </p:nvSpPr>
        <p:spPr>
          <a:xfrm>
            <a:off x="463295" y="6600569"/>
            <a:ext cx="11265410" cy="16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MajorLink  | 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전공 기반 대학생 협업 플랫폼</a:t>
            </a:r>
          </a:p>
        </p:txBody>
      </p:sp>
      <p:sp>
        <p:nvSpPr>
          <p:cNvPr id="1175" name="Shape 5"/>
          <p:cNvSpPr/>
          <p:nvPr/>
        </p:nvSpPr>
        <p:spPr>
          <a:xfrm>
            <a:off x="341375" y="1316736"/>
            <a:ext cx="3169922" cy="707137"/>
          </a:xfrm>
          <a:prstGeom prst="rect">
            <a:avLst/>
          </a:prstGeom>
          <a:solidFill>
            <a:srgbClr val="1B3A6B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6" name="Text 6"/>
          <p:cNvSpPr txBox="1"/>
          <p:nvPr/>
        </p:nvSpPr>
        <p:spPr>
          <a:xfrm>
            <a:off x="414527" y="1575054"/>
            <a:ext cx="3048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리스크 시나리오</a:t>
            </a:r>
          </a:p>
        </p:txBody>
      </p:sp>
      <p:sp>
        <p:nvSpPr>
          <p:cNvPr id="1177" name="Shape 7"/>
          <p:cNvSpPr/>
          <p:nvPr/>
        </p:nvSpPr>
        <p:spPr>
          <a:xfrm>
            <a:off x="3560064" y="1316736"/>
            <a:ext cx="1402081" cy="707137"/>
          </a:xfrm>
          <a:prstGeom prst="rect">
            <a:avLst/>
          </a:prstGeom>
          <a:solidFill>
            <a:srgbClr val="1B3A6B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8" name="Text 8"/>
          <p:cNvSpPr txBox="1"/>
          <p:nvPr/>
        </p:nvSpPr>
        <p:spPr>
          <a:xfrm>
            <a:off x="3633215" y="1575054"/>
            <a:ext cx="12801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발생 가능성</a:t>
            </a:r>
          </a:p>
        </p:txBody>
      </p:sp>
      <p:sp>
        <p:nvSpPr>
          <p:cNvPr id="1179" name="Shape 9"/>
          <p:cNvSpPr/>
          <p:nvPr/>
        </p:nvSpPr>
        <p:spPr>
          <a:xfrm>
            <a:off x="5010911" y="1316736"/>
            <a:ext cx="3657601" cy="707137"/>
          </a:xfrm>
          <a:prstGeom prst="rect">
            <a:avLst/>
          </a:prstGeom>
          <a:solidFill>
            <a:srgbClr val="2563EB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0" name="Text 10"/>
          <p:cNvSpPr txBox="1"/>
          <p:nvPr/>
        </p:nvSpPr>
        <p:spPr>
          <a:xfrm>
            <a:off x="5084064" y="1575054"/>
            <a:ext cx="35356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MVP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대응</a:t>
            </a:r>
          </a:p>
        </p:txBody>
      </p:sp>
      <p:sp>
        <p:nvSpPr>
          <p:cNvPr id="1181" name="Shape 11"/>
          <p:cNvSpPr/>
          <p:nvPr/>
        </p:nvSpPr>
        <p:spPr>
          <a:xfrm>
            <a:off x="8717280" y="1316736"/>
            <a:ext cx="2926081" cy="707137"/>
          </a:xfrm>
          <a:prstGeom prst="rect">
            <a:avLst/>
          </a:prstGeom>
          <a:solidFill>
            <a:srgbClr val="6D28D9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2" name="Text 12"/>
          <p:cNvSpPr txBox="1"/>
          <p:nvPr/>
        </p:nvSpPr>
        <p:spPr>
          <a:xfrm>
            <a:off x="8790431" y="1575054"/>
            <a:ext cx="28041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Phase 2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대응</a:t>
            </a:r>
          </a:p>
        </p:txBody>
      </p:sp>
      <p:sp>
        <p:nvSpPr>
          <p:cNvPr id="1183" name="Shape 13"/>
          <p:cNvSpPr/>
          <p:nvPr/>
        </p:nvSpPr>
        <p:spPr>
          <a:xfrm>
            <a:off x="341375" y="2023872"/>
            <a:ext cx="3169922" cy="707137"/>
          </a:xfrm>
          <a:prstGeom prst="rect">
            <a:avLst/>
          </a:prstGeom>
          <a:solidFill>
            <a:srgbClr val="FFFFFF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4" name="Text 14"/>
          <p:cNvSpPr txBox="1"/>
          <p:nvPr/>
        </p:nvSpPr>
        <p:spPr>
          <a:xfrm>
            <a:off x="414527" y="2282189"/>
            <a:ext cx="3048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팀원이 연락을 끊음 </a:t>
            </a:r>
            <a:r>
              <a:t>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잠수</a:t>
            </a:r>
            <a:r>
              <a:t>)</a:t>
            </a:r>
          </a:p>
        </p:txBody>
      </p:sp>
      <p:sp>
        <p:nvSpPr>
          <p:cNvPr id="1185" name="Shape 15"/>
          <p:cNvSpPr/>
          <p:nvPr/>
        </p:nvSpPr>
        <p:spPr>
          <a:xfrm>
            <a:off x="3560064" y="2023872"/>
            <a:ext cx="1402081" cy="707137"/>
          </a:xfrm>
          <a:prstGeom prst="rect">
            <a:avLst/>
          </a:prstGeom>
          <a:solidFill>
            <a:srgbClr val="FFFFFF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6" name="Text 16"/>
          <p:cNvSpPr txBox="1"/>
          <p:nvPr/>
        </p:nvSpPr>
        <p:spPr>
          <a:xfrm>
            <a:off x="3633215" y="2282189"/>
            <a:ext cx="12801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DC2626"/>
                </a:solidFill>
              </a:defRPr>
            </a:pPr>
            <a:r>
              <a:t>★★★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높음</a:t>
            </a:r>
          </a:p>
        </p:txBody>
      </p:sp>
      <p:sp>
        <p:nvSpPr>
          <p:cNvPr id="1187" name="Shape 17"/>
          <p:cNvSpPr/>
          <p:nvPr/>
        </p:nvSpPr>
        <p:spPr>
          <a:xfrm>
            <a:off x="5010911" y="2023872"/>
            <a:ext cx="3657601" cy="707137"/>
          </a:xfrm>
          <a:prstGeom prst="rect">
            <a:avLst/>
          </a:prstGeom>
          <a:solidFill>
            <a:srgbClr val="FFFFFF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8" name="Text 18"/>
          <p:cNvSpPr txBox="1"/>
          <p:nvPr/>
        </p:nvSpPr>
        <p:spPr>
          <a:xfrm>
            <a:off x="5084064" y="2282189"/>
            <a:ext cx="35356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팀장 강퇴 기능 제공</a:t>
            </a:r>
          </a:p>
        </p:txBody>
      </p:sp>
      <p:sp>
        <p:nvSpPr>
          <p:cNvPr id="1189" name="Shape 19"/>
          <p:cNvSpPr/>
          <p:nvPr/>
        </p:nvSpPr>
        <p:spPr>
          <a:xfrm>
            <a:off x="8717280" y="2023872"/>
            <a:ext cx="2926081" cy="707137"/>
          </a:xfrm>
          <a:prstGeom prst="rect">
            <a:avLst/>
          </a:prstGeom>
          <a:solidFill>
            <a:srgbClr val="FFFFFF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0" name="Text 20"/>
          <p:cNvSpPr txBox="1"/>
          <p:nvPr/>
        </p:nvSpPr>
        <p:spPr>
          <a:xfrm>
            <a:off x="8790431" y="2282189"/>
            <a:ext cx="28041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참여도 점수 도입</a:t>
            </a:r>
          </a:p>
        </p:txBody>
      </p:sp>
      <p:sp>
        <p:nvSpPr>
          <p:cNvPr id="1191" name="Shape 21"/>
          <p:cNvSpPr/>
          <p:nvPr/>
        </p:nvSpPr>
        <p:spPr>
          <a:xfrm>
            <a:off x="341375" y="2731007"/>
            <a:ext cx="3169922" cy="707137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2" name="Text 22"/>
          <p:cNvSpPr txBox="1"/>
          <p:nvPr/>
        </p:nvSpPr>
        <p:spPr>
          <a:xfrm>
            <a:off x="414527" y="2989325"/>
            <a:ext cx="3048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허위 프로필 등록</a:t>
            </a:r>
          </a:p>
        </p:txBody>
      </p:sp>
      <p:sp>
        <p:nvSpPr>
          <p:cNvPr id="1193" name="Shape 23"/>
          <p:cNvSpPr/>
          <p:nvPr/>
        </p:nvSpPr>
        <p:spPr>
          <a:xfrm>
            <a:off x="3560064" y="2731007"/>
            <a:ext cx="1402081" cy="707137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4" name="Text 24"/>
          <p:cNvSpPr txBox="1"/>
          <p:nvPr/>
        </p:nvSpPr>
        <p:spPr>
          <a:xfrm>
            <a:off x="3633215" y="2989325"/>
            <a:ext cx="12801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D97706"/>
                </a:solidFill>
              </a:defRPr>
            </a:pPr>
            <a:r>
              <a:t>★★☆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중간</a:t>
            </a:r>
          </a:p>
        </p:txBody>
      </p:sp>
      <p:sp>
        <p:nvSpPr>
          <p:cNvPr id="1195" name="Shape 25"/>
          <p:cNvSpPr/>
          <p:nvPr/>
        </p:nvSpPr>
        <p:spPr>
          <a:xfrm>
            <a:off x="5010911" y="2731007"/>
            <a:ext cx="3657601" cy="707137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6" name="Text 26"/>
          <p:cNvSpPr txBox="1"/>
          <p:nvPr/>
        </p:nvSpPr>
        <p:spPr>
          <a:xfrm>
            <a:off x="5084064" y="2989325"/>
            <a:ext cx="35356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신고 버튼 </a:t>
            </a: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관리자 수동 검토</a:t>
            </a:r>
          </a:p>
        </p:txBody>
      </p:sp>
      <p:sp>
        <p:nvSpPr>
          <p:cNvPr id="1197" name="Shape 27"/>
          <p:cNvSpPr/>
          <p:nvPr/>
        </p:nvSpPr>
        <p:spPr>
          <a:xfrm>
            <a:off x="8717280" y="2731007"/>
            <a:ext cx="2926081" cy="707137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8" name="Text 28"/>
          <p:cNvSpPr txBox="1"/>
          <p:nvPr/>
        </p:nvSpPr>
        <p:spPr>
          <a:xfrm>
            <a:off x="8790431" y="2989325"/>
            <a:ext cx="28041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자동 제재 시스템</a:t>
            </a:r>
          </a:p>
        </p:txBody>
      </p:sp>
      <p:sp>
        <p:nvSpPr>
          <p:cNvPr id="1199" name="Shape 29"/>
          <p:cNvSpPr/>
          <p:nvPr/>
        </p:nvSpPr>
        <p:spPr>
          <a:xfrm>
            <a:off x="341375" y="3438144"/>
            <a:ext cx="3169922" cy="707137"/>
          </a:xfrm>
          <a:prstGeom prst="rect">
            <a:avLst/>
          </a:prstGeom>
          <a:solidFill>
            <a:srgbClr val="FFFFFF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0" name="Text 30"/>
          <p:cNvSpPr txBox="1"/>
          <p:nvPr/>
        </p:nvSpPr>
        <p:spPr>
          <a:xfrm>
            <a:off x="414527" y="3696461"/>
            <a:ext cx="3048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E293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무임승차 팀원</a:t>
            </a:r>
          </a:p>
        </p:txBody>
      </p:sp>
      <p:sp>
        <p:nvSpPr>
          <p:cNvPr id="1201" name="Shape 31"/>
          <p:cNvSpPr/>
          <p:nvPr/>
        </p:nvSpPr>
        <p:spPr>
          <a:xfrm>
            <a:off x="3560064" y="3438144"/>
            <a:ext cx="1402081" cy="707137"/>
          </a:xfrm>
          <a:prstGeom prst="rect">
            <a:avLst/>
          </a:prstGeom>
          <a:solidFill>
            <a:srgbClr val="FFFFFF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2" name="Text 32"/>
          <p:cNvSpPr txBox="1"/>
          <p:nvPr/>
        </p:nvSpPr>
        <p:spPr>
          <a:xfrm>
            <a:off x="3633215" y="3696461"/>
            <a:ext cx="12801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DC2626"/>
                </a:solidFill>
              </a:defRPr>
            </a:pPr>
            <a:r>
              <a:t>★★★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높음</a:t>
            </a:r>
          </a:p>
        </p:txBody>
      </p:sp>
      <p:sp>
        <p:nvSpPr>
          <p:cNvPr id="1203" name="Shape 33"/>
          <p:cNvSpPr/>
          <p:nvPr/>
        </p:nvSpPr>
        <p:spPr>
          <a:xfrm>
            <a:off x="5010911" y="3438144"/>
            <a:ext cx="3657601" cy="707137"/>
          </a:xfrm>
          <a:prstGeom prst="rect">
            <a:avLst/>
          </a:prstGeom>
          <a:solidFill>
            <a:srgbClr val="FFFFFF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4" name="Text 34"/>
          <p:cNvSpPr txBox="1"/>
          <p:nvPr/>
        </p:nvSpPr>
        <p:spPr>
          <a:xfrm>
            <a:off x="5084064" y="3696461"/>
            <a:ext cx="35356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완료 태스크 수가 포트폴리오에 반영 </a:t>
            </a: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기여도 가시화</a:t>
            </a:r>
          </a:p>
        </p:txBody>
      </p:sp>
      <p:sp>
        <p:nvSpPr>
          <p:cNvPr id="1205" name="Shape 35"/>
          <p:cNvSpPr/>
          <p:nvPr/>
        </p:nvSpPr>
        <p:spPr>
          <a:xfrm>
            <a:off x="8717280" y="3438144"/>
            <a:ext cx="2926081" cy="707137"/>
          </a:xfrm>
          <a:prstGeom prst="rect">
            <a:avLst/>
          </a:prstGeom>
          <a:solidFill>
            <a:srgbClr val="FFFFFF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6" name="Text 36"/>
          <p:cNvSpPr txBox="1"/>
          <p:nvPr/>
        </p:nvSpPr>
        <p:spPr>
          <a:xfrm>
            <a:off x="8790431" y="3696461"/>
            <a:ext cx="28041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팀원 상호 평가 공개</a:t>
            </a:r>
          </a:p>
        </p:txBody>
      </p:sp>
      <p:sp>
        <p:nvSpPr>
          <p:cNvPr id="1207" name="Shape 37"/>
          <p:cNvSpPr/>
          <p:nvPr/>
        </p:nvSpPr>
        <p:spPr>
          <a:xfrm>
            <a:off x="341375" y="4145279"/>
            <a:ext cx="3169922" cy="707137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8" name="Text 38"/>
          <p:cNvSpPr txBox="1"/>
          <p:nvPr/>
        </p:nvSpPr>
        <p:spPr>
          <a:xfrm>
            <a:off x="414527" y="4403597"/>
            <a:ext cx="3048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정원 초과 승인 </a:t>
            </a:r>
            <a:r>
              <a:t>(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동시 요청</a:t>
            </a:r>
            <a:r>
              <a:t>)</a:t>
            </a:r>
          </a:p>
        </p:txBody>
      </p:sp>
      <p:sp>
        <p:nvSpPr>
          <p:cNvPr id="1209" name="Shape 39"/>
          <p:cNvSpPr/>
          <p:nvPr/>
        </p:nvSpPr>
        <p:spPr>
          <a:xfrm>
            <a:off x="3560064" y="4145279"/>
            <a:ext cx="1402081" cy="707137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0" name="Text 40"/>
          <p:cNvSpPr txBox="1"/>
          <p:nvPr/>
        </p:nvSpPr>
        <p:spPr>
          <a:xfrm>
            <a:off x="3633215" y="4403597"/>
            <a:ext cx="12801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059669"/>
                </a:solidFill>
              </a:defRPr>
            </a:pPr>
            <a:r>
              <a:t>★☆☆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낮음</a:t>
            </a:r>
          </a:p>
        </p:txBody>
      </p:sp>
      <p:sp>
        <p:nvSpPr>
          <p:cNvPr id="1211" name="Shape 41"/>
          <p:cNvSpPr/>
          <p:nvPr/>
        </p:nvSpPr>
        <p:spPr>
          <a:xfrm>
            <a:off x="5010911" y="4145279"/>
            <a:ext cx="3657601" cy="707137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2" name="Text 42"/>
          <p:cNvSpPr txBox="1"/>
          <p:nvPr/>
        </p:nvSpPr>
        <p:spPr>
          <a:xfrm>
            <a:off x="5084064" y="4403597"/>
            <a:ext cx="35356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비관적 락</a:t>
            </a:r>
            <a:r>
              <a:t>(SELECT FOR UPDATE)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으로 정원 초과 원천 방지</a:t>
            </a:r>
          </a:p>
        </p:txBody>
      </p:sp>
      <p:sp>
        <p:nvSpPr>
          <p:cNvPr id="1213" name="Shape 43"/>
          <p:cNvSpPr/>
          <p:nvPr/>
        </p:nvSpPr>
        <p:spPr>
          <a:xfrm>
            <a:off x="8717280" y="4145279"/>
            <a:ext cx="2926081" cy="707137"/>
          </a:xfrm>
          <a:prstGeom prst="rect">
            <a:avLst/>
          </a:prstGeom>
          <a:solidFill>
            <a:srgbClr val="F8FAFC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4" name="Text 44"/>
          <p:cNvSpPr txBox="1"/>
          <p:nvPr/>
        </p:nvSpPr>
        <p:spPr>
          <a:xfrm>
            <a:off x="8790431" y="4403597"/>
            <a:ext cx="28041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실시간 알림으로 </a:t>
            </a:r>
            <a:r>
              <a:t>UX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개선</a:t>
            </a:r>
          </a:p>
        </p:txBody>
      </p:sp>
      <p:sp>
        <p:nvSpPr>
          <p:cNvPr id="1215" name="Shape 45"/>
          <p:cNvSpPr/>
          <p:nvPr/>
        </p:nvSpPr>
        <p:spPr>
          <a:xfrm>
            <a:off x="341375" y="4852415"/>
            <a:ext cx="3169922" cy="707137"/>
          </a:xfrm>
          <a:prstGeom prst="rect">
            <a:avLst/>
          </a:prstGeom>
          <a:solidFill>
            <a:srgbClr val="FFFFFF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6" name="Text 46"/>
          <p:cNvSpPr txBox="1"/>
          <p:nvPr/>
        </p:nvSpPr>
        <p:spPr>
          <a:xfrm>
            <a:off x="414527" y="5110733"/>
            <a:ext cx="3048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악성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스팸 모집글</a:t>
            </a:r>
          </a:p>
        </p:txBody>
      </p:sp>
      <p:sp>
        <p:nvSpPr>
          <p:cNvPr id="1217" name="Shape 47"/>
          <p:cNvSpPr/>
          <p:nvPr/>
        </p:nvSpPr>
        <p:spPr>
          <a:xfrm>
            <a:off x="3560064" y="4852415"/>
            <a:ext cx="1402081" cy="707137"/>
          </a:xfrm>
          <a:prstGeom prst="rect">
            <a:avLst/>
          </a:prstGeom>
          <a:solidFill>
            <a:srgbClr val="FFFFFF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8" name="Text 48"/>
          <p:cNvSpPr txBox="1"/>
          <p:nvPr/>
        </p:nvSpPr>
        <p:spPr>
          <a:xfrm>
            <a:off x="3633215" y="5110733"/>
            <a:ext cx="12801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059669"/>
                </a:solidFill>
              </a:defRPr>
            </a:pPr>
            <a:r>
              <a:t>★☆☆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낮음</a:t>
            </a:r>
          </a:p>
        </p:txBody>
      </p:sp>
      <p:sp>
        <p:nvSpPr>
          <p:cNvPr id="1219" name="Shape 49"/>
          <p:cNvSpPr/>
          <p:nvPr/>
        </p:nvSpPr>
        <p:spPr>
          <a:xfrm>
            <a:off x="5010911" y="4852415"/>
            <a:ext cx="3657601" cy="707137"/>
          </a:xfrm>
          <a:prstGeom prst="rect">
            <a:avLst/>
          </a:prstGeom>
          <a:solidFill>
            <a:srgbClr val="FFFFFF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0" name="Text 50"/>
          <p:cNvSpPr txBox="1"/>
          <p:nvPr/>
        </p:nvSpPr>
        <p:spPr>
          <a:xfrm>
            <a:off x="5084064" y="5110733"/>
            <a:ext cx="353568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신고 버튼 </a:t>
            </a: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관리자 수동 삭제</a:t>
            </a:r>
          </a:p>
        </p:txBody>
      </p:sp>
      <p:sp>
        <p:nvSpPr>
          <p:cNvPr id="1221" name="Shape 51"/>
          <p:cNvSpPr/>
          <p:nvPr/>
        </p:nvSpPr>
        <p:spPr>
          <a:xfrm>
            <a:off x="8717280" y="4852415"/>
            <a:ext cx="2926081" cy="707137"/>
          </a:xfrm>
          <a:prstGeom prst="rect">
            <a:avLst/>
          </a:prstGeom>
          <a:solidFill>
            <a:srgbClr val="FFFFFF"/>
          </a:solidFill>
          <a:ln w="1693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2" name="Text 52"/>
          <p:cNvSpPr txBox="1"/>
          <p:nvPr/>
        </p:nvSpPr>
        <p:spPr>
          <a:xfrm>
            <a:off x="8790431" y="5110733"/>
            <a:ext cx="28041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4748B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자동 탐지 알고리즘</a:t>
            </a:r>
          </a:p>
        </p:txBody>
      </p:sp>
      <p:sp>
        <p:nvSpPr>
          <p:cNvPr id="1223" name="Shape 53"/>
          <p:cNvSpPr/>
          <p:nvPr/>
        </p:nvSpPr>
        <p:spPr>
          <a:xfrm>
            <a:off x="341376" y="6169152"/>
            <a:ext cx="11509248" cy="316993"/>
          </a:xfrm>
          <a:prstGeom prst="rect">
            <a:avLst/>
          </a:prstGeom>
          <a:solidFill>
            <a:srgbClr val="DBEAF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4" name="Text 54"/>
          <p:cNvSpPr txBox="1"/>
          <p:nvPr/>
        </p:nvSpPr>
        <p:spPr>
          <a:xfrm>
            <a:off x="341376" y="6240207"/>
            <a:ext cx="11509248" cy="174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1B3A6B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정원 초과 승인은 백엔드에서 비관적 락</a:t>
            </a:r>
            <a:r>
              <a:t>(SELECT FOR UPDATE) + @Transactional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로 원천 차단 </a:t>
            </a:r>
            <a:r>
              <a:t>—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기술적으로 발생 불가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Shape 0"/>
          <p:cNvSpPr/>
          <p:nvPr/>
        </p:nvSpPr>
        <p:spPr>
          <a:xfrm>
            <a:off x="8534095" y="-1371600"/>
            <a:ext cx="4114801" cy="4114800"/>
          </a:xfrm>
          <a:prstGeom prst="ellipse">
            <a:avLst/>
          </a:prstGeom>
          <a:solidFill>
            <a:srgbClr val="5B4FE0">
              <a:alpha val="3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7" name="Shape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84CC16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8" name="Text 2"/>
          <p:cNvSpPr txBox="1"/>
          <p:nvPr/>
        </p:nvSpPr>
        <p:spPr>
          <a:xfrm>
            <a:off x="594359" y="481506"/>
            <a:ext cx="53949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300" sz="1100">
                <a:solidFill>
                  <a:srgbClr val="84CC16"/>
                </a:solidFill>
              </a:defRPr>
            </a:lvl1pPr>
          </a:lstStyle>
          <a:p>
            <a:pPr/>
            <a:r>
              <a:t>16 / 16   THE END</a:t>
            </a:r>
          </a:p>
        </p:txBody>
      </p:sp>
      <p:sp>
        <p:nvSpPr>
          <p:cNvPr id="1229" name="Text 3"/>
          <p:cNvSpPr txBox="1"/>
          <p:nvPr/>
        </p:nvSpPr>
        <p:spPr>
          <a:xfrm>
            <a:off x="731519" y="2059463"/>
            <a:ext cx="10728657" cy="2281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6400">
                <a:solidFill>
                  <a:srgbClr val="FFFFFF"/>
                </a:solidFill>
              </a:defRPr>
            </a:pPr>
            <a:r>
              <a:t>전공이 다르면,</a:t>
            </a:r>
          </a:p>
          <a:p>
            <a:pPr>
              <a:lnSpc>
                <a:spcPct val="115000"/>
              </a:lnSpc>
              <a:defRPr b="1" sz="6400">
                <a:solidFill>
                  <a:srgbClr val="FFFFFF"/>
                </a:solidFill>
              </a:defRPr>
            </a:pPr>
            <a:r>
              <a:t>팀이 강해집니다.</a:t>
            </a:r>
          </a:p>
        </p:txBody>
      </p:sp>
      <p:sp>
        <p:nvSpPr>
          <p:cNvPr id="1230" name="Shape 4"/>
          <p:cNvSpPr/>
          <p:nvPr/>
        </p:nvSpPr>
        <p:spPr>
          <a:xfrm>
            <a:off x="731519" y="4572000"/>
            <a:ext cx="914401" cy="73153"/>
          </a:xfrm>
          <a:prstGeom prst="rect">
            <a:avLst/>
          </a:prstGeom>
          <a:solidFill>
            <a:srgbClr val="84CC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1" name="Text 5"/>
          <p:cNvSpPr txBox="1"/>
          <p:nvPr/>
        </p:nvSpPr>
        <p:spPr>
          <a:xfrm>
            <a:off x="731519" y="4872116"/>
            <a:ext cx="5486401" cy="40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MajorLink</a:t>
            </a:r>
          </a:p>
        </p:txBody>
      </p:sp>
      <p:sp>
        <p:nvSpPr>
          <p:cNvPr id="1232" name="Text 6"/>
          <p:cNvSpPr txBox="1"/>
          <p:nvPr/>
        </p:nvSpPr>
        <p:spPr>
          <a:xfrm>
            <a:off x="777239" y="5355590"/>
            <a:ext cx="53949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/>
            <a:r>
              <a:t>2026년 7월 정식 출시 예정</a:t>
            </a:r>
          </a:p>
        </p:txBody>
      </p:sp>
      <p:sp>
        <p:nvSpPr>
          <p:cNvPr id="1233" name="Shape 7"/>
          <p:cNvSpPr/>
          <p:nvPr/>
        </p:nvSpPr>
        <p:spPr>
          <a:xfrm>
            <a:off x="548639" y="6035040"/>
            <a:ext cx="11064242" cy="64008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4" name="Text 8"/>
          <p:cNvSpPr txBox="1"/>
          <p:nvPr/>
        </p:nvSpPr>
        <p:spPr>
          <a:xfrm>
            <a:off x="777239" y="6250503"/>
            <a:ext cx="106070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Q &amp; A</a:t>
            </a:r>
            <a:r>
              <a:rPr b="0" sz="1300">
                <a:solidFill>
                  <a:srgbClr val="FFFFFF">
                    <a:alpha val="40000"/>
                  </a:srgbClr>
                </a:solidFill>
              </a:rPr>
              <a:t>      |      </a:t>
            </a:r>
            <a:r>
              <a:rPr b="0" sz="1300"/>
              <a:t>발표일  2026.05.19      |      팀 MajorLink (컴공 4 · 시각디자인 1 · 경영 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